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9"/>
  </p:notesMasterIdLst>
  <p:sldIdLst>
    <p:sldId id="401" r:id="rId2"/>
    <p:sldId id="402" r:id="rId3"/>
    <p:sldId id="403" r:id="rId4"/>
    <p:sldId id="404" r:id="rId5"/>
    <p:sldId id="405" r:id="rId6"/>
    <p:sldId id="407" r:id="rId7"/>
    <p:sldId id="408" r:id="rId8"/>
    <p:sldId id="409" r:id="rId9"/>
    <p:sldId id="410" r:id="rId10"/>
    <p:sldId id="411" r:id="rId11"/>
    <p:sldId id="412" r:id="rId12"/>
    <p:sldId id="452" r:id="rId13"/>
    <p:sldId id="454" r:id="rId14"/>
    <p:sldId id="453" r:id="rId15"/>
    <p:sldId id="456" r:id="rId16"/>
    <p:sldId id="457" r:id="rId17"/>
    <p:sldId id="455" r:id="rId18"/>
  </p:sldIdLst>
  <p:sldSz cx="9144000" cy="6858000" type="screen4x3"/>
  <p:notesSz cx="6797675" cy="9926638"/>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Ярослав Никулин" initials="ЯН" lastIdx="1" clrIdx="0">
    <p:extLst>
      <p:ext uri="{19B8F6BF-5375-455C-9EA6-DF929625EA0E}">
        <p15:presenceInfo xmlns:p15="http://schemas.microsoft.com/office/powerpoint/2012/main" userId="65d13a1db60ebf1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2B26"/>
    <a:srgbClr val="E63246"/>
    <a:srgbClr val="55B432"/>
    <a:srgbClr val="874BA0"/>
    <a:srgbClr val="4B6EB9"/>
    <a:srgbClr val="305DBE"/>
    <a:srgbClr val="4B93E3"/>
    <a:srgbClr val="6BA4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F1AB2-1976-4502-BF36-3FF5EA218861}" styleName="Средний стиль 4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Средний стиль 4 — акцент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Средний стиль 4 — акцент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Средний стиль 4 — акцент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Средний стиль 4 — акцент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D7AC3CCA-C797-4891-BE02-D94E43425B78}" styleName="Средний стиль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B9631B5-78F2-41C9-869B-9F39066F8104}" styleName="Средний стиль 3 — акцент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Темный стиль 2 — акцент 1/акцент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Темный стиль 2 — акцент 3/акцент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B301B821-A1FF-4177-AEE7-76D212191A09}" styleName="Средний стиль 1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ED083AE6-46FA-4A59-8FB0-9F97EB10719F}" styleName="Светлый стиль 3 — акцент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E929F9F4-4A8F-4326-A1B4-22849713DDAB}" styleName="Темный стиль 1 — акцент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Темный стиль 2 — акцент 5/акцент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784" autoAdjust="0"/>
    <p:restoredTop sz="92430" autoAdjust="0"/>
  </p:normalViewPr>
  <p:slideViewPr>
    <p:cSldViewPr>
      <p:cViewPr varScale="1">
        <p:scale>
          <a:sx n="159" d="100"/>
          <a:sy n="159" d="100"/>
        </p:scale>
        <p:origin x="1992" y="1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9-23T07:44:28.003" idx="1">
    <p:pos x="10" y="10"/>
    <p:text/>
    <p:extLst>
      <p:ext uri="{C676402C-5697-4E1C-873F-D02D1690AC5C}">
        <p15:threadingInfo xmlns:p15="http://schemas.microsoft.com/office/powerpoint/2012/main" timeZoneBias="-180"/>
      </p:ext>
    </p:extLst>
  </p:cm>
</p:cmLst>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4C9AB3-A899-4326-AB1B-8C44E46B75D0}"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ru-RU"/>
        </a:p>
      </dgm:t>
    </dgm:pt>
    <dgm:pt modelId="{C6D892A2-DAD8-413E-9092-257E9068B393}">
      <dgm:prSet phldrT="[Текст]"/>
      <dgm:spPr/>
      <dgm:t>
        <a:bodyPr/>
        <a:lstStyle/>
        <a:p>
          <a:r>
            <a:rPr lang="ru-RU" dirty="0"/>
            <a:t>Давление покупателей</a:t>
          </a:r>
        </a:p>
      </dgm:t>
    </dgm:pt>
    <dgm:pt modelId="{70B87D58-B1D0-438F-BB61-216568A56E3B}" type="parTrans" cxnId="{9E86F641-DCE0-4CAA-A18F-E8865913FFAD}">
      <dgm:prSet/>
      <dgm:spPr/>
      <dgm:t>
        <a:bodyPr/>
        <a:lstStyle/>
        <a:p>
          <a:endParaRPr lang="ru-RU"/>
        </a:p>
      </dgm:t>
    </dgm:pt>
    <dgm:pt modelId="{C8C67458-B928-41CE-BE47-C7CF355435AE}" type="sibTrans" cxnId="{9E86F641-DCE0-4CAA-A18F-E8865913FFAD}">
      <dgm:prSet/>
      <dgm:spPr/>
      <dgm:t>
        <a:bodyPr/>
        <a:lstStyle/>
        <a:p>
          <a:endParaRPr lang="ru-RU"/>
        </a:p>
      </dgm:t>
    </dgm:pt>
    <dgm:pt modelId="{35A0E9A6-7C0E-476D-8616-AC90D71B7F69}">
      <dgm:prSet phldrT="[Текст]"/>
      <dgm:spPr/>
      <dgm:t>
        <a:bodyPr/>
        <a:lstStyle/>
        <a:p>
          <a:r>
            <a:rPr lang="ru-RU" dirty="0"/>
            <a:t>Если у конкурентов есть аналогичный товар с приблизительно такой же ценой, то покупатели легко переключаются между товарами разных производителей. То есть происходит постоянный передел рынка. Отсюда нестабильная прибыль и сложность прогнозирования будущих доходов компании.</a:t>
          </a:r>
        </a:p>
      </dgm:t>
    </dgm:pt>
    <dgm:pt modelId="{528B26A4-7DD0-4449-91D5-A40523704709}" type="parTrans" cxnId="{4824D063-9134-41B6-A611-4EDBB72CEE4E}">
      <dgm:prSet/>
      <dgm:spPr/>
      <dgm:t>
        <a:bodyPr/>
        <a:lstStyle/>
        <a:p>
          <a:endParaRPr lang="ru-RU"/>
        </a:p>
      </dgm:t>
    </dgm:pt>
    <dgm:pt modelId="{97E32E27-3A37-4DB6-8F2A-1046E1475EE7}" type="sibTrans" cxnId="{4824D063-9134-41B6-A611-4EDBB72CEE4E}">
      <dgm:prSet/>
      <dgm:spPr/>
      <dgm:t>
        <a:bodyPr/>
        <a:lstStyle/>
        <a:p>
          <a:endParaRPr lang="ru-RU"/>
        </a:p>
      </dgm:t>
    </dgm:pt>
    <dgm:pt modelId="{265354CF-5E42-4C5B-A0AD-DA31FE07A955}">
      <dgm:prSet phldrT="[Текст]"/>
      <dgm:spPr/>
      <dgm:t>
        <a:bodyPr/>
        <a:lstStyle/>
        <a:p>
          <a:r>
            <a:rPr lang="ru-RU" dirty="0"/>
            <a:t>Давление действующих конкурентов</a:t>
          </a:r>
        </a:p>
      </dgm:t>
    </dgm:pt>
    <dgm:pt modelId="{5C40BC78-3121-46BF-88C4-41E32DB5B356}" type="parTrans" cxnId="{DCEC965E-7215-45F5-B420-89548458487C}">
      <dgm:prSet/>
      <dgm:spPr/>
      <dgm:t>
        <a:bodyPr/>
        <a:lstStyle/>
        <a:p>
          <a:endParaRPr lang="ru-RU"/>
        </a:p>
      </dgm:t>
    </dgm:pt>
    <dgm:pt modelId="{B7313DD9-10C4-4385-B193-AE15EF4C14C6}" type="sibTrans" cxnId="{DCEC965E-7215-45F5-B420-89548458487C}">
      <dgm:prSet/>
      <dgm:spPr/>
      <dgm:t>
        <a:bodyPr/>
        <a:lstStyle/>
        <a:p>
          <a:endParaRPr lang="ru-RU"/>
        </a:p>
      </dgm:t>
    </dgm:pt>
    <dgm:pt modelId="{9B0C3DDD-13B7-4BC5-B76D-BD85DE3CB6A5}">
      <dgm:prSet phldrT="[Текст]"/>
      <dgm:spPr/>
      <dgm:t>
        <a:bodyPr/>
        <a:lstStyle/>
        <a:p>
          <a:r>
            <a:rPr lang="ru-RU" dirty="0"/>
            <a:t>Внутриотраслевая конкуренция приводит к уменьшению прибыли, потому что постоянно приходится увеличивать затраты на продвижение продукта, улучшать его качество, снижать цены или не поднимать их, даже если выросла себестоимость, расширять ассортимент, вкладываться в исследования рынка и испытания новых образцов продукции.</a:t>
          </a:r>
        </a:p>
      </dgm:t>
    </dgm:pt>
    <dgm:pt modelId="{BBCF4B13-B793-4D5E-AB34-6348D16CE037}" type="parTrans" cxnId="{03576152-C385-4383-8855-AF56FC073B22}">
      <dgm:prSet/>
      <dgm:spPr/>
      <dgm:t>
        <a:bodyPr/>
        <a:lstStyle/>
        <a:p>
          <a:endParaRPr lang="ru-RU"/>
        </a:p>
      </dgm:t>
    </dgm:pt>
    <dgm:pt modelId="{768C50C7-F340-4672-9D81-68F14D760088}" type="sibTrans" cxnId="{03576152-C385-4383-8855-AF56FC073B22}">
      <dgm:prSet/>
      <dgm:spPr/>
      <dgm:t>
        <a:bodyPr/>
        <a:lstStyle/>
        <a:p>
          <a:endParaRPr lang="ru-RU"/>
        </a:p>
      </dgm:t>
    </dgm:pt>
    <dgm:pt modelId="{6D4C9E46-19C7-4FCA-AFF7-A58FAB80341A}">
      <dgm:prSet/>
      <dgm:spPr/>
      <dgm:t>
        <a:bodyPr/>
        <a:lstStyle/>
        <a:p>
          <a:r>
            <a:rPr lang="ru-RU" dirty="0"/>
            <a:t>Давление поставщиков</a:t>
          </a:r>
        </a:p>
      </dgm:t>
    </dgm:pt>
    <dgm:pt modelId="{B1A445D1-8A78-4F23-AFFA-25BE6F04A0FC}" type="parTrans" cxnId="{90908510-2A58-4BA1-8353-16BE4EEC24C4}">
      <dgm:prSet/>
      <dgm:spPr/>
      <dgm:t>
        <a:bodyPr/>
        <a:lstStyle/>
        <a:p>
          <a:endParaRPr lang="ru-RU"/>
        </a:p>
      </dgm:t>
    </dgm:pt>
    <dgm:pt modelId="{5C6083DE-4E97-4E84-ADAC-E76770E8F366}" type="sibTrans" cxnId="{90908510-2A58-4BA1-8353-16BE4EEC24C4}">
      <dgm:prSet/>
      <dgm:spPr/>
      <dgm:t>
        <a:bodyPr/>
        <a:lstStyle/>
        <a:p>
          <a:endParaRPr lang="ru-RU"/>
        </a:p>
      </dgm:t>
    </dgm:pt>
    <dgm:pt modelId="{26B08CA0-EB73-4B6F-8479-0E5A6311588D}">
      <dgm:prSet/>
      <dgm:spPr/>
      <dgm:t>
        <a:bodyPr/>
        <a:lstStyle/>
        <a:p>
          <a:r>
            <a:rPr lang="ru-RU" dirty="0"/>
            <a:t>От поставщиков зависит себестоимость товаров, количество выпускаемой продукции, ассортимент — все это напрямую влияет на прибыль. Например, поставщик может поднять цены, отгрузить сырьё ненадлежащего качества, сорвать сроки, отказаться от сотрудничества. Любая их этих ситуаций отрицательно скажется на прибыли компании.</a:t>
          </a:r>
        </a:p>
      </dgm:t>
    </dgm:pt>
    <dgm:pt modelId="{142F9F30-1FEE-46DF-A159-3F02AA11E36F}" type="parTrans" cxnId="{A9780358-6FC1-4502-97EC-343F7C660078}">
      <dgm:prSet/>
      <dgm:spPr/>
      <dgm:t>
        <a:bodyPr/>
        <a:lstStyle/>
        <a:p>
          <a:endParaRPr lang="ru-RU"/>
        </a:p>
      </dgm:t>
    </dgm:pt>
    <dgm:pt modelId="{C9DD6FE7-6634-420A-A472-3057976A61E3}" type="sibTrans" cxnId="{A9780358-6FC1-4502-97EC-343F7C660078}">
      <dgm:prSet/>
      <dgm:spPr/>
      <dgm:t>
        <a:bodyPr/>
        <a:lstStyle/>
        <a:p>
          <a:endParaRPr lang="ru-RU"/>
        </a:p>
      </dgm:t>
    </dgm:pt>
    <dgm:pt modelId="{DB591B56-BFDB-4A17-B074-9000EE237251}">
      <dgm:prSet phldrT="[Текст]"/>
      <dgm:spPr/>
      <dgm:t>
        <a:bodyPr/>
        <a:lstStyle/>
        <a:p>
          <a:r>
            <a:rPr lang="ru-RU" dirty="0"/>
            <a:t>Угроза появления новых конкурентов</a:t>
          </a:r>
        </a:p>
      </dgm:t>
    </dgm:pt>
    <dgm:pt modelId="{DAE5B728-246B-4F1D-991D-1563A94FB869}" type="parTrans" cxnId="{777CFB50-D923-430F-87B7-DD67DFAA400D}">
      <dgm:prSet/>
      <dgm:spPr/>
      <dgm:t>
        <a:bodyPr/>
        <a:lstStyle/>
        <a:p>
          <a:endParaRPr lang="ru-RU"/>
        </a:p>
      </dgm:t>
    </dgm:pt>
    <dgm:pt modelId="{667B32F5-7CAE-49F5-BF14-D88B048C761C}" type="sibTrans" cxnId="{777CFB50-D923-430F-87B7-DD67DFAA400D}">
      <dgm:prSet/>
      <dgm:spPr/>
      <dgm:t>
        <a:bodyPr/>
        <a:lstStyle/>
        <a:p>
          <a:endParaRPr lang="ru-RU"/>
        </a:p>
      </dgm:t>
    </dgm:pt>
    <dgm:pt modelId="{5A85A507-49C4-4308-B90F-2D588110B5ED}">
      <dgm:prSet phldrT="[Текст]"/>
      <dgm:spPr/>
      <dgm:t>
        <a:bodyPr/>
        <a:lstStyle/>
        <a:p>
          <a:r>
            <a:rPr lang="ru-RU" dirty="0"/>
            <a:t>Как правило, новые производители приходят на рынок с новыми технологиями: их производство более экономично, технологично, экологично, а товары лучше отвечают запросам </a:t>
          </a:r>
          <a:r>
            <a:rPr lang="ru-RU" dirty="0" err="1"/>
            <a:t>покупателей.Чтобы</a:t>
          </a:r>
          <a:r>
            <a:rPr lang="ru-RU" dirty="0"/>
            <a:t> оставаться конкурентоспособными, компаниям приходится дополнительно вкладываться в производство и маркетинг продукта. Затраты растут — прибыль падает.</a:t>
          </a:r>
        </a:p>
      </dgm:t>
    </dgm:pt>
    <dgm:pt modelId="{19CAD322-F0C2-422F-B9D7-F07E25E5E257}" type="parTrans" cxnId="{F50B98E1-94EE-4A33-845C-4E23DE343892}">
      <dgm:prSet/>
      <dgm:spPr/>
      <dgm:t>
        <a:bodyPr/>
        <a:lstStyle/>
        <a:p>
          <a:endParaRPr lang="ru-RU"/>
        </a:p>
      </dgm:t>
    </dgm:pt>
    <dgm:pt modelId="{8D3E2104-B1A8-43E5-AC8B-92A62E3F1F1A}" type="sibTrans" cxnId="{F50B98E1-94EE-4A33-845C-4E23DE343892}">
      <dgm:prSet/>
      <dgm:spPr/>
      <dgm:t>
        <a:bodyPr/>
        <a:lstStyle/>
        <a:p>
          <a:endParaRPr lang="ru-RU"/>
        </a:p>
      </dgm:t>
    </dgm:pt>
    <dgm:pt modelId="{E18D12C3-BE38-4984-9CFB-5E3213780C82}">
      <dgm:prSet phldrT="[Текст]"/>
      <dgm:spPr/>
      <dgm:t>
        <a:bodyPr/>
        <a:lstStyle/>
        <a:p>
          <a:r>
            <a:rPr lang="ru-RU" dirty="0"/>
            <a:t>Давление товаров-заменителей</a:t>
          </a:r>
        </a:p>
      </dgm:t>
    </dgm:pt>
    <dgm:pt modelId="{F3001FA7-13CC-4F0A-B26F-4D4A28C68DCA}" type="parTrans" cxnId="{26C5AC14-BE3A-4285-B29A-CB1AE83D0039}">
      <dgm:prSet/>
      <dgm:spPr/>
      <dgm:t>
        <a:bodyPr/>
        <a:lstStyle/>
        <a:p>
          <a:endParaRPr lang="ru-RU"/>
        </a:p>
      </dgm:t>
    </dgm:pt>
    <dgm:pt modelId="{C7B223CF-6007-4503-940C-732A79D3B04F}" type="sibTrans" cxnId="{26C5AC14-BE3A-4285-B29A-CB1AE83D0039}">
      <dgm:prSet/>
      <dgm:spPr/>
      <dgm:t>
        <a:bodyPr/>
        <a:lstStyle/>
        <a:p>
          <a:endParaRPr lang="ru-RU"/>
        </a:p>
      </dgm:t>
    </dgm:pt>
    <dgm:pt modelId="{9B8F97AF-436F-48E4-AAE7-28DF62E58E9E}">
      <dgm:prSet phldrT="[Текст]"/>
      <dgm:spPr/>
      <dgm:t>
        <a:bodyPr/>
        <a:lstStyle/>
        <a:p>
          <a:r>
            <a:rPr lang="ru-RU" dirty="0"/>
            <a:t>Практически любой товар или услугу можно чем-нибудь заменить. И это не всегда продукты прямых конкурентов, а просто то, что решает ту же проблему потребителя. Если растут продажи одного товара-субститута, то у другого они закономерно падают. Поэтому производителю приходится повышать качество, развивать бренд, вкладываться в маркетинг, рекламу, дополнительно отстраиваться от прямых и косвенных конкурентов, доказывая ценность продукта.</a:t>
          </a:r>
        </a:p>
      </dgm:t>
    </dgm:pt>
    <dgm:pt modelId="{6F19925C-6E0D-408A-831A-7D5BA277FA36}" type="parTrans" cxnId="{0AD19D0A-3ABE-417C-9609-6A70AE725D8D}">
      <dgm:prSet/>
      <dgm:spPr/>
      <dgm:t>
        <a:bodyPr/>
        <a:lstStyle/>
        <a:p>
          <a:endParaRPr lang="ru-RU"/>
        </a:p>
      </dgm:t>
    </dgm:pt>
    <dgm:pt modelId="{BAE2B49B-FC29-4159-B21A-3177FBF3F4D7}" type="sibTrans" cxnId="{0AD19D0A-3ABE-417C-9609-6A70AE725D8D}">
      <dgm:prSet/>
      <dgm:spPr/>
      <dgm:t>
        <a:bodyPr/>
        <a:lstStyle/>
        <a:p>
          <a:endParaRPr lang="ru-RU"/>
        </a:p>
      </dgm:t>
    </dgm:pt>
    <dgm:pt modelId="{23BAD1FC-F788-4477-A011-279126986EFE}" type="pres">
      <dgm:prSet presAssocID="{2F4C9AB3-A899-4326-AB1B-8C44E46B75D0}" presName="linear" presStyleCnt="0">
        <dgm:presLayoutVars>
          <dgm:animLvl val="lvl"/>
          <dgm:resizeHandles val="exact"/>
        </dgm:presLayoutVars>
      </dgm:prSet>
      <dgm:spPr/>
    </dgm:pt>
    <dgm:pt modelId="{9DD0E55B-AF03-43B7-945B-0408140F1219}" type="pres">
      <dgm:prSet presAssocID="{C6D892A2-DAD8-413E-9092-257E9068B393}" presName="parentText" presStyleLbl="node1" presStyleIdx="0" presStyleCnt="5">
        <dgm:presLayoutVars>
          <dgm:chMax val="0"/>
          <dgm:bulletEnabled val="1"/>
        </dgm:presLayoutVars>
      </dgm:prSet>
      <dgm:spPr/>
    </dgm:pt>
    <dgm:pt modelId="{7492B085-DE22-4CD5-BD00-8D446874BC78}" type="pres">
      <dgm:prSet presAssocID="{C6D892A2-DAD8-413E-9092-257E9068B393}" presName="childText" presStyleLbl="revTx" presStyleIdx="0" presStyleCnt="5">
        <dgm:presLayoutVars>
          <dgm:bulletEnabled val="1"/>
        </dgm:presLayoutVars>
      </dgm:prSet>
      <dgm:spPr/>
    </dgm:pt>
    <dgm:pt modelId="{A6B584B3-AB14-4EBA-9F5E-6FE7C97FC1D8}" type="pres">
      <dgm:prSet presAssocID="{6D4C9E46-19C7-4FCA-AFF7-A58FAB80341A}" presName="parentText" presStyleLbl="node1" presStyleIdx="1" presStyleCnt="5">
        <dgm:presLayoutVars>
          <dgm:chMax val="0"/>
          <dgm:bulletEnabled val="1"/>
        </dgm:presLayoutVars>
      </dgm:prSet>
      <dgm:spPr/>
    </dgm:pt>
    <dgm:pt modelId="{CED48FA3-CCE8-439C-A3AE-EE651EB482B1}" type="pres">
      <dgm:prSet presAssocID="{6D4C9E46-19C7-4FCA-AFF7-A58FAB80341A}" presName="childText" presStyleLbl="revTx" presStyleIdx="1" presStyleCnt="5">
        <dgm:presLayoutVars>
          <dgm:bulletEnabled val="1"/>
        </dgm:presLayoutVars>
      </dgm:prSet>
      <dgm:spPr/>
    </dgm:pt>
    <dgm:pt modelId="{1268F5D2-DD0F-49BF-BFF3-9F1D23D12B89}" type="pres">
      <dgm:prSet presAssocID="{265354CF-5E42-4C5B-A0AD-DA31FE07A955}" presName="parentText" presStyleLbl="node1" presStyleIdx="2" presStyleCnt="5">
        <dgm:presLayoutVars>
          <dgm:chMax val="0"/>
          <dgm:bulletEnabled val="1"/>
        </dgm:presLayoutVars>
      </dgm:prSet>
      <dgm:spPr/>
    </dgm:pt>
    <dgm:pt modelId="{B3505890-DB09-42B5-AD3E-F51FD0294D10}" type="pres">
      <dgm:prSet presAssocID="{265354CF-5E42-4C5B-A0AD-DA31FE07A955}" presName="childText" presStyleLbl="revTx" presStyleIdx="2" presStyleCnt="5">
        <dgm:presLayoutVars>
          <dgm:bulletEnabled val="1"/>
        </dgm:presLayoutVars>
      </dgm:prSet>
      <dgm:spPr/>
    </dgm:pt>
    <dgm:pt modelId="{64FD0A8E-75D0-430F-8CCF-790F4FD22CB9}" type="pres">
      <dgm:prSet presAssocID="{DB591B56-BFDB-4A17-B074-9000EE237251}" presName="parentText" presStyleLbl="node1" presStyleIdx="3" presStyleCnt="5">
        <dgm:presLayoutVars>
          <dgm:chMax val="0"/>
          <dgm:bulletEnabled val="1"/>
        </dgm:presLayoutVars>
      </dgm:prSet>
      <dgm:spPr/>
    </dgm:pt>
    <dgm:pt modelId="{2D9C58DF-926A-4C42-BE89-4D9A9DD0D322}" type="pres">
      <dgm:prSet presAssocID="{DB591B56-BFDB-4A17-B074-9000EE237251}" presName="childText" presStyleLbl="revTx" presStyleIdx="3" presStyleCnt="5">
        <dgm:presLayoutVars>
          <dgm:bulletEnabled val="1"/>
        </dgm:presLayoutVars>
      </dgm:prSet>
      <dgm:spPr/>
    </dgm:pt>
    <dgm:pt modelId="{14AE1242-91B9-481E-A9D3-F94F789549F2}" type="pres">
      <dgm:prSet presAssocID="{E18D12C3-BE38-4984-9CFB-5E3213780C82}" presName="parentText" presStyleLbl="node1" presStyleIdx="4" presStyleCnt="5">
        <dgm:presLayoutVars>
          <dgm:chMax val="0"/>
          <dgm:bulletEnabled val="1"/>
        </dgm:presLayoutVars>
      </dgm:prSet>
      <dgm:spPr/>
    </dgm:pt>
    <dgm:pt modelId="{36F8FA0D-E033-4870-AD09-C1E6BC2D5751}" type="pres">
      <dgm:prSet presAssocID="{E18D12C3-BE38-4984-9CFB-5E3213780C82}" presName="childText" presStyleLbl="revTx" presStyleIdx="4" presStyleCnt="5">
        <dgm:presLayoutVars>
          <dgm:bulletEnabled val="1"/>
        </dgm:presLayoutVars>
      </dgm:prSet>
      <dgm:spPr/>
    </dgm:pt>
  </dgm:ptLst>
  <dgm:cxnLst>
    <dgm:cxn modelId="{8F2C6A09-026B-4662-A6F7-0CCDE836B985}" type="presOf" srcId="{35A0E9A6-7C0E-476D-8616-AC90D71B7F69}" destId="{7492B085-DE22-4CD5-BD00-8D446874BC78}" srcOrd="0" destOrd="0" presId="urn:microsoft.com/office/officeart/2005/8/layout/vList2"/>
    <dgm:cxn modelId="{0AD19D0A-3ABE-417C-9609-6A70AE725D8D}" srcId="{E18D12C3-BE38-4984-9CFB-5E3213780C82}" destId="{9B8F97AF-436F-48E4-AAE7-28DF62E58E9E}" srcOrd="0" destOrd="0" parTransId="{6F19925C-6E0D-408A-831A-7D5BA277FA36}" sibTransId="{BAE2B49B-FC29-4159-B21A-3177FBF3F4D7}"/>
    <dgm:cxn modelId="{90908510-2A58-4BA1-8353-16BE4EEC24C4}" srcId="{2F4C9AB3-A899-4326-AB1B-8C44E46B75D0}" destId="{6D4C9E46-19C7-4FCA-AFF7-A58FAB80341A}" srcOrd="1" destOrd="0" parTransId="{B1A445D1-8A78-4F23-AFFA-25BE6F04A0FC}" sibTransId="{5C6083DE-4E97-4E84-ADAC-E76770E8F366}"/>
    <dgm:cxn modelId="{26C5AC14-BE3A-4285-B29A-CB1AE83D0039}" srcId="{2F4C9AB3-A899-4326-AB1B-8C44E46B75D0}" destId="{E18D12C3-BE38-4984-9CFB-5E3213780C82}" srcOrd="4" destOrd="0" parTransId="{F3001FA7-13CC-4F0A-B26F-4D4A28C68DCA}" sibTransId="{C7B223CF-6007-4503-940C-732A79D3B04F}"/>
    <dgm:cxn modelId="{8E1CB840-C0C9-45F0-A14F-05F16D8BDFD6}" type="presOf" srcId="{9B0C3DDD-13B7-4BC5-B76D-BD85DE3CB6A5}" destId="{B3505890-DB09-42B5-AD3E-F51FD0294D10}" srcOrd="0" destOrd="0" presId="urn:microsoft.com/office/officeart/2005/8/layout/vList2"/>
    <dgm:cxn modelId="{DCEC965E-7215-45F5-B420-89548458487C}" srcId="{2F4C9AB3-A899-4326-AB1B-8C44E46B75D0}" destId="{265354CF-5E42-4C5B-A0AD-DA31FE07A955}" srcOrd="2" destOrd="0" parTransId="{5C40BC78-3121-46BF-88C4-41E32DB5B356}" sibTransId="{B7313DD9-10C4-4385-B193-AE15EF4C14C6}"/>
    <dgm:cxn modelId="{9E86F641-DCE0-4CAA-A18F-E8865913FFAD}" srcId="{2F4C9AB3-A899-4326-AB1B-8C44E46B75D0}" destId="{C6D892A2-DAD8-413E-9092-257E9068B393}" srcOrd="0" destOrd="0" parTransId="{70B87D58-B1D0-438F-BB61-216568A56E3B}" sibTransId="{C8C67458-B928-41CE-BE47-C7CF355435AE}"/>
    <dgm:cxn modelId="{4824D063-9134-41B6-A611-4EDBB72CEE4E}" srcId="{C6D892A2-DAD8-413E-9092-257E9068B393}" destId="{35A0E9A6-7C0E-476D-8616-AC90D71B7F69}" srcOrd="0" destOrd="0" parTransId="{528B26A4-7DD0-4449-91D5-A40523704709}" sibTransId="{97E32E27-3A37-4DB6-8F2A-1046E1475EE7}"/>
    <dgm:cxn modelId="{0601DC4A-9F49-416B-BC67-AD3ADDB41E9A}" type="presOf" srcId="{2F4C9AB3-A899-4326-AB1B-8C44E46B75D0}" destId="{23BAD1FC-F788-4477-A011-279126986EFE}" srcOrd="0" destOrd="0" presId="urn:microsoft.com/office/officeart/2005/8/layout/vList2"/>
    <dgm:cxn modelId="{777CFB50-D923-430F-87B7-DD67DFAA400D}" srcId="{2F4C9AB3-A899-4326-AB1B-8C44E46B75D0}" destId="{DB591B56-BFDB-4A17-B074-9000EE237251}" srcOrd="3" destOrd="0" parTransId="{DAE5B728-246B-4F1D-991D-1563A94FB869}" sibTransId="{667B32F5-7CAE-49F5-BF14-D88B048C761C}"/>
    <dgm:cxn modelId="{08F29C71-46B6-4905-AE56-303F51B61C44}" type="presOf" srcId="{C6D892A2-DAD8-413E-9092-257E9068B393}" destId="{9DD0E55B-AF03-43B7-945B-0408140F1219}" srcOrd="0" destOrd="0" presId="urn:microsoft.com/office/officeart/2005/8/layout/vList2"/>
    <dgm:cxn modelId="{03576152-C385-4383-8855-AF56FC073B22}" srcId="{265354CF-5E42-4C5B-A0AD-DA31FE07A955}" destId="{9B0C3DDD-13B7-4BC5-B76D-BD85DE3CB6A5}" srcOrd="0" destOrd="0" parTransId="{BBCF4B13-B793-4D5E-AB34-6348D16CE037}" sibTransId="{768C50C7-F340-4672-9D81-68F14D760088}"/>
    <dgm:cxn modelId="{77E33B74-0D8D-4B85-8B9C-C46DD3C44D55}" type="presOf" srcId="{265354CF-5E42-4C5B-A0AD-DA31FE07A955}" destId="{1268F5D2-DD0F-49BF-BFF3-9F1D23D12B89}" srcOrd="0" destOrd="0" presId="urn:microsoft.com/office/officeart/2005/8/layout/vList2"/>
    <dgm:cxn modelId="{A9780358-6FC1-4502-97EC-343F7C660078}" srcId="{6D4C9E46-19C7-4FCA-AFF7-A58FAB80341A}" destId="{26B08CA0-EB73-4B6F-8479-0E5A6311588D}" srcOrd="0" destOrd="0" parTransId="{142F9F30-1FEE-46DF-A159-3F02AA11E36F}" sibTransId="{C9DD6FE7-6634-420A-A472-3057976A61E3}"/>
    <dgm:cxn modelId="{F929687A-2698-4E4B-AD9F-888859A6FD2C}" type="presOf" srcId="{6D4C9E46-19C7-4FCA-AFF7-A58FAB80341A}" destId="{A6B584B3-AB14-4EBA-9F5E-6FE7C97FC1D8}" srcOrd="0" destOrd="0" presId="urn:microsoft.com/office/officeart/2005/8/layout/vList2"/>
    <dgm:cxn modelId="{F47B6F83-4464-4626-B144-2B8AC7AECAAE}" type="presOf" srcId="{5A85A507-49C4-4308-B90F-2D588110B5ED}" destId="{2D9C58DF-926A-4C42-BE89-4D9A9DD0D322}" srcOrd="0" destOrd="0" presId="urn:microsoft.com/office/officeart/2005/8/layout/vList2"/>
    <dgm:cxn modelId="{DDBFA191-830A-403A-8196-0E88AC57E334}" type="presOf" srcId="{9B8F97AF-436F-48E4-AAE7-28DF62E58E9E}" destId="{36F8FA0D-E033-4870-AD09-C1E6BC2D5751}" srcOrd="0" destOrd="0" presId="urn:microsoft.com/office/officeart/2005/8/layout/vList2"/>
    <dgm:cxn modelId="{F47D61D5-75D8-43D8-AA09-0B8F82DB130D}" type="presOf" srcId="{E18D12C3-BE38-4984-9CFB-5E3213780C82}" destId="{14AE1242-91B9-481E-A9D3-F94F789549F2}" srcOrd="0" destOrd="0" presId="urn:microsoft.com/office/officeart/2005/8/layout/vList2"/>
    <dgm:cxn modelId="{96CA31DB-7F94-410F-9D64-430466816559}" type="presOf" srcId="{DB591B56-BFDB-4A17-B074-9000EE237251}" destId="{64FD0A8E-75D0-430F-8CCF-790F4FD22CB9}" srcOrd="0" destOrd="0" presId="urn:microsoft.com/office/officeart/2005/8/layout/vList2"/>
    <dgm:cxn modelId="{F50B98E1-94EE-4A33-845C-4E23DE343892}" srcId="{DB591B56-BFDB-4A17-B074-9000EE237251}" destId="{5A85A507-49C4-4308-B90F-2D588110B5ED}" srcOrd="0" destOrd="0" parTransId="{19CAD322-F0C2-422F-B9D7-F07E25E5E257}" sibTransId="{8D3E2104-B1A8-43E5-AC8B-92A62E3F1F1A}"/>
    <dgm:cxn modelId="{10964EFF-070F-4751-8ED5-8D47380A7F24}" type="presOf" srcId="{26B08CA0-EB73-4B6F-8479-0E5A6311588D}" destId="{CED48FA3-CCE8-439C-A3AE-EE651EB482B1}" srcOrd="0" destOrd="0" presId="urn:microsoft.com/office/officeart/2005/8/layout/vList2"/>
    <dgm:cxn modelId="{303119F5-FB14-4C86-AF22-11139CE1C1EC}" type="presParOf" srcId="{23BAD1FC-F788-4477-A011-279126986EFE}" destId="{9DD0E55B-AF03-43B7-945B-0408140F1219}" srcOrd="0" destOrd="0" presId="urn:microsoft.com/office/officeart/2005/8/layout/vList2"/>
    <dgm:cxn modelId="{C134CCAD-BCF1-4C23-A4D8-2C0464C1538C}" type="presParOf" srcId="{23BAD1FC-F788-4477-A011-279126986EFE}" destId="{7492B085-DE22-4CD5-BD00-8D446874BC78}" srcOrd="1" destOrd="0" presId="urn:microsoft.com/office/officeart/2005/8/layout/vList2"/>
    <dgm:cxn modelId="{D80A6016-F940-4651-B5BA-FB8ABF58C4AB}" type="presParOf" srcId="{23BAD1FC-F788-4477-A011-279126986EFE}" destId="{A6B584B3-AB14-4EBA-9F5E-6FE7C97FC1D8}" srcOrd="2" destOrd="0" presId="urn:microsoft.com/office/officeart/2005/8/layout/vList2"/>
    <dgm:cxn modelId="{F756E1C4-90C6-444F-A130-7D28DD641F0B}" type="presParOf" srcId="{23BAD1FC-F788-4477-A011-279126986EFE}" destId="{CED48FA3-CCE8-439C-A3AE-EE651EB482B1}" srcOrd="3" destOrd="0" presId="urn:microsoft.com/office/officeart/2005/8/layout/vList2"/>
    <dgm:cxn modelId="{12ECACA2-6E21-44C9-AB85-B0B6989324AD}" type="presParOf" srcId="{23BAD1FC-F788-4477-A011-279126986EFE}" destId="{1268F5D2-DD0F-49BF-BFF3-9F1D23D12B89}" srcOrd="4" destOrd="0" presId="urn:microsoft.com/office/officeart/2005/8/layout/vList2"/>
    <dgm:cxn modelId="{114BF723-AA0D-4301-9CF5-815C37A6E496}" type="presParOf" srcId="{23BAD1FC-F788-4477-A011-279126986EFE}" destId="{B3505890-DB09-42B5-AD3E-F51FD0294D10}" srcOrd="5" destOrd="0" presId="urn:microsoft.com/office/officeart/2005/8/layout/vList2"/>
    <dgm:cxn modelId="{C7EF001E-3A20-4517-A089-74535ACA871A}" type="presParOf" srcId="{23BAD1FC-F788-4477-A011-279126986EFE}" destId="{64FD0A8E-75D0-430F-8CCF-790F4FD22CB9}" srcOrd="6" destOrd="0" presId="urn:microsoft.com/office/officeart/2005/8/layout/vList2"/>
    <dgm:cxn modelId="{FDBA5128-B708-4A87-9230-303FE3BB7BA6}" type="presParOf" srcId="{23BAD1FC-F788-4477-A011-279126986EFE}" destId="{2D9C58DF-926A-4C42-BE89-4D9A9DD0D322}" srcOrd="7" destOrd="0" presId="urn:microsoft.com/office/officeart/2005/8/layout/vList2"/>
    <dgm:cxn modelId="{AF0928C6-5910-4CFD-B012-90C9C0B5CC00}" type="presParOf" srcId="{23BAD1FC-F788-4477-A011-279126986EFE}" destId="{14AE1242-91B9-481E-A9D3-F94F789549F2}" srcOrd="8" destOrd="0" presId="urn:microsoft.com/office/officeart/2005/8/layout/vList2"/>
    <dgm:cxn modelId="{9C0D4BE6-A608-4152-8991-D86665749AE9}" type="presParOf" srcId="{23BAD1FC-F788-4477-A011-279126986EFE}" destId="{36F8FA0D-E033-4870-AD09-C1E6BC2D5751}"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526C24C-94E5-4671-819D-F833719B3F0F}" type="doc">
      <dgm:prSet loTypeId="urn:microsoft.com/office/officeart/2005/8/layout/vList2" loCatId="list" qsTypeId="urn:microsoft.com/office/officeart/2005/8/quickstyle/simple1" qsCatId="simple" csTypeId="urn:microsoft.com/office/officeart/2005/8/colors/accent4_2" csCatId="accent4" phldr="1"/>
      <dgm:spPr/>
      <dgm:t>
        <a:bodyPr/>
        <a:lstStyle/>
        <a:p>
          <a:endParaRPr lang="ru-RU"/>
        </a:p>
      </dgm:t>
    </dgm:pt>
    <dgm:pt modelId="{08B9F721-E20F-4CBD-B14A-97E369EB26E1}">
      <dgm:prSet phldrT="[Текст]"/>
      <dgm:spPr/>
      <dgm:t>
        <a:bodyPr/>
        <a:lstStyle/>
        <a:p>
          <a:r>
            <a:rPr lang="ru-RU" dirty="0"/>
            <a:t>Ценовое лидерство</a:t>
          </a:r>
        </a:p>
      </dgm:t>
    </dgm:pt>
    <dgm:pt modelId="{DECC5BA1-7FBC-48BF-B6F6-2E32DFC398E3}" type="parTrans" cxnId="{462DA912-F721-4DDD-B5A5-0243EB3E99D2}">
      <dgm:prSet/>
      <dgm:spPr/>
      <dgm:t>
        <a:bodyPr/>
        <a:lstStyle/>
        <a:p>
          <a:endParaRPr lang="ru-RU"/>
        </a:p>
      </dgm:t>
    </dgm:pt>
    <dgm:pt modelId="{BCE1DE49-CC19-46B2-9C26-2C26ED036AB8}" type="sibTrans" cxnId="{462DA912-F721-4DDD-B5A5-0243EB3E99D2}">
      <dgm:prSet/>
      <dgm:spPr/>
      <dgm:t>
        <a:bodyPr/>
        <a:lstStyle/>
        <a:p>
          <a:endParaRPr lang="ru-RU"/>
        </a:p>
      </dgm:t>
    </dgm:pt>
    <dgm:pt modelId="{99EC7D2D-0683-4EAC-89F1-77E3FD5873D5}">
      <dgm:prSet phldrT="[Текст]"/>
      <dgm:spPr/>
      <dgm:t>
        <a:bodyPr/>
        <a:lstStyle/>
        <a:p>
          <a:r>
            <a:rPr lang="ru-RU" dirty="0"/>
            <a:t>стратегия, основанная на достижении низких издержек производства и предложении товаров или услуг по самым низким ценам на рынке. Это позволяет организации привлекать ценовых потребителей и конкурировать за долю рынка на основе ценовых преимуществ.</a:t>
          </a:r>
        </a:p>
      </dgm:t>
    </dgm:pt>
    <dgm:pt modelId="{E41DBD87-F3D8-42BE-ADFB-D85B02AB8F3F}" type="parTrans" cxnId="{8B972F2F-5509-4803-BBF4-E898105973F5}">
      <dgm:prSet/>
      <dgm:spPr/>
      <dgm:t>
        <a:bodyPr/>
        <a:lstStyle/>
        <a:p>
          <a:endParaRPr lang="ru-RU"/>
        </a:p>
      </dgm:t>
    </dgm:pt>
    <dgm:pt modelId="{67E3C03F-63F5-4359-A964-020A20C98138}" type="sibTrans" cxnId="{8B972F2F-5509-4803-BBF4-E898105973F5}">
      <dgm:prSet/>
      <dgm:spPr/>
      <dgm:t>
        <a:bodyPr/>
        <a:lstStyle/>
        <a:p>
          <a:endParaRPr lang="ru-RU"/>
        </a:p>
      </dgm:t>
    </dgm:pt>
    <dgm:pt modelId="{7CB129B7-C2C6-4B7C-AB87-B6D6A51F1E06}">
      <dgm:prSet phldrT="[Текст]"/>
      <dgm:spPr/>
      <dgm:t>
        <a:bodyPr/>
        <a:lstStyle/>
        <a:p>
          <a:r>
            <a:rPr lang="ru-RU" dirty="0"/>
            <a:t>Дифференциация</a:t>
          </a:r>
        </a:p>
      </dgm:t>
    </dgm:pt>
    <dgm:pt modelId="{E07BA4A6-A53F-4F00-A59A-BDF1D621C06A}" type="parTrans" cxnId="{CFADC6B0-F867-4F79-9D7A-60F4E2D02552}">
      <dgm:prSet/>
      <dgm:spPr/>
      <dgm:t>
        <a:bodyPr/>
        <a:lstStyle/>
        <a:p>
          <a:endParaRPr lang="ru-RU"/>
        </a:p>
      </dgm:t>
    </dgm:pt>
    <dgm:pt modelId="{57E47322-E053-4D27-A38A-E8F7C2FFDB42}" type="sibTrans" cxnId="{CFADC6B0-F867-4F79-9D7A-60F4E2D02552}">
      <dgm:prSet/>
      <dgm:spPr/>
      <dgm:t>
        <a:bodyPr/>
        <a:lstStyle/>
        <a:p>
          <a:endParaRPr lang="ru-RU"/>
        </a:p>
      </dgm:t>
    </dgm:pt>
    <dgm:pt modelId="{CAD0FAED-5993-4A0E-9F1A-4F6424B75C8F}">
      <dgm:prSet phldrT="[Текст]"/>
      <dgm:spPr/>
      <dgm:t>
        <a:bodyPr/>
        <a:lstStyle/>
        <a:p>
          <a:r>
            <a:rPr lang="ru-RU" dirty="0"/>
            <a:t>стратегия, направленная на создание уникального товара или услуги, который обладает уникальными характеристиками или особенностями, отличающими его от товаров или услуг конкурентов. Дифференциация позволяет организации создавать ценность для потребителей и получать премиум-цены.</a:t>
          </a:r>
        </a:p>
      </dgm:t>
    </dgm:pt>
    <dgm:pt modelId="{F226FB41-44CA-4B2A-B83D-744813FEF007}" type="parTrans" cxnId="{52C1DFB2-806F-4D8C-9712-1281857C56F5}">
      <dgm:prSet/>
      <dgm:spPr/>
      <dgm:t>
        <a:bodyPr/>
        <a:lstStyle/>
        <a:p>
          <a:endParaRPr lang="ru-RU"/>
        </a:p>
      </dgm:t>
    </dgm:pt>
    <dgm:pt modelId="{444E4F3F-E61F-4E28-B536-6444BF31C799}" type="sibTrans" cxnId="{52C1DFB2-806F-4D8C-9712-1281857C56F5}">
      <dgm:prSet/>
      <dgm:spPr/>
      <dgm:t>
        <a:bodyPr/>
        <a:lstStyle/>
        <a:p>
          <a:endParaRPr lang="ru-RU"/>
        </a:p>
      </dgm:t>
    </dgm:pt>
    <dgm:pt modelId="{C681A1E9-2609-437D-B3CD-94718E2E1D70}">
      <dgm:prSet phldrT="[Текст]"/>
      <dgm:spPr/>
      <dgm:t>
        <a:bodyPr/>
        <a:lstStyle/>
        <a:p>
          <a:r>
            <a:rPr lang="ru-RU" dirty="0"/>
            <a:t>Фокусирование на сегменте рынка</a:t>
          </a:r>
        </a:p>
      </dgm:t>
    </dgm:pt>
    <dgm:pt modelId="{1939839D-7488-4C5D-9AA5-7999A8647EE1}" type="parTrans" cxnId="{CEAE3A29-39D7-4B2E-A4CC-A6544CFD2CCC}">
      <dgm:prSet/>
      <dgm:spPr/>
      <dgm:t>
        <a:bodyPr/>
        <a:lstStyle/>
        <a:p>
          <a:endParaRPr lang="ru-RU"/>
        </a:p>
      </dgm:t>
    </dgm:pt>
    <dgm:pt modelId="{04859ACF-AD1B-4557-AE38-7726B135569B}" type="sibTrans" cxnId="{CEAE3A29-39D7-4B2E-A4CC-A6544CFD2CCC}">
      <dgm:prSet/>
      <dgm:spPr/>
      <dgm:t>
        <a:bodyPr/>
        <a:lstStyle/>
        <a:p>
          <a:endParaRPr lang="ru-RU"/>
        </a:p>
      </dgm:t>
    </dgm:pt>
    <dgm:pt modelId="{44A045A2-FAFB-4DFD-A812-463D7546ADF9}">
      <dgm:prSet phldrT="[Текст]"/>
      <dgm:spPr/>
      <dgm:t>
        <a:bodyPr/>
        <a:lstStyle/>
        <a:p>
          <a:r>
            <a:rPr lang="ru-RU" dirty="0"/>
            <a:t>стратегия, сосредоточенная на обслуживании узкой целевой аудитории, такой как определенный сегмент потребителей или географический регион. Организация старается удовлетворить уникальные потребности этой целевой группы, предлагая им товары или услуги, которые точно соответствуют их требованиям.</a:t>
          </a:r>
        </a:p>
      </dgm:t>
    </dgm:pt>
    <dgm:pt modelId="{D7B89BFA-8164-4A39-B607-B830BF0820A2}" type="parTrans" cxnId="{E9342512-C573-4163-ADAC-51A3CA5A8BB9}">
      <dgm:prSet/>
      <dgm:spPr/>
      <dgm:t>
        <a:bodyPr/>
        <a:lstStyle/>
        <a:p>
          <a:endParaRPr lang="ru-RU"/>
        </a:p>
      </dgm:t>
    </dgm:pt>
    <dgm:pt modelId="{3F0D9C5C-6518-4343-A6FB-9E0E25F69F48}" type="sibTrans" cxnId="{E9342512-C573-4163-ADAC-51A3CA5A8BB9}">
      <dgm:prSet/>
      <dgm:spPr/>
      <dgm:t>
        <a:bodyPr/>
        <a:lstStyle/>
        <a:p>
          <a:endParaRPr lang="ru-RU"/>
        </a:p>
      </dgm:t>
    </dgm:pt>
    <dgm:pt modelId="{5CF4400C-BDA5-4578-BBAD-FDD73F71B727}">
      <dgm:prSet phldrT="[Текст]"/>
      <dgm:spPr/>
      <dgm:t>
        <a:bodyPr/>
        <a:lstStyle/>
        <a:p>
          <a:r>
            <a:rPr lang="ru-RU" dirty="0"/>
            <a:t>Стратегия структурной изменчивости</a:t>
          </a:r>
        </a:p>
      </dgm:t>
    </dgm:pt>
    <dgm:pt modelId="{D7FC354E-E3B2-4B6F-B8FF-E0797E60E6E6}" type="parTrans" cxnId="{E95410BA-D744-4F8C-A98D-DD372E355F8C}">
      <dgm:prSet/>
      <dgm:spPr/>
      <dgm:t>
        <a:bodyPr/>
        <a:lstStyle/>
        <a:p>
          <a:endParaRPr lang="ru-RU"/>
        </a:p>
      </dgm:t>
    </dgm:pt>
    <dgm:pt modelId="{3126A7CB-96BE-41D2-95F3-D432EF5B294B}" type="sibTrans" cxnId="{E95410BA-D744-4F8C-A98D-DD372E355F8C}">
      <dgm:prSet/>
      <dgm:spPr/>
      <dgm:t>
        <a:bodyPr/>
        <a:lstStyle/>
        <a:p>
          <a:endParaRPr lang="ru-RU"/>
        </a:p>
      </dgm:t>
    </dgm:pt>
    <dgm:pt modelId="{D5F29286-7F23-4F3F-9AFA-4F9C1BD84EDB}">
      <dgm:prSet phldrT="[Текст]"/>
      <dgm:spPr/>
      <dgm:t>
        <a:bodyPr/>
        <a:lstStyle/>
        <a:p>
          <a:r>
            <a:rPr lang="ru-RU" dirty="0"/>
            <a:t>стратегия, связанная с изменением основной структуры данной отрасли в целях ее реконфигурации или переориентации. Эта стратегия может включать в себя изменение отраслевых границ, вступление в новые сегменты или выход из старых.</a:t>
          </a:r>
        </a:p>
      </dgm:t>
    </dgm:pt>
    <dgm:pt modelId="{EA315A7F-616D-46B8-AD99-28F937CD279D}" type="parTrans" cxnId="{FDFECDDC-A246-42C3-AAFA-57DE657DDE5E}">
      <dgm:prSet/>
      <dgm:spPr/>
      <dgm:t>
        <a:bodyPr/>
        <a:lstStyle/>
        <a:p>
          <a:endParaRPr lang="ru-RU"/>
        </a:p>
      </dgm:t>
    </dgm:pt>
    <dgm:pt modelId="{9DDC10CC-AF75-41E2-B520-AD566A60CE13}" type="sibTrans" cxnId="{FDFECDDC-A246-42C3-AAFA-57DE657DDE5E}">
      <dgm:prSet/>
      <dgm:spPr/>
      <dgm:t>
        <a:bodyPr/>
        <a:lstStyle/>
        <a:p>
          <a:endParaRPr lang="ru-RU"/>
        </a:p>
      </dgm:t>
    </dgm:pt>
    <dgm:pt modelId="{0B07CA9E-D9FA-459C-965F-ADEC19F53A62}" type="pres">
      <dgm:prSet presAssocID="{9526C24C-94E5-4671-819D-F833719B3F0F}" presName="linear" presStyleCnt="0">
        <dgm:presLayoutVars>
          <dgm:animLvl val="lvl"/>
          <dgm:resizeHandles val="exact"/>
        </dgm:presLayoutVars>
      </dgm:prSet>
      <dgm:spPr/>
    </dgm:pt>
    <dgm:pt modelId="{181843F8-A45F-45C3-BC1A-618D9F9D110A}" type="pres">
      <dgm:prSet presAssocID="{08B9F721-E20F-4CBD-B14A-97E369EB26E1}" presName="parentText" presStyleLbl="node1" presStyleIdx="0" presStyleCnt="4">
        <dgm:presLayoutVars>
          <dgm:chMax val="0"/>
          <dgm:bulletEnabled val="1"/>
        </dgm:presLayoutVars>
      </dgm:prSet>
      <dgm:spPr/>
    </dgm:pt>
    <dgm:pt modelId="{EDEAC148-BECA-4393-8F8C-672F9821CEDF}" type="pres">
      <dgm:prSet presAssocID="{08B9F721-E20F-4CBD-B14A-97E369EB26E1}" presName="childText" presStyleLbl="revTx" presStyleIdx="0" presStyleCnt="4">
        <dgm:presLayoutVars>
          <dgm:bulletEnabled val="1"/>
        </dgm:presLayoutVars>
      </dgm:prSet>
      <dgm:spPr/>
    </dgm:pt>
    <dgm:pt modelId="{41788A0A-FF7F-47EC-B65A-9BC450A90081}" type="pres">
      <dgm:prSet presAssocID="{7CB129B7-C2C6-4B7C-AB87-B6D6A51F1E06}" presName="parentText" presStyleLbl="node1" presStyleIdx="1" presStyleCnt="4">
        <dgm:presLayoutVars>
          <dgm:chMax val="0"/>
          <dgm:bulletEnabled val="1"/>
        </dgm:presLayoutVars>
      </dgm:prSet>
      <dgm:spPr/>
    </dgm:pt>
    <dgm:pt modelId="{18212F60-8F5F-4E85-AC20-690138A45D9F}" type="pres">
      <dgm:prSet presAssocID="{7CB129B7-C2C6-4B7C-AB87-B6D6A51F1E06}" presName="childText" presStyleLbl="revTx" presStyleIdx="1" presStyleCnt="4">
        <dgm:presLayoutVars>
          <dgm:bulletEnabled val="1"/>
        </dgm:presLayoutVars>
      </dgm:prSet>
      <dgm:spPr/>
    </dgm:pt>
    <dgm:pt modelId="{28B11C0D-8D63-4584-9602-43C8A8CDDC22}" type="pres">
      <dgm:prSet presAssocID="{C681A1E9-2609-437D-B3CD-94718E2E1D70}" presName="parentText" presStyleLbl="node1" presStyleIdx="2" presStyleCnt="4">
        <dgm:presLayoutVars>
          <dgm:chMax val="0"/>
          <dgm:bulletEnabled val="1"/>
        </dgm:presLayoutVars>
      </dgm:prSet>
      <dgm:spPr/>
    </dgm:pt>
    <dgm:pt modelId="{CDFAEE19-E9D0-47B1-A5C7-CCCCF62D4710}" type="pres">
      <dgm:prSet presAssocID="{C681A1E9-2609-437D-B3CD-94718E2E1D70}" presName="childText" presStyleLbl="revTx" presStyleIdx="2" presStyleCnt="4">
        <dgm:presLayoutVars>
          <dgm:bulletEnabled val="1"/>
        </dgm:presLayoutVars>
      </dgm:prSet>
      <dgm:spPr/>
    </dgm:pt>
    <dgm:pt modelId="{EAD5F48D-087B-4B4A-BCD8-F9BC676CA368}" type="pres">
      <dgm:prSet presAssocID="{5CF4400C-BDA5-4578-BBAD-FDD73F71B727}" presName="parentText" presStyleLbl="node1" presStyleIdx="3" presStyleCnt="4">
        <dgm:presLayoutVars>
          <dgm:chMax val="0"/>
          <dgm:bulletEnabled val="1"/>
        </dgm:presLayoutVars>
      </dgm:prSet>
      <dgm:spPr/>
    </dgm:pt>
    <dgm:pt modelId="{92B5E982-A1D2-4263-9EE0-947A4C56CE93}" type="pres">
      <dgm:prSet presAssocID="{5CF4400C-BDA5-4578-BBAD-FDD73F71B727}" presName="childText" presStyleLbl="revTx" presStyleIdx="3" presStyleCnt="4">
        <dgm:presLayoutVars>
          <dgm:bulletEnabled val="1"/>
        </dgm:presLayoutVars>
      </dgm:prSet>
      <dgm:spPr/>
    </dgm:pt>
  </dgm:ptLst>
  <dgm:cxnLst>
    <dgm:cxn modelId="{E9342512-C573-4163-ADAC-51A3CA5A8BB9}" srcId="{C681A1E9-2609-437D-B3CD-94718E2E1D70}" destId="{44A045A2-FAFB-4DFD-A812-463D7546ADF9}" srcOrd="0" destOrd="0" parTransId="{D7B89BFA-8164-4A39-B607-B830BF0820A2}" sibTransId="{3F0D9C5C-6518-4343-A6FB-9E0E25F69F48}"/>
    <dgm:cxn modelId="{462DA912-F721-4DDD-B5A5-0243EB3E99D2}" srcId="{9526C24C-94E5-4671-819D-F833719B3F0F}" destId="{08B9F721-E20F-4CBD-B14A-97E369EB26E1}" srcOrd="0" destOrd="0" parTransId="{DECC5BA1-7FBC-48BF-B6F6-2E32DFC398E3}" sibTransId="{BCE1DE49-CC19-46B2-9C26-2C26ED036AB8}"/>
    <dgm:cxn modelId="{18107213-8B38-4468-AB29-C1A71EF0694C}" type="presOf" srcId="{D5F29286-7F23-4F3F-9AFA-4F9C1BD84EDB}" destId="{92B5E982-A1D2-4263-9EE0-947A4C56CE93}" srcOrd="0" destOrd="0" presId="urn:microsoft.com/office/officeart/2005/8/layout/vList2"/>
    <dgm:cxn modelId="{CEAE3A29-39D7-4B2E-A4CC-A6544CFD2CCC}" srcId="{9526C24C-94E5-4671-819D-F833719B3F0F}" destId="{C681A1E9-2609-437D-B3CD-94718E2E1D70}" srcOrd="2" destOrd="0" parTransId="{1939839D-7488-4C5D-9AA5-7999A8647EE1}" sibTransId="{04859ACF-AD1B-4557-AE38-7726B135569B}"/>
    <dgm:cxn modelId="{8B972F2F-5509-4803-BBF4-E898105973F5}" srcId="{08B9F721-E20F-4CBD-B14A-97E369EB26E1}" destId="{99EC7D2D-0683-4EAC-89F1-77E3FD5873D5}" srcOrd="0" destOrd="0" parTransId="{E41DBD87-F3D8-42BE-ADFB-D85B02AB8F3F}" sibTransId="{67E3C03F-63F5-4359-A964-020A20C98138}"/>
    <dgm:cxn modelId="{CFDC136A-2860-4093-A06E-51A1EDC71B58}" type="presOf" srcId="{CAD0FAED-5993-4A0E-9F1A-4F6424B75C8F}" destId="{18212F60-8F5F-4E85-AC20-690138A45D9F}" srcOrd="0" destOrd="0" presId="urn:microsoft.com/office/officeart/2005/8/layout/vList2"/>
    <dgm:cxn modelId="{DFC9A86A-4BC2-4195-9B6B-DC57FBB657EA}" type="presOf" srcId="{9526C24C-94E5-4671-819D-F833719B3F0F}" destId="{0B07CA9E-D9FA-459C-965F-ADEC19F53A62}" srcOrd="0" destOrd="0" presId="urn:microsoft.com/office/officeart/2005/8/layout/vList2"/>
    <dgm:cxn modelId="{778A1C97-7746-4D41-B537-816F82D7DD4B}" type="presOf" srcId="{7CB129B7-C2C6-4B7C-AB87-B6D6A51F1E06}" destId="{41788A0A-FF7F-47EC-B65A-9BC450A90081}" srcOrd="0" destOrd="0" presId="urn:microsoft.com/office/officeart/2005/8/layout/vList2"/>
    <dgm:cxn modelId="{5EBD839A-C273-474B-818E-6F50FC557174}" type="presOf" srcId="{5CF4400C-BDA5-4578-BBAD-FDD73F71B727}" destId="{EAD5F48D-087B-4B4A-BCD8-F9BC676CA368}" srcOrd="0" destOrd="0" presId="urn:microsoft.com/office/officeart/2005/8/layout/vList2"/>
    <dgm:cxn modelId="{CA0E4AA4-368B-4560-938D-8ED24D1E1CAE}" type="presOf" srcId="{44A045A2-FAFB-4DFD-A812-463D7546ADF9}" destId="{CDFAEE19-E9D0-47B1-A5C7-CCCCF62D4710}" srcOrd="0" destOrd="0" presId="urn:microsoft.com/office/officeart/2005/8/layout/vList2"/>
    <dgm:cxn modelId="{CFADC6B0-F867-4F79-9D7A-60F4E2D02552}" srcId="{9526C24C-94E5-4671-819D-F833719B3F0F}" destId="{7CB129B7-C2C6-4B7C-AB87-B6D6A51F1E06}" srcOrd="1" destOrd="0" parTransId="{E07BA4A6-A53F-4F00-A59A-BDF1D621C06A}" sibTransId="{57E47322-E053-4D27-A38A-E8F7C2FFDB42}"/>
    <dgm:cxn modelId="{52C1DFB2-806F-4D8C-9712-1281857C56F5}" srcId="{7CB129B7-C2C6-4B7C-AB87-B6D6A51F1E06}" destId="{CAD0FAED-5993-4A0E-9F1A-4F6424B75C8F}" srcOrd="0" destOrd="0" parTransId="{F226FB41-44CA-4B2A-B83D-744813FEF007}" sibTransId="{444E4F3F-E61F-4E28-B536-6444BF31C799}"/>
    <dgm:cxn modelId="{E95410BA-D744-4F8C-A98D-DD372E355F8C}" srcId="{9526C24C-94E5-4671-819D-F833719B3F0F}" destId="{5CF4400C-BDA5-4578-BBAD-FDD73F71B727}" srcOrd="3" destOrd="0" parTransId="{D7FC354E-E3B2-4B6F-B8FF-E0797E60E6E6}" sibTransId="{3126A7CB-96BE-41D2-95F3-D432EF5B294B}"/>
    <dgm:cxn modelId="{0953BAC5-B4D3-4831-8013-69DE9EF8508D}" type="presOf" srcId="{99EC7D2D-0683-4EAC-89F1-77E3FD5873D5}" destId="{EDEAC148-BECA-4393-8F8C-672F9821CEDF}" srcOrd="0" destOrd="0" presId="urn:microsoft.com/office/officeart/2005/8/layout/vList2"/>
    <dgm:cxn modelId="{B16FCAC8-9AAA-46C1-8BF7-8AAB81AA7E9A}" type="presOf" srcId="{08B9F721-E20F-4CBD-B14A-97E369EB26E1}" destId="{181843F8-A45F-45C3-BC1A-618D9F9D110A}" srcOrd="0" destOrd="0" presId="urn:microsoft.com/office/officeart/2005/8/layout/vList2"/>
    <dgm:cxn modelId="{FDFECDDC-A246-42C3-AAFA-57DE657DDE5E}" srcId="{5CF4400C-BDA5-4578-BBAD-FDD73F71B727}" destId="{D5F29286-7F23-4F3F-9AFA-4F9C1BD84EDB}" srcOrd="0" destOrd="0" parTransId="{EA315A7F-616D-46B8-AD99-28F937CD279D}" sibTransId="{9DDC10CC-AF75-41E2-B520-AD566A60CE13}"/>
    <dgm:cxn modelId="{CF8DF1FF-8A0B-4F41-93C9-469103443B37}" type="presOf" srcId="{C681A1E9-2609-437D-B3CD-94718E2E1D70}" destId="{28B11C0D-8D63-4584-9602-43C8A8CDDC22}" srcOrd="0" destOrd="0" presId="urn:microsoft.com/office/officeart/2005/8/layout/vList2"/>
    <dgm:cxn modelId="{F62919CF-9D79-45FE-9EE9-704DB540EA14}" type="presParOf" srcId="{0B07CA9E-D9FA-459C-965F-ADEC19F53A62}" destId="{181843F8-A45F-45C3-BC1A-618D9F9D110A}" srcOrd="0" destOrd="0" presId="urn:microsoft.com/office/officeart/2005/8/layout/vList2"/>
    <dgm:cxn modelId="{63F99EDD-7A6E-47F1-8263-DD458828329F}" type="presParOf" srcId="{0B07CA9E-D9FA-459C-965F-ADEC19F53A62}" destId="{EDEAC148-BECA-4393-8F8C-672F9821CEDF}" srcOrd="1" destOrd="0" presId="urn:microsoft.com/office/officeart/2005/8/layout/vList2"/>
    <dgm:cxn modelId="{F587A4F5-FF94-4AC8-8D44-842A3BCEE677}" type="presParOf" srcId="{0B07CA9E-D9FA-459C-965F-ADEC19F53A62}" destId="{41788A0A-FF7F-47EC-B65A-9BC450A90081}" srcOrd="2" destOrd="0" presId="urn:microsoft.com/office/officeart/2005/8/layout/vList2"/>
    <dgm:cxn modelId="{958D6700-086C-42DC-B7A0-D4EA64B3FB64}" type="presParOf" srcId="{0B07CA9E-D9FA-459C-965F-ADEC19F53A62}" destId="{18212F60-8F5F-4E85-AC20-690138A45D9F}" srcOrd="3" destOrd="0" presId="urn:microsoft.com/office/officeart/2005/8/layout/vList2"/>
    <dgm:cxn modelId="{901EAFDC-3F92-4360-A6B8-FB180B9C22D3}" type="presParOf" srcId="{0B07CA9E-D9FA-459C-965F-ADEC19F53A62}" destId="{28B11C0D-8D63-4584-9602-43C8A8CDDC22}" srcOrd="4" destOrd="0" presId="urn:microsoft.com/office/officeart/2005/8/layout/vList2"/>
    <dgm:cxn modelId="{5D6DC131-653A-4872-B3C1-7058AD93E282}" type="presParOf" srcId="{0B07CA9E-D9FA-459C-965F-ADEC19F53A62}" destId="{CDFAEE19-E9D0-47B1-A5C7-CCCCF62D4710}" srcOrd="5" destOrd="0" presId="urn:microsoft.com/office/officeart/2005/8/layout/vList2"/>
    <dgm:cxn modelId="{5E240D41-8AB1-475F-B7C8-A8C7D0973DBE}" type="presParOf" srcId="{0B07CA9E-D9FA-459C-965F-ADEC19F53A62}" destId="{EAD5F48D-087B-4B4A-BCD8-F9BC676CA368}" srcOrd="6" destOrd="0" presId="urn:microsoft.com/office/officeart/2005/8/layout/vList2"/>
    <dgm:cxn modelId="{AE631DF8-F68A-439D-857C-06900526E916}" type="presParOf" srcId="{0B07CA9E-D9FA-459C-965F-ADEC19F53A62}" destId="{92B5E982-A1D2-4263-9EE0-947A4C56CE93}"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C9BC3F2-01F1-48A5-A54C-74A4439A591B}" type="doc">
      <dgm:prSet loTypeId="urn:microsoft.com/office/officeart/2008/layout/HalfCircleOrganizationChart" loCatId="hierarchy" qsTypeId="urn:microsoft.com/office/officeart/2005/8/quickstyle/simple1" qsCatId="simple" csTypeId="urn:microsoft.com/office/officeart/2005/8/colors/accent4_1" csCatId="accent4" phldr="1"/>
      <dgm:spPr/>
      <dgm:t>
        <a:bodyPr/>
        <a:lstStyle/>
        <a:p>
          <a:endParaRPr lang="ru-RU"/>
        </a:p>
      </dgm:t>
    </dgm:pt>
    <dgm:pt modelId="{0D9E623A-85DB-484F-9F89-EC77299844E5}">
      <dgm:prSet phldrT="[Текст]"/>
      <dgm:spPr/>
      <dgm:t>
        <a:bodyPr/>
        <a:lstStyle/>
        <a:p>
          <a:r>
            <a:rPr lang="ru-RU" dirty="0"/>
            <a:t>Стратегия фокусирования </a:t>
          </a:r>
        </a:p>
      </dgm:t>
    </dgm:pt>
    <dgm:pt modelId="{B1AA62D5-7179-4685-AE5B-ECF065CCB9EB}" type="parTrans" cxnId="{1EE3730D-0B2C-4C46-AD5D-30C94A3F25CF}">
      <dgm:prSet/>
      <dgm:spPr/>
      <dgm:t>
        <a:bodyPr/>
        <a:lstStyle/>
        <a:p>
          <a:endParaRPr lang="ru-RU"/>
        </a:p>
      </dgm:t>
    </dgm:pt>
    <dgm:pt modelId="{168618F6-656D-4DB3-94DB-0C7D54873AFD}" type="sibTrans" cxnId="{1EE3730D-0B2C-4C46-AD5D-30C94A3F25CF}">
      <dgm:prSet/>
      <dgm:spPr/>
      <dgm:t>
        <a:bodyPr/>
        <a:lstStyle/>
        <a:p>
          <a:endParaRPr lang="ru-RU"/>
        </a:p>
      </dgm:t>
    </dgm:pt>
    <dgm:pt modelId="{39F18068-63A3-4331-89CE-4F02CF3A03D8}">
      <dgm:prSet phldrT="[Текст]"/>
      <dgm:spPr/>
      <dgm:t>
        <a:bodyPr/>
        <a:lstStyle/>
        <a:p>
          <a:r>
            <a:rPr lang="ru-RU" dirty="0"/>
            <a:t>Фокусирование на </a:t>
          </a:r>
          <a:r>
            <a:rPr lang="ru-RU" dirty="0" err="1"/>
            <a:t>затратоэффективности</a:t>
          </a:r>
          <a:endParaRPr lang="ru-RU" dirty="0"/>
        </a:p>
      </dgm:t>
    </dgm:pt>
    <dgm:pt modelId="{625F66B1-4CA0-485B-8F1D-5878D1633C99}" type="parTrans" cxnId="{08C9F967-462D-4650-BCF9-674851849B92}">
      <dgm:prSet/>
      <dgm:spPr/>
      <dgm:t>
        <a:bodyPr/>
        <a:lstStyle/>
        <a:p>
          <a:endParaRPr lang="ru-RU"/>
        </a:p>
      </dgm:t>
    </dgm:pt>
    <dgm:pt modelId="{8335ED13-4DF9-484A-82F9-2EDECAB5E9C2}" type="sibTrans" cxnId="{08C9F967-462D-4650-BCF9-674851849B92}">
      <dgm:prSet/>
      <dgm:spPr/>
      <dgm:t>
        <a:bodyPr/>
        <a:lstStyle/>
        <a:p>
          <a:endParaRPr lang="ru-RU"/>
        </a:p>
      </dgm:t>
    </dgm:pt>
    <dgm:pt modelId="{6A0C36AC-BAD9-42CE-A772-357E4C54229B}">
      <dgm:prSet phldrT="[Текст]"/>
      <dgm:spPr/>
      <dgm:t>
        <a:bodyPr/>
        <a:lstStyle/>
        <a:p>
          <a:r>
            <a:rPr lang="ru-RU" dirty="0"/>
            <a:t>фокусирование на дифференциации</a:t>
          </a:r>
        </a:p>
      </dgm:t>
    </dgm:pt>
    <dgm:pt modelId="{DA06F278-A3D6-41FB-848E-2F7CBC17D8A7}" type="parTrans" cxnId="{E51D2F07-B290-4F1E-A0F6-E79BBC96F2A4}">
      <dgm:prSet/>
      <dgm:spPr/>
      <dgm:t>
        <a:bodyPr/>
        <a:lstStyle/>
        <a:p>
          <a:endParaRPr lang="ru-RU"/>
        </a:p>
      </dgm:t>
    </dgm:pt>
    <dgm:pt modelId="{AEE6DC26-6448-48E6-A617-E7A84499CB7F}" type="sibTrans" cxnId="{E51D2F07-B290-4F1E-A0F6-E79BBC96F2A4}">
      <dgm:prSet/>
      <dgm:spPr/>
      <dgm:t>
        <a:bodyPr/>
        <a:lstStyle/>
        <a:p>
          <a:endParaRPr lang="ru-RU"/>
        </a:p>
      </dgm:t>
    </dgm:pt>
    <dgm:pt modelId="{1DBDF182-DB97-4E07-B8DB-159CD31978DD}" type="pres">
      <dgm:prSet presAssocID="{DC9BC3F2-01F1-48A5-A54C-74A4439A591B}" presName="Name0" presStyleCnt="0">
        <dgm:presLayoutVars>
          <dgm:orgChart val="1"/>
          <dgm:chPref val="1"/>
          <dgm:dir/>
          <dgm:animOne val="branch"/>
          <dgm:animLvl val="lvl"/>
          <dgm:resizeHandles/>
        </dgm:presLayoutVars>
      </dgm:prSet>
      <dgm:spPr/>
    </dgm:pt>
    <dgm:pt modelId="{BAD0439E-6B42-4826-8F58-BF72B7288428}" type="pres">
      <dgm:prSet presAssocID="{0D9E623A-85DB-484F-9F89-EC77299844E5}" presName="hierRoot1" presStyleCnt="0">
        <dgm:presLayoutVars>
          <dgm:hierBranch val="init"/>
        </dgm:presLayoutVars>
      </dgm:prSet>
      <dgm:spPr/>
    </dgm:pt>
    <dgm:pt modelId="{03B5FB9C-97D1-461E-A0F9-FEFDA12614E2}" type="pres">
      <dgm:prSet presAssocID="{0D9E623A-85DB-484F-9F89-EC77299844E5}" presName="rootComposite1" presStyleCnt="0"/>
      <dgm:spPr/>
    </dgm:pt>
    <dgm:pt modelId="{7450E198-49C6-49DF-9639-E11E0F9F3A14}" type="pres">
      <dgm:prSet presAssocID="{0D9E623A-85DB-484F-9F89-EC77299844E5}" presName="rootText1" presStyleLbl="alignAcc1" presStyleIdx="0" presStyleCnt="0">
        <dgm:presLayoutVars>
          <dgm:chPref val="3"/>
        </dgm:presLayoutVars>
      </dgm:prSet>
      <dgm:spPr/>
    </dgm:pt>
    <dgm:pt modelId="{89EF9FC8-6CE5-4C1E-AD29-8EEECC603DEC}" type="pres">
      <dgm:prSet presAssocID="{0D9E623A-85DB-484F-9F89-EC77299844E5}" presName="topArc1" presStyleLbl="parChTrans1D1" presStyleIdx="0" presStyleCnt="6"/>
      <dgm:spPr/>
    </dgm:pt>
    <dgm:pt modelId="{E8F206AC-A060-41BF-ABFF-A78E3194FCF9}" type="pres">
      <dgm:prSet presAssocID="{0D9E623A-85DB-484F-9F89-EC77299844E5}" presName="bottomArc1" presStyleLbl="parChTrans1D1" presStyleIdx="1" presStyleCnt="6"/>
      <dgm:spPr/>
    </dgm:pt>
    <dgm:pt modelId="{798D1B65-28A3-477B-BDF5-AFDA8586020E}" type="pres">
      <dgm:prSet presAssocID="{0D9E623A-85DB-484F-9F89-EC77299844E5}" presName="topConnNode1" presStyleLbl="node1" presStyleIdx="0" presStyleCnt="0"/>
      <dgm:spPr/>
    </dgm:pt>
    <dgm:pt modelId="{E8829BCE-5815-4735-8EE9-BFB8B039C59F}" type="pres">
      <dgm:prSet presAssocID="{0D9E623A-85DB-484F-9F89-EC77299844E5}" presName="hierChild2" presStyleCnt="0"/>
      <dgm:spPr/>
    </dgm:pt>
    <dgm:pt modelId="{92A2EA59-CC19-42AA-917A-8DF7268FAA24}" type="pres">
      <dgm:prSet presAssocID="{625F66B1-4CA0-485B-8F1D-5878D1633C99}" presName="Name28" presStyleLbl="parChTrans1D2" presStyleIdx="0" presStyleCnt="2"/>
      <dgm:spPr/>
    </dgm:pt>
    <dgm:pt modelId="{237389CD-B9CE-4F17-904B-59D5FF00AD6B}" type="pres">
      <dgm:prSet presAssocID="{39F18068-63A3-4331-89CE-4F02CF3A03D8}" presName="hierRoot2" presStyleCnt="0">
        <dgm:presLayoutVars>
          <dgm:hierBranch val="init"/>
        </dgm:presLayoutVars>
      </dgm:prSet>
      <dgm:spPr/>
    </dgm:pt>
    <dgm:pt modelId="{93BB9FA9-B365-43FE-946C-C782C02DE194}" type="pres">
      <dgm:prSet presAssocID="{39F18068-63A3-4331-89CE-4F02CF3A03D8}" presName="rootComposite2" presStyleCnt="0"/>
      <dgm:spPr/>
    </dgm:pt>
    <dgm:pt modelId="{CD9FE35D-28B2-4D0D-B916-3B21F218EBB2}" type="pres">
      <dgm:prSet presAssocID="{39F18068-63A3-4331-89CE-4F02CF3A03D8}" presName="rootText2" presStyleLbl="alignAcc1" presStyleIdx="0" presStyleCnt="0">
        <dgm:presLayoutVars>
          <dgm:chPref val="3"/>
        </dgm:presLayoutVars>
      </dgm:prSet>
      <dgm:spPr/>
    </dgm:pt>
    <dgm:pt modelId="{E6DD9B25-29E1-40F4-AF09-0D9A6D879E47}" type="pres">
      <dgm:prSet presAssocID="{39F18068-63A3-4331-89CE-4F02CF3A03D8}" presName="topArc2" presStyleLbl="parChTrans1D1" presStyleIdx="2" presStyleCnt="6"/>
      <dgm:spPr/>
    </dgm:pt>
    <dgm:pt modelId="{337F89BB-2E2B-4F58-8354-CC29492CE0B3}" type="pres">
      <dgm:prSet presAssocID="{39F18068-63A3-4331-89CE-4F02CF3A03D8}" presName="bottomArc2" presStyleLbl="parChTrans1D1" presStyleIdx="3" presStyleCnt="6"/>
      <dgm:spPr/>
    </dgm:pt>
    <dgm:pt modelId="{1539EB6A-9253-4AAF-A069-70029FC0166C}" type="pres">
      <dgm:prSet presAssocID="{39F18068-63A3-4331-89CE-4F02CF3A03D8}" presName="topConnNode2" presStyleLbl="node2" presStyleIdx="0" presStyleCnt="0"/>
      <dgm:spPr/>
    </dgm:pt>
    <dgm:pt modelId="{03CAE5B7-922E-49BC-A9D9-F11E8DB241ED}" type="pres">
      <dgm:prSet presAssocID="{39F18068-63A3-4331-89CE-4F02CF3A03D8}" presName="hierChild4" presStyleCnt="0"/>
      <dgm:spPr/>
    </dgm:pt>
    <dgm:pt modelId="{EE42B352-B74F-4A04-AD5E-0A358CD42C6F}" type="pres">
      <dgm:prSet presAssocID="{39F18068-63A3-4331-89CE-4F02CF3A03D8}" presName="hierChild5" presStyleCnt="0"/>
      <dgm:spPr/>
    </dgm:pt>
    <dgm:pt modelId="{457938F2-3EE6-4E27-9793-8D97B6587A9B}" type="pres">
      <dgm:prSet presAssocID="{DA06F278-A3D6-41FB-848E-2F7CBC17D8A7}" presName="Name28" presStyleLbl="parChTrans1D2" presStyleIdx="1" presStyleCnt="2"/>
      <dgm:spPr/>
    </dgm:pt>
    <dgm:pt modelId="{74AF7E3F-5A7B-4E94-9457-D681478E2148}" type="pres">
      <dgm:prSet presAssocID="{6A0C36AC-BAD9-42CE-A772-357E4C54229B}" presName="hierRoot2" presStyleCnt="0">
        <dgm:presLayoutVars>
          <dgm:hierBranch val="init"/>
        </dgm:presLayoutVars>
      </dgm:prSet>
      <dgm:spPr/>
    </dgm:pt>
    <dgm:pt modelId="{EA3C7506-33E6-40BF-A691-ADAD171A466D}" type="pres">
      <dgm:prSet presAssocID="{6A0C36AC-BAD9-42CE-A772-357E4C54229B}" presName="rootComposite2" presStyleCnt="0"/>
      <dgm:spPr/>
    </dgm:pt>
    <dgm:pt modelId="{368383AD-C602-496B-B12A-31C3A28F71F3}" type="pres">
      <dgm:prSet presAssocID="{6A0C36AC-BAD9-42CE-A772-357E4C54229B}" presName="rootText2" presStyleLbl="alignAcc1" presStyleIdx="0" presStyleCnt="0">
        <dgm:presLayoutVars>
          <dgm:chPref val="3"/>
        </dgm:presLayoutVars>
      </dgm:prSet>
      <dgm:spPr/>
    </dgm:pt>
    <dgm:pt modelId="{4BECD7E1-BE14-4C28-B1A8-2A30663E72BF}" type="pres">
      <dgm:prSet presAssocID="{6A0C36AC-BAD9-42CE-A772-357E4C54229B}" presName="topArc2" presStyleLbl="parChTrans1D1" presStyleIdx="4" presStyleCnt="6"/>
      <dgm:spPr/>
    </dgm:pt>
    <dgm:pt modelId="{EBF82299-321B-460A-8498-571CEC5E8AC6}" type="pres">
      <dgm:prSet presAssocID="{6A0C36AC-BAD9-42CE-A772-357E4C54229B}" presName="bottomArc2" presStyleLbl="parChTrans1D1" presStyleIdx="5" presStyleCnt="6"/>
      <dgm:spPr/>
    </dgm:pt>
    <dgm:pt modelId="{1880277A-4296-4106-8920-DD5409273AD9}" type="pres">
      <dgm:prSet presAssocID="{6A0C36AC-BAD9-42CE-A772-357E4C54229B}" presName="topConnNode2" presStyleLbl="node2" presStyleIdx="0" presStyleCnt="0"/>
      <dgm:spPr/>
    </dgm:pt>
    <dgm:pt modelId="{8ADFF9E1-A6DF-4CC4-B771-B9CDF045E1F2}" type="pres">
      <dgm:prSet presAssocID="{6A0C36AC-BAD9-42CE-A772-357E4C54229B}" presName="hierChild4" presStyleCnt="0"/>
      <dgm:spPr/>
    </dgm:pt>
    <dgm:pt modelId="{8F20F0DB-5204-4B00-9D5C-A3993F531DF5}" type="pres">
      <dgm:prSet presAssocID="{6A0C36AC-BAD9-42CE-A772-357E4C54229B}" presName="hierChild5" presStyleCnt="0"/>
      <dgm:spPr/>
    </dgm:pt>
    <dgm:pt modelId="{723CF79B-E7D3-4C88-A3A5-F80D065B9DA8}" type="pres">
      <dgm:prSet presAssocID="{0D9E623A-85DB-484F-9F89-EC77299844E5}" presName="hierChild3" presStyleCnt="0"/>
      <dgm:spPr/>
    </dgm:pt>
  </dgm:ptLst>
  <dgm:cxnLst>
    <dgm:cxn modelId="{E51D2F07-B290-4F1E-A0F6-E79BBC96F2A4}" srcId="{0D9E623A-85DB-484F-9F89-EC77299844E5}" destId="{6A0C36AC-BAD9-42CE-A772-357E4C54229B}" srcOrd="1" destOrd="0" parTransId="{DA06F278-A3D6-41FB-848E-2F7CBC17D8A7}" sibTransId="{AEE6DC26-6448-48E6-A617-E7A84499CB7F}"/>
    <dgm:cxn modelId="{1EE3730D-0B2C-4C46-AD5D-30C94A3F25CF}" srcId="{DC9BC3F2-01F1-48A5-A54C-74A4439A591B}" destId="{0D9E623A-85DB-484F-9F89-EC77299844E5}" srcOrd="0" destOrd="0" parTransId="{B1AA62D5-7179-4685-AE5B-ECF065CCB9EB}" sibTransId="{168618F6-656D-4DB3-94DB-0C7D54873AFD}"/>
    <dgm:cxn modelId="{C8705E0F-829F-484C-A6A9-666B7E14BA7B}" type="presOf" srcId="{6A0C36AC-BAD9-42CE-A772-357E4C54229B}" destId="{1880277A-4296-4106-8920-DD5409273AD9}" srcOrd="1" destOrd="0" presId="urn:microsoft.com/office/officeart/2008/layout/HalfCircleOrganizationChart"/>
    <dgm:cxn modelId="{B287A417-BA12-40AE-91AF-47156D4FE1FD}" type="presOf" srcId="{DC9BC3F2-01F1-48A5-A54C-74A4439A591B}" destId="{1DBDF182-DB97-4E07-B8DB-159CD31978DD}" srcOrd="0" destOrd="0" presId="urn:microsoft.com/office/officeart/2008/layout/HalfCircleOrganizationChart"/>
    <dgm:cxn modelId="{CBCF5619-AD7C-460D-841D-1201859B3C5D}" type="presOf" srcId="{39F18068-63A3-4331-89CE-4F02CF3A03D8}" destId="{CD9FE35D-28B2-4D0D-B916-3B21F218EBB2}" srcOrd="0" destOrd="0" presId="urn:microsoft.com/office/officeart/2008/layout/HalfCircleOrganizationChart"/>
    <dgm:cxn modelId="{46CC5D34-6722-4E50-BCCC-3F98E468BDA6}" type="presOf" srcId="{625F66B1-4CA0-485B-8F1D-5878D1633C99}" destId="{92A2EA59-CC19-42AA-917A-8DF7268FAA24}" srcOrd="0" destOrd="0" presId="urn:microsoft.com/office/officeart/2008/layout/HalfCircleOrganizationChart"/>
    <dgm:cxn modelId="{D99EA844-6F55-4E5C-8A2D-8D2D29C2C537}" type="presOf" srcId="{0D9E623A-85DB-484F-9F89-EC77299844E5}" destId="{7450E198-49C6-49DF-9639-E11E0F9F3A14}" srcOrd="0" destOrd="0" presId="urn:microsoft.com/office/officeart/2008/layout/HalfCircleOrganizationChart"/>
    <dgm:cxn modelId="{6446A846-E43A-4413-826F-61812D09BD92}" type="presOf" srcId="{0D9E623A-85DB-484F-9F89-EC77299844E5}" destId="{798D1B65-28A3-477B-BDF5-AFDA8586020E}" srcOrd="1" destOrd="0" presId="urn:microsoft.com/office/officeart/2008/layout/HalfCircleOrganizationChart"/>
    <dgm:cxn modelId="{08C9F967-462D-4650-BCF9-674851849B92}" srcId="{0D9E623A-85DB-484F-9F89-EC77299844E5}" destId="{39F18068-63A3-4331-89CE-4F02CF3A03D8}" srcOrd="0" destOrd="0" parTransId="{625F66B1-4CA0-485B-8F1D-5878D1633C99}" sibTransId="{8335ED13-4DF9-484A-82F9-2EDECAB5E9C2}"/>
    <dgm:cxn modelId="{48AEBA80-59CB-43A4-B2D3-65BFE7A0C388}" type="presOf" srcId="{DA06F278-A3D6-41FB-848E-2F7CBC17D8A7}" destId="{457938F2-3EE6-4E27-9793-8D97B6587A9B}" srcOrd="0" destOrd="0" presId="urn:microsoft.com/office/officeart/2008/layout/HalfCircleOrganizationChart"/>
    <dgm:cxn modelId="{13C844A0-7159-4B8A-B7A9-FB26248EDFF2}" type="presOf" srcId="{39F18068-63A3-4331-89CE-4F02CF3A03D8}" destId="{1539EB6A-9253-4AAF-A069-70029FC0166C}" srcOrd="1" destOrd="0" presId="urn:microsoft.com/office/officeart/2008/layout/HalfCircleOrganizationChart"/>
    <dgm:cxn modelId="{BAB09BAA-116B-492A-BECF-5614696BD602}" type="presOf" srcId="{6A0C36AC-BAD9-42CE-A772-357E4C54229B}" destId="{368383AD-C602-496B-B12A-31C3A28F71F3}" srcOrd="0" destOrd="0" presId="urn:microsoft.com/office/officeart/2008/layout/HalfCircleOrganizationChart"/>
    <dgm:cxn modelId="{6E083494-D567-4EB1-8FC5-E9CD9F24F433}" type="presParOf" srcId="{1DBDF182-DB97-4E07-B8DB-159CD31978DD}" destId="{BAD0439E-6B42-4826-8F58-BF72B7288428}" srcOrd="0" destOrd="0" presId="urn:microsoft.com/office/officeart/2008/layout/HalfCircleOrganizationChart"/>
    <dgm:cxn modelId="{88A30C24-CBA8-4530-8C28-6CA8A92E88A0}" type="presParOf" srcId="{BAD0439E-6B42-4826-8F58-BF72B7288428}" destId="{03B5FB9C-97D1-461E-A0F9-FEFDA12614E2}" srcOrd="0" destOrd="0" presId="urn:microsoft.com/office/officeart/2008/layout/HalfCircleOrganizationChart"/>
    <dgm:cxn modelId="{5EB876F3-93EA-4533-A459-ADB5E9233487}" type="presParOf" srcId="{03B5FB9C-97D1-461E-A0F9-FEFDA12614E2}" destId="{7450E198-49C6-49DF-9639-E11E0F9F3A14}" srcOrd="0" destOrd="0" presId="urn:microsoft.com/office/officeart/2008/layout/HalfCircleOrganizationChart"/>
    <dgm:cxn modelId="{B8356BBD-4B1A-4C2C-BABB-53308F943C74}" type="presParOf" srcId="{03B5FB9C-97D1-461E-A0F9-FEFDA12614E2}" destId="{89EF9FC8-6CE5-4C1E-AD29-8EEECC603DEC}" srcOrd="1" destOrd="0" presId="urn:microsoft.com/office/officeart/2008/layout/HalfCircleOrganizationChart"/>
    <dgm:cxn modelId="{A5E82794-BDBF-44A1-8EFE-8085CDC08E13}" type="presParOf" srcId="{03B5FB9C-97D1-461E-A0F9-FEFDA12614E2}" destId="{E8F206AC-A060-41BF-ABFF-A78E3194FCF9}" srcOrd="2" destOrd="0" presId="urn:microsoft.com/office/officeart/2008/layout/HalfCircleOrganizationChart"/>
    <dgm:cxn modelId="{B7569000-72C8-4296-8F29-CB26B092C4A8}" type="presParOf" srcId="{03B5FB9C-97D1-461E-A0F9-FEFDA12614E2}" destId="{798D1B65-28A3-477B-BDF5-AFDA8586020E}" srcOrd="3" destOrd="0" presId="urn:microsoft.com/office/officeart/2008/layout/HalfCircleOrganizationChart"/>
    <dgm:cxn modelId="{F48980F0-6A5C-44D8-AA68-D290A9F1BB6B}" type="presParOf" srcId="{BAD0439E-6B42-4826-8F58-BF72B7288428}" destId="{E8829BCE-5815-4735-8EE9-BFB8B039C59F}" srcOrd="1" destOrd="0" presId="urn:microsoft.com/office/officeart/2008/layout/HalfCircleOrganizationChart"/>
    <dgm:cxn modelId="{A36A542E-993C-4FB8-98FA-106E4813D2C4}" type="presParOf" srcId="{E8829BCE-5815-4735-8EE9-BFB8B039C59F}" destId="{92A2EA59-CC19-42AA-917A-8DF7268FAA24}" srcOrd="0" destOrd="0" presId="urn:microsoft.com/office/officeart/2008/layout/HalfCircleOrganizationChart"/>
    <dgm:cxn modelId="{C7E5D22E-9714-4C97-93BD-7A9D42D01877}" type="presParOf" srcId="{E8829BCE-5815-4735-8EE9-BFB8B039C59F}" destId="{237389CD-B9CE-4F17-904B-59D5FF00AD6B}" srcOrd="1" destOrd="0" presId="urn:microsoft.com/office/officeart/2008/layout/HalfCircleOrganizationChart"/>
    <dgm:cxn modelId="{2B348AC6-A219-4942-A1CD-67877FA194AE}" type="presParOf" srcId="{237389CD-B9CE-4F17-904B-59D5FF00AD6B}" destId="{93BB9FA9-B365-43FE-946C-C782C02DE194}" srcOrd="0" destOrd="0" presId="urn:microsoft.com/office/officeart/2008/layout/HalfCircleOrganizationChart"/>
    <dgm:cxn modelId="{A0DB0534-1700-40FE-9204-8C8E9D0515E7}" type="presParOf" srcId="{93BB9FA9-B365-43FE-946C-C782C02DE194}" destId="{CD9FE35D-28B2-4D0D-B916-3B21F218EBB2}" srcOrd="0" destOrd="0" presId="urn:microsoft.com/office/officeart/2008/layout/HalfCircleOrganizationChart"/>
    <dgm:cxn modelId="{B2250D18-E57F-4233-ADE8-CC845BB345B5}" type="presParOf" srcId="{93BB9FA9-B365-43FE-946C-C782C02DE194}" destId="{E6DD9B25-29E1-40F4-AF09-0D9A6D879E47}" srcOrd="1" destOrd="0" presId="urn:microsoft.com/office/officeart/2008/layout/HalfCircleOrganizationChart"/>
    <dgm:cxn modelId="{0282BC4B-0085-42B4-9408-2ABBF057D84B}" type="presParOf" srcId="{93BB9FA9-B365-43FE-946C-C782C02DE194}" destId="{337F89BB-2E2B-4F58-8354-CC29492CE0B3}" srcOrd="2" destOrd="0" presId="urn:microsoft.com/office/officeart/2008/layout/HalfCircleOrganizationChart"/>
    <dgm:cxn modelId="{7BDD0F00-E462-48B1-8945-D447F027DEE0}" type="presParOf" srcId="{93BB9FA9-B365-43FE-946C-C782C02DE194}" destId="{1539EB6A-9253-4AAF-A069-70029FC0166C}" srcOrd="3" destOrd="0" presId="urn:microsoft.com/office/officeart/2008/layout/HalfCircleOrganizationChart"/>
    <dgm:cxn modelId="{1CE08A1F-6ED7-46BF-BFEC-8987FED085F9}" type="presParOf" srcId="{237389CD-B9CE-4F17-904B-59D5FF00AD6B}" destId="{03CAE5B7-922E-49BC-A9D9-F11E8DB241ED}" srcOrd="1" destOrd="0" presId="urn:microsoft.com/office/officeart/2008/layout/HalfCircleOrganizationChart"/>
    <dgm:cxn modelId="{FC43B992-CFEC-4241-90F1-67AA9A6EADA7}" type="presParOf" srcId="{237389CD-B9CE-4F17-904B-59D5FF00AD6B}" destId="{EE42B352-B74F-4A04-AD5E-0A358CD42C6F}" srcOrd="2" destOrd="0" presId="urn:microsoft.com/office/officeart/2008/layout/HalfCircleOrganizationChart"/>
    <dgm:cxn modelId="{24012D64-4879-4B71-B1B5-609FA3F183E7}" type="presParOf" srcId="{E8829BCE-5815-4735-8EE9-BFB8B039C59F}" destId="{457938F2-3EE6-4E27-9793-8D97B6587A9B}" srcOrd="2" destOrd="0" presId="urn:microsoft.com/office/officeart/2008/layout/HalfCircleOrganizationChart"/>
    <dgm:cxn modelId="{EE7A635D-EADE-4040-B2A9-72E36D3E9BB7}" type="presParOf" srcId="{E8829BCE-5815-4735-8EE9-BFB8B039C59F}" destId="{74AF7E3F-5A7B-4E94-9457-D681478E2148}" srcOrd="3" destOrd="0" presId="urn:microsoft.com/office/officeart/2008/layout/HalfCircleOrganizationChart"/>
    <dgm:cxn modelId="{BBA2AB89-0336-4C85-9A71-BE5E48476D36}" type="presParOf" srcId="{74AF7E3F-5A7B-4E94-9457-D681478E2148}" destId="{EA3C7506-33E6-40BF-A691-ADAD171A466D}" srcOrd="0" destOrd="0" presId="urn:microsoft.com/office/officeart/2008/layout/HalfCircleOrganizationChart"/>
    <dgm:cxn modelId="{1B19B117-0812-479A-BC18-928705494B0B}" type="presParOf" srcId="{EA3C7506-33E6-40BF-A691-ADAD171A466D}" destId="{368383AD-C602-496B-B12A-31C3A28F71F3}" srcOrd="0" destOrd="0" presId="urn:microsoft.com/office/officeart/2008/layout/HalfCircleOrganizationChart"/>
    <dgm:cxn modelId="{22E9DA93-179D-44CB-88C6-562ADD5A8237}" type="presParOf" srcId="{EA3C7506-33E6-40BF-A691-ADAD171A466D}" destId="{4BECD7E1-BE14-4C28-B1A8-2A30663E72BF}" srcOrd="1" destOrd="0" presId="urn:microsoft.com/office/officeart/2008/layout/HalfCircleOrganizationChart"/>
    <dgm:cxn modelId="{F2B0B02D-4FEC-42E6-BB0C-7B476396FB94}" type="presParOf" srcId="{EA3C7506-33E6-40BF-A691-ADAD171A466D}" destId="{EBF82299-321B-460A-8498-571CEC5E8AC6}" srcOrd="2" destOrd="0" presId="urn:microsoft.com/office/officeart/2008/layout/HalfCircleOrganizationChart"/>
    <dgm:cxn modelId="{7E3827C2-65F5-418B-B61C-0A74877C6E01}" type="presParOf" srcId="{EA3C7506-33E6-40BF-A691-ADAD171A466D}" destId="{1880277A-4296-4106-8920-DD5409273AD9}" srcOrd="3" destOrd="0" presId="urn:microsoft.com/office/officeart/2008/layout/HalfCircleOrganizationChart"/>
    <dgm:cxn modelId="{79C6A389-EE23-4636-8D0A-5FE61AE70D4E}" type="presParOf" srcId="{74AF7E3F-5A7B-4E94-9457-D681478E2148}" destId="{8ADFF9E1-A6DF-4CC4-B771-B9CDF045E1F2}" srcOrd="1" destOrd="0" presId="urn:microsoft.com/office/officeart/2008/layout/HalfCircleOrganizationChart"/>
    <dgm:cxn modelId="{29A0BEB7-323D-45CF-A24A-604501F9C3F5}" type="presParOf" srcId="{74AF7E3F-5A7B-4E94-9457-D681478E2148}" destId="{8F20F0DB-5204-4B00-9D5C-A3993F531DF5}" srcOrd="2" destOrd="0" presId="urn:microsoft.com/office/officeart/2008/layout/HalfCircleOrganizationChart"/>
    <dgm:cxn modelId="{56A5E4CF-A938-4C46-B646-FB38F24D76C4}" type="presParOf" srcId="{BAD0439E-6B42-4826-8F58-BF72B7288428}" destId="{723CF79B-E7D3-4C88-A3A5-F80D065B9DA8}" srcOrd="2" destOrd="0" presId="urn:microsoft.com/office/officeart/2008/layout/HalfCircle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D0E55B-AF03-43B7-945B-0408140F1219}">
      <dsp:nvSpPr>
        <dsp:cNvPr id="0" name=""/>
        <dsp:cNvSpPr/>
      </dsp:nvSpPr>
      <dsp:spPr>
        <a:xfrm>
          <a:off x="0" y="251616"/>
          <a:ext cx="7272793" cy="32760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kern="1200" dirty="0"/>
            <a:t>Давление покупателей</a:t>
          </a:r>
        </a:p>
      </dsp:txBody>
      <dsp:txXfrm>
        <a:off x="15992" y="267608"/>
        <a:ext cx="7240809" cy="295616"/>
      </dsp:txXfrm>
    </dsp:sp>
    <dsp:sp modelId="{7492B085-DE22-4CD5-BD00-8D446874BC78}">
      <dsp:nvSpPr>
        <dsp:cNvPr id="0" name=""/>
        <dsp:cNvSpPr/>
      </dsp:nvSpPr>
      <dsp:spPr>
        <a:xfrm>
          <a:off x="0" y="579216"/>
          <a:ext cx="7272793" cy="478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0911" tIns="17780" rIns="99568" bIns="17780" numCol="1" spcCol="1270" anchor="t" anchorCtr="0">
          <a:noAutofit/>
        </a:bodyPr>
        <a:lstStyle/>
        <a:p>
          <a:pPr marL="57150" lvl="1" indent="-57150" algn="l" defTabSz="488950">
            <a:lnSpc>
              <a:spcPct val="90000"/>
            </a:lnSpc>
            <a:spcBef>
              <a:spcPct val="0"/>
            </a:spcBef>
            <a:spcAft>
              <a:spcPct val="20000"/>
            </a:spcAft>
            <a:buChar char="•"/>
          </a:pPr>
          <a:r>
            <a:rPr lang="ru-RU" sz="1100" kern="1200" dirty="0"/>
            <a:t>Если у конкурентов есть аналогичный товар с приблизительно такой же ценой, то покупатели легко переключаются между товарами разных производителей. То есть происходит постоянный передел рынка. Отсюда нестабильная прибыль и сложность прогнозирования будущих доходов компании.</a:t>
          </a:r>
        </a:p>
      </dsp:txBody>
      <dsp:txXfrm>
        <a:off x="0" y="579216"/>
        <a:ext cx="7272793" cy="478170"/>
      </dsp:txXfrm>
    </dsp:sp>
    <dsp:sp modelId="{A6B584B3-AB14-4EBA-9F5E-6FE7C97FC1D8}">
      <dsp:nvSpPr>
        <dsp:cNvPr id="0" name=""/>
        <dsp:cNvSpPr/>
      </dsp:nvSpPr>
      <dsp:spPr>
        <a:xfrm>
          <a:off x="0" y="1057386"/>
          <a:ext cx="7272793" cy="327600"/>
        </a:xfrm>
        <a:prstGeom prst="roundRect">
          <a:avLst/>
        </a:prstGeom>
        <a:solidFill>
          <a:schemeClr val="accent3">
            <a:hueOff val="2812566"/>
            <a:satOff val="-4220"/>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kern="1200" dirty="0"/>
            <a:t>Давление поставщиков</a:t>
          </a:r>
        </a:p>
      </dsp:txBody>
      <dsp:txXfrm>
        <a:off x="15992" y="1073378"/>
        <a:ext cx="7240809" cy="295616"/>
      </dsp:txXfrm>
    </dsp:sp>
    <dsp:sp modelId="{CED48FA3-CCE8-439C-A3AE-EE651EB482B1}">
      <dsp:nvSpPr>
        <dsp:cNvPr id="0" name=""/>
        <dsp:cNvSpPr/>
      </dsp:nvSpPr>
      <dsp:spPr>
        <a:xfrm>
          <a:off x="0" y="1384986"/>
          <a:ext cx="7272793" cy="623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0911" tIns="17780" rIns="99568" bIns="17780" numCol="1" spcCol="1270" anchor="t" anchorCtr="0">
          <a:noAutofit/>
        </a:bodyPr>
        <a:lstStyle/>
        <a:p>
          <a:pPr marL="57150" lvl="1" indent="-57150" algn="l" defTabSz="488950">
            <a:lnSpc>
              <a:spcPct val="90000"/>
            </a:lnSpc>
            <a:spcBef>
              <a:spcPct val="0"/>
            </a:spcBef>
            <a:spcAft>
              <a:spcPct val="20000"/>
            </a:spcAft>
            <a:buChar char="•"/>
          </a:pPr>
          <a:r>
            <a:rPr lang="ru-RU" sz="1100" kern="1200" dirty="0"/>
            <a:t>От поставщиков зависит себестоимость товаров, количество выпускаемой продукции, ассортимент — все это напрямую влияет на прибыль. Например, поставщик может поднять цены, отгрузить сырьё ненадлежащего качества, сорвать сроки, отказаться от сотрудничества. Любая их этих ситуаций отрицательно скажется на прибыли компании.</a:t>
          </a:r>
        </a:p>
      </dsp:txBody>
      <dsp:txXfrm>
        <a:off x="0" y="1384986"/>
        <a:ext cx="7272793" cy="623070"/>
      </dsp:txXfrm>
    </dsp:sp>
    <dsp:sp modelId="{1268F5D2-DD0F-49BF-BFF3-9F1D23D12B89}">
      <dsp:nvSpPr>
        <dsp:cNvPr id="0" name=""/>
        <dsp:cNvSpPr/>
      </dsp:nvSpPr>
      <dsp:spPr>
        <a:xfrm>
          <a:off x="0" y="2008056"/>
          <a:ext cx="7272793" cy="327600"/>
        </a:xfrm>
        <a:prstGeom prst="roundRect">
          <a:avLst/>
        </a:prstGeom>
        <a:solidFill>
          <a:schemeClr val="accent3">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kern="1200" dirty="0"/>
            <a:t>Давление действующих конкурентов</a:t>
          </a:r>
        </a:p>
      </dsp:txBody>
      <dsp:txXfrm>
        <a:off x="15992" y="2024048"/>
        <a:ext cx="7240809" cy="295616"/>
      </dsp:txXfrm>
    </dsp:sp>
    <dsp:sp modelId="{B3505890-DB09-42B5-AD3E-F51FD0294D10}">
      <dsp:nvSpPr>
        <dsp:cNvPr id="0" name=""/>
        <dsp:cNvSpPr/>
      </dsp:nvSpPr>
      <dsp:spPr>
        <a:xfrm>
          <a:off x="0" y="2335656"/>
          <a:ext cx="7272793" cy="623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0911" tIns="17780" rIns="99568" bIns="17780" numCol="1" spcCol="1270" anchor="t" anchorCtr="0">
          <a:noAutofit/>
        </a:bodyPr>
        <a:lstStyle/>
        <a:p>
          <a:pPr marL="57150" lvl="1" indent="-57150" algn="l" defTabSz="488950">
            <a:lnSpc>
              <a:spcPct val="90000"/>
            </a:lnSpc>
            <a:spcBef>
              <a:spcPct val="0"/>
            </a:spcBef>
            <a:spcAft>
              <a:spcPct val="20000"/>
            </a:spcAft>
            <a:buChar char="•"/>
          </a:pPr>
          <a:r>
            <a:rPr lang="ru-RU" sz="1100" kern="1200" dirty="0"/>
            <a:t>Внутриотраслевая конкуренция приводит к уменьшению прибыли, потому что постоянно приходится увеличивать затраты на продвижение продукта, улучшать его качество, снижать цены или не поднимать их, даже если выросла себестоимость, расширять ассортимент, вкладываться в исследования рынка и испытания новых образцов продукции.</a:t>
          </a:r>
        </a:p>
      </dsp:txBody>
      <dsp:txXfrm>
        <a:off x="0" y="2335656"/>
        <a:ext cx="7272793" cy="623070"/>
      </dsp:txXfrm>
    </dsp:sp>
    <dsp:sp modelId="{64FD0A8E-75D0-430F-8CCF-790F4FD22CB9}">
      <dsp:nvSpPr>
        <dsp:cNvPr id="0" name=""/>
        <dsp:cNvSpPr/>
      </dsp:nvSpPr>
      <dsp:spPr>
        <a:xfrm>
          <a:off x="0" y="2958726"/>
          <a:ext cx="7272793" cy="327600"/>
        </a:xfrm>
        <a:prstGeom prst="roundRect">
          <a:avLst/>
        </a:prstGeom>
        <a:solidFill>
          <a:schemeClr val="accent3">
            <a:hueOff val="8437698"/>
            <a:satOff val="-12660"/>
            <a:lumOff val="-20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kern="1200" dirty="0"/>
            <a:t>Угроза появления новых конкурентов</a:t>
          </a:r>
        </a:p>
      </dsp:txBody>
      <dsp:txXfrm>
        <a:off x="15992" y="2974718"/>
        <a:ext cx="7240809" cy="295616"/>
      </dsp:txXfrm>
    </dsp:sp>
    <dsp:sp modelId="{2D9C58DF-926A-4C42-BE89-4D9A9DD0D322}">
      <dsp:nvSpPr>
        <dsp:cNvPr id="0" name=""/>
        <dsp:cNvSpPr/>
      </dsp:nvSpPr>
      <dsp:spPr>
        <a:xfrm>
          <a:off x="0" y="3286326"/>
          <a:ext cx="7272793" cy="623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0911" tIns="17780" rIns="99568" bIns="17780" numCol="1" spcCol="1270" anchor="t" anchorCtr="0">
          <a:noAutofit/>
        </a:bodyPr>
        <a:lstStyle/>
        <a:p>
          <a:pPr marL="57150" lvl="1" indent="-57150" algn="l" defTabSz="488950">
            <a:lnSpc>
              <a:spcPct val="90000"/>
            </a:lnSpc>
            <a:spcBef>
              <a:spcPct val="0"/>
            </a:spcBef>
            <a:spcAft>
              <a:spcPct val="20000"/>
            </a:spcAft>
            <a:buChar char="•"/>
          </a:pPr>
          <a:r>
            <a:rPr lang="ru-RU" sz="1100" kern="1200" dirty="0"/>
            <a:t>Как правило, новые производители приходят на рынок с новыми технологиями: их производство более экономично, технологично, экологично, а товары лучше отвечают запросам </a:t>
          </a:r>
          <a:r>
            <a:rPr lang="ru-RU" sz="1100" kern="1200" dirty="0" err="1"/>
            <a:t>покупателей.Чтобы</a:t>
          </a:r>
          <a:r>
            <a:rPr lang="ru-RU" sz="1100" kern="1200" dirty="0"/>
            <a:t> оставаться конкурентоспособными, компаниям приходится дополнительно вкладываться в производство и маркетинг продукта. Затраты растут — прибыль падает.</a:t>
          </a:r>
        </a:p>
      </dsp:txBody>
      <dsp:txXfrm>
        <a:off x="0" y="3286326"/>
        <a:ext cx="7272793" cy="623070"/>
      </dsp:txXfrm>
    </dsp:sp>
    <dsp:sp modelId="{14AE1242-91B9-481E-A9D3-F94F789549F2}">
      <dsp:nvSpPr>
        <dsp:cNvPr id="0" name=""/>
        <dsp:cNvSpPr/>
      </dsp:nvSpPr>
      <dsp:spPr>
        <a:xfrm>
          <a:off x="0" y="3909396"/>
          <a:ext cx="7272793" cy="327600"/>
        </a:xfrm>
        <a:prstGeom prst="roundRect">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kern="1200" dirty="0"/>
            <a:t>Давление товаров-заменителей</a:t>
          </a:r>
        </a:p>
      </dsp:txBody>
      <dsp:txXfrm>
        <a:off x="15992" y="3925388"/>
        <a:ext cx="7240809" cy="295616"/>
      </dsp:txXfrm>
    </dsp:sp>
    <dsp:sp modelId="{36F8FA0D-E033-4870-AD09-C1E6BC2D5751}">
      <dsp:nvSpPr>
        <dsp:cNvPr id="0" name=""/>
        <dsp:cNvSpPr/>
      </dsp:nvSpPr>
      <dsp:spPr>
        <a:xfrm>
          <a:off x="0" y="4236996"/>
          <a:ext cx="7272793" cy="767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0911" tIns="17780" rIns="99568" bIns="17780" numCol="1" spcCol="1270" anchor="t" anchorCtr="0">
          <a:noAutofit/>
        </a:bodyPr>
        <a:lstStyle/>
        <a:p>
          <a:pPr marL="57150" lvl="1" indent="-57150" algn="l" defTabSz="488950">
            <a:lnSpc>
              <a:spcPct val="90000"/>
            </a:lnSpc>
            <a:spcBef>
              <a:spcPct val="0"/>
            </a:spcBef>
            <a:spcAft>
              <a:spcPct val="20000"/>
            </a:spcAft>
            <a:buChar char="•"/>
          </a:pPr>
          <a:r>
            <a:rPr lang="ru-RU" sz="1100" kern="1200" dirty="0"/>
            <a:t>Практически любой товар или услугу можно чем-нибудь заменить. И это не всегда продукты прямых конкурентов, а просто то, что решает ту же проблему потребителя. Если растут продажи одного товара-субститута, то у другого они закономерно падают. Поэтому производителю приходится повышать качество, развивать бренд, вкладываться в маркетинг, рекламу, дополнительно отстраиваться от прямых и косвенных конкурентов, доказывая ценность продукта.</a:t>
          </a:r>
        </a:p>
      </dsp:txBody>
      <dsp:txXfrm>
        <a:off x="0" y="4236996"/>
        <a:ext cx="7272793" cy="7679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1843F8-A45F-45C3-BC1A-618D9F9D110A}">
      <dsp:nvSpPr>
        <dsp:cNvPr id="0" name=""/>
        <dsp:cNvSpPr/>
      </dsp:nvSpPr>
      <dsp:spPr>
        <a:xfrm>
          <a:off x="0" y="231668"/>
          <a:ext cx="6840760" cy="32760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kern="1200" dirty="0"/>
            <a:t>Ценовое лидерство</a:t>
          </a:r>
        </a:p>
      </dsp:txBody>
      <dsp:txXfrm>
        <a:off x="15992" y="247660"/>
        <a:ext cx="6808776" cy="295616"/>
      </dsp:txXfrm>
    </dsp:sp>
    <dsp:sp modelId="{EDEAC148-BECA-4393-8F8C-672F9821CEDF}">
      <dsp:nvSpPr>
        <dsp:cNvPr id="0" name=""/>
        <dsp:cNvSpPr/>
      </dsp:nvSpPr>
      <dsp:spPr>
        <a:xfrm>
          <a:off x="0" y="559268"/>
          <a:ext cx="6840760" cy="478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7194" tIns="17780" rIns="99568" bIns="17780" numCol="1" spcCol="1270" anchor="t" anchorCtr="0">
          <a:noAutofit/>
        </a:bodyPr>
        <a:lstStyle/>
        <a:p>
          <a:pPr marL="57150" lvl="1" indent="-57150" algn="l" defTabSz="488950">
            <a:lnSpc>
              <a:spcPct val="90000"/>
            </a:lnSpc>
            <a:spcBef>
              <a:spcPct val="0"/>
            </a:spcBef>
            <a:spcAft>
              <a:spcPct val="20000"/>
            </a:spcAft>
            <a:buChar char="•"/>
          </a:pPr>
          <a:r>
            <a:rPr lang="ru-RU" sz="1100" kern="1200" dirty="0"/>
            <a:t>стратегия, основанная на достижении низких издержек производства и предложении товаров или услуг по самым низким ценам на рынке. Это позволяет организации привлекать ценовых потребителей и конкурировать за долю рынка на основе ценовых преимуществ.</a:t>
          </a:r>
        </a:p>
      </dsp:txBody>
      <dsp:txXfrm>
        <a:off x="0" y="559268"/>
        <a:ext cx="6840760" cy="478170"/>
      </dsp:txXfrm>
    </dsp:sp>
    <dsp:sp modelId="{41788A0A-FF7F-47EC-B65A-9BC450A90081}">
      <dsp:nvSpPr>
        <dsp:cNvPr id="0" name=""/>
        <dsp:cNvSpPr/>
      </dsp:nvSpPr>
      <dsp:spPr>
        <a:xfrm>
          <a:off x="0" y="1037438"/>
          <a:ext cx="6840760" cy="32760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kern="1200" dirty="0"/>
            <a:t>Дифференциация</a:t>
          </a:r>
        </a:p>
      </dsp:txBody>
      <dsp:txXfrm>
        <a:off x="15992" y="1053430"/>
        <a:ext cx="6808776" cy="295616"/>
      </dsp:txXfrm>
    </dsp:sp>
    <dsp:sp modelId="{18212F60-8F5F-4E85-AC20-690138A45D9F}">
      <dsp:nvSpPr>
        <dsp:cNvPr id="0" name=""/>
        <dsp:cNvSpPr/>
      </dsp:nvSpPr>
      <dsp:spPr>
        <a:xfrm>
          <a:off x="0" y="1365038"/>
          <a:ext cx="6840760" cy="623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7194" tIns="17780" rIns="99568" bIns="17780" numCol="1" spcCol="1270" anchor="t" anchorCtr="0">
          <a:noAutofit/>
        </a:bodyPr>
        <a:lstStyle/>
        <a:p>
          <a:pPr marL="57150" lvl="1" indent="-57150" algn="l" defTabSz="488950">
            <a:lnSpc>
              <a:spcPct val="90000"/>
            </a:lnSpc>
            <a:spcBef>
              <a:spcPct val="0"/>
            </a:spcBef>
            <a:spcAft>
              <a:spcPct val="20000"/>
            </a:spcAft>
            <a:buChar char="•"/>
          </a:pPr>
          <a:r>
            <a:rPr lang="ru-RU" sz="1100" kern="1200" dirty="0"/>
            <a:t>стратегия, направленная на создание уникального товара или услуги, который обладает уникальными характеристиками или особенностями, отличающими его от товаров или услуг конкурентов. Дифференциация позволяет организации создавать ценность для потребителей и получать премиум-цены.</a:t>
          </a:r>
        </a:p>
      </dsp:txBody>
      <dsp:txXfrm>
        <a:off x="0" y="1365038"/>
        <a:ext cx="6840760" cy="623070"/>
      </dsp:txXfrm>
    </dsp:sp>
    <dsp:sp modelId="{28B11C0D-8D63-4584-9602-43C8A8CDDC22}">
      <dsp:nvSpPr>
        <dsp:cNvPr id="0" name=""/>
        <dsp:cNvSpPr/>
      </dsp:nvSpPr>
      <dsp:spPr>
        <a:xfrm>
          <a:off x="0" y="1988108"/>
          <a:ext cx="6840760" cy="32760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kern="1200" dirty="0"/>
            <a:t>Фокусирование на сегменте рынка</a:t>
          </a:r>
        </a:p>
      </dsp:txBody>
      <dsp:txXfrm>
        <a:off x="15992" y="2004100"/>
        <a:ext cx="6808776" cy="295616"/>
      </dsp:txXfrm>
    </dsp:sp>
    <dsp:sp modelId="{CDFAEE19-E9D0-47B1-A5C7-CCCCF62D4710}">
      <dsp:nvSpPr>
        <dsp:cNvPr id="0" name=""/>
        <dsp:cNvSpPr/>
      </dsp:nvSpPr>
      <dsp:spPr>
        <a:xfrm>
          <a:off x="0" y="2315708"/>
          <a:ext cx="6840760" cy="623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7194" tIns="17780" rIns="99568" bIns="17780" numCol="1" spcCol="1270" anchor="t" anchorCtr="0">
          <a:noAutofit/>
        </a:bodyPr>
        <a:lstStyle/>
        <a:p>
          <a:pPr marL="57150" lvl="1" indent="-57150" algn="l" defTabSz="488950">
            <a:lnSpc>
              <a:spcPct val="90000"/>
            </a:lnSpc>
            <a:spcBef>
              <a:spcPct val="0"/>
            </a:spcBef>
            <a:spcAft>
              <a:spcPct val="20000"/>
            </a:spcAft>
            <a:buChar char="•"/>
          </a:pPr>
          <a:r>
            <a:rPr lang="ru-RU" sz="1100" kern="1200" dirty="0"/>
            <a:t>стратегия, сосредоточенная на обслуживании узкой целевой аудитории, такой как определенный сегмент потребителей или географический регион. Организация старается удовлетворить уникальные потребности этой целевой группы, предлагая им товары или услуги, которые точно соответствуют их требованиям.</a:t>
          </a:r>
        </a:p>
      </dsp:txBody>
      <dsp:txXfrm>
        <a:off x="0" y="2315708"/>
        <a:ext cx="6840760" cy="623070"/>
      </dsp:txXfrm>
    </dsp:sp>
    <dsp:sp modelId="{EAD5F48D-087B-4B4A-BCD8-F9BC676CA368}">
      <dsp:nvSpPr>
        <dsp:cNvPr id="0" name=""/>
        <dsp:cNvSpPr/>
      </dsp:nvSpPr>
      <dsp:spPr>
        <a:xfrm>
          <a:off x="0" y="2938778"/>
          <a:ext cx="6840760" cy="32760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kern="1200" dirty="0"/>
            <a:t>Стратегия структурной изменчивости</a:t>
          </a:r>
        </a:p>
      </dsp:txBody>
      <dsp:txXfrm>
        <a:off x="15992" y="2954770"/>
        <a:ext cx="6808776" cy="295616"/>
      </dsp:txXfrm>
    </dsp:sp>
    <dsp:sp modelId="{92B5E982-A1D2-4263-9EE0-947A4C56CE93}">
      <dsp:nvSpPr>
        <dsp:cNvPr id="0" name=""/>
        <dsp:cNvSpPr/>
      </dsp:nvSpPr>
      <dsp:spPr>
        <a:xfrm>
          <a:off x="0" y="3266378"/>
          <a:ext cx="6840760" cy="478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7194" tIns="17780" rIns="99568" bIns="17780" numCol="1" spcCol="1270" anchor="t" anchorCtr="0">
          <a:noAutofit/>
        </a:bodyPr>
        <a:lstStyle/>
        <a:p>
          <a:pPr marL="57150" lvl="1" indent="-57150" algn="l" defTabSz="488950">
            <a:lnSpc>
              <a:spcPct val="90000"/>
            </a:lnSpc>
            <a:spcBef>
              <a:spcPct val="0"/>
            </a:spcBef>
            <a:spcAft>
              <a:spcPct val="20000"/>
            </a:spcAft>
            <a:buChar char="•"/>
          </a:pPr>
          <a:r>
            <a:rPr lang="ru-RU" sz="1100" kern="1200" dirty="0"/>
            <a:t>стратегия, связанная с изменением основной структуры данной отрасли в целях ее реконфигурации или переориентации. Эта стратегия может включать в себя изменение отраслевых границ, вступление в новые сегменты или выход из старых.</a:t>
          </a:r>
        </a:p>
      </dsp:txBody>
      <dsp:txXfrm>
        <a:off x="0" y="3266378"/>
        <a:ext cx="6840760" cy="4781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7938F2-3EE6-4E27-9793-8D97B6587A9B}">
      <dsp:nvSpPr>
        <dsp:cNvPr id="0" name=""/>
        <dsp:cNvSpPr/>
      </dsp:nvSpPr>
      <dsp:spPr>
        <a:xfrm>
          <a:off x="1620180" y="618122"/>
          <a:ext cx="747840" cy="259580"/>
        </a:xfrm>
        <a:custGeom>
          <a:avLst/>
          <a:gdLst/>
          <a:ahLst/>
          <a:cxnLst/>
          <a:rect l="0" t="0" r="0" b="0"/>
          <a:pathLst>
            <a:path>
              <a:moveTo>
                <a:pt x="0" y="0"/>
              </a:moveTo>
              <a:lnTo>
                <a:pt x="0" y="129790"/>
              </a:lnTo>
              <a:lnTo>
                <a:pt x="747840" y="129790"/>
              </a:lnTo>
              <a:lnTo>
                <a:pt x="747840" y="25958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A2EA59-CC19-42AA-917A-8DF7268FAA24}">
      <dsp:nvSpPr>
        <dsp:cNvPr id="0" name=""/>
        <dsp:cNvSpPr/>
      </dsp:nvSpPr>
      <dsp:spPr>
        <a:xfrm>
          <a:off x="872339" y="618122"/>
          <a:ext cx="747840" cy="259580"/>
        </a:xfrm>
        <a:custGeom>
          <a:avLst/>
          <a:gdLst/>
          <a:ahLst/>
          <a:cxnLst/>
          <a:rect l="0" t="0" r="0" b="0"/>
          <a:pathLst>
            <a:path>
              <a:moveTo>
                <a:pt x="747840" y="0"/>
              </a:moveTo>
              <a:lnTo>
                <a:pt x="747840" y="129790"/>
              </a:lnTo>
              <a:lnTo>
                <a:pt x="0" y="129790"/>
              </a:lnTo>
              <a:lnTo>
                <a:pt x="0" y="25958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9EF9FC8-6CE5-4C1E-AD29-8EEECC603DEC}">
      <dsp:nvSpPr>
        <dsp:cNvPr id="0" name=""/>
        <dsp:cNvSpPr/>
      </dsp:nvSpPr>
      <dsp:spPr>
        <a:xfrm>
          <a:off x="1311155" y="72"/>
          <a:ext cx="618049" cy="618049"/>
        </a:xfrm>
        <a:prstGeom prst="arc">
          <a:avLst>
            <a:gd name="adj1" fmla="val 13200000"/>
            <a:gd name="adj2" fmla="val 19200000"/>
          </a:avLst>
        </a:pr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8F206AC-A060-41BF-ABFF-A78E3194FCF9}">
      <dsp:nvSpPr>
        <dsp:cNvPr id="0" name=""/>
        <dsp:cNvSpPr/>
      </dsp:nvSpPr>
      <dsp:spPr>
        <a:xfrm>
          <a:off x="1311155" y="72"/>
          <a:ext cx="618049" cy="618049"/>
        </a:xfrm>
        <a:prstGeom prst="arc">
          <a:avLst>
            <a:gd name="adj1" fmla="val 2400000"/>
            <a:gd name="adj2" fmla="val 8400000"/>
          </a:avLst>
        </a:pr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450E198-49C6-49DF-9639-E11E0F9F3A14}">
      <dsp:nvSpPr>
        <dsp:cNvPr id="0" name=""/>
        <dsp:cNvSpPr/>
      </dsp:nvSpPr>
      <dsp:spPr>
        <a:xfrm>
          <a:off x="1002130" y="111321"/>
          <a:ext cx="1236099" cy="395551"/>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ru-RU" sz="800" kern="1200" dirty="0"/>
            <a:t>Стратегия фокусирования </a:t>
          </a:r>
        </a:p>
      </dsp:txBody>
      <dsp:txXfrm>
        <a:off x="1002130" y="111321"/>
        <a:ext cx="1236099" cy="395551"/>
      </dsp:txXfrm>
    </dsp:sp>
    <dsp:sp modelId="{E6DD9B25-29E1-40F4-AF09-0D9A6D879E47}">
      <dsp:nvSpPr>
        <dsp:cNvPr id="0" name=""/>
        <dsp:cNvSpPr/>
      </dsp:nvSpPr>
      <dsp:spPr>
        <a:xfrm>
          <a:off x="563315" y="877702"/>
          <a:ext cx="618049" cy="618049"/>
        </a:xfrm>
        <a:prstGeom prst="arc">
          <a:avLst>
            <a:gd name="adj1" fmla="val 13200000"/>
            <a:gd name="adj2" fmla="val 19200000"/>
          </a:avLst>
        </a:pr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37F89BB-2E2B-4F58-8354-CC29492CE0B3}">
      <dsp:nvSpPr>
        <dsp:cNvPr id="0" name=""/>
        <dsp:cNvSpPr/>
      </dsp:nvSpPr>
      <dsp:spPr>
        <a:xfrm>
          <a:off x="563315" y="877702"/>
          <a:ext cx="618049" cy="618049"/>
        </a:xfrm>
        <a:prstGeom prst="arc">
          <a:avLst>
            <a:gd name="adj1" fmla="val 2400000"/>
            <a:gd name="adj2" fmla="val 8400000"/>
          </a:avLst>
        </a:pr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D9FE35D-28B2-4D0D-B916-3B21F218EBB2}">
      <dsp:nvSpPr>
        <dsp:cNvPr id="0" name=""/>
        <dsp:cNvSpPr/>
      </dsp:nvSpPr>
      <dsp:spPr>
        <a:xfrm>
          <a:off x="254290" y="988951"/>
          <a:ext cx="1236099" cy="395551"/>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ru-RU" sz="800" kern="1200" dirty="0"/>
            <a:t>Фокусирование на </a:t>
          </a:r>
          <a:r>
            <a:rPr lang="ru-RU" sz="800" kern="1200" dirty="0" err="1"/>
            <a:t>затратоэффективности</a:t>
          </a:r>
          <a:endParaRPr lang="ru-RU" sz="800" kern="1200" dirty="0"/>
        </a:p>
      </dsp:txBody>
      <dsp:txXfrm>
        <a:off x="254290" y="988951"/>
        <a:ext cx="1236099" cy="395551"/>
      </dsp:txXfrm>
    </dsp:sp>
    <dsp:sp modelId="{4BECD7E1-BE14-4C28-B1A8-2A30663E72BF}">
      <dsp:nvSpPr>
        <dsp:cNvPr id="0" name=""/>
        <dsp:cNvSpPr/>
      </dsp:nvSpPr>
      <dsp:spPr>
        <a:xfrm>
          <a:off x="2058995" y="877702"/>
          <a:ext cx="618049" cy="618049"/>
        </a:xfrm>
        <a:prstGeom prst="arc">
          <a:avLst>
            <a:gd name="adj1" fmla="val 13200000"/>
            <a:gd name="adj2" fmla="val 19200000"/>
          </a:avLst>
        </a:pr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BF82299-321B-460A-8498-571CEC5E8AC6}">
      <dsp:nvSpPr>
        <dsp:cNvPr id="0" name=""/>
        <dsp:cNvSpPr/>
      </dsp:nvSpPr>
      <dsp:spPr>
        <a:xfrm>
          <a:off x="2058995" y="877702"/>
          <a:ext cx="618049" cy="618049"/>
        </a:xfrm>
        <a:prstGeom prst="arc">
          <a:avLst>
            <a:gd name="adj1" fmla="val 2400000"/>
            <a:gd name="adj2" fmla="val 8400000"/>
          </a:avLst>
        </a:pr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8383AD-C602-496B-B12A-31C3A28F71F3}">
      <dsp:nvSpPr>
        <dsp:cNvPr id="0" name=""/>
        <dsp:cNvSpPr/>
      </dsp:nvSpPr>
      <dsp:spPr>
        <a:xfrm>
          <a:off x="1749970" y="988951"/>
          <a:ext cx="1236099" cy="395551"/>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ru-RU" sz="800" kern="1200" dirty="0"/>
            <a:t>фокусирование на дифференциации</a:t>
          </a:r>
        </a:p>
      </dsp:txBody>
      <dsp:txXfrm>
        <a:off x="1749970" y="988951"/>
        <a:ext cx="1236099" cy="39555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ru-RU" dirty="0"/>
          </a:p>
        </p:txBody>
      </p:sp>
      <p:sp>
        <p:nvSpPr>
          <p:cNvPr id="3" name="Дата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03A73E7F-7578-4DD4-82FD-40C24D6EA17C}" type="datetimeFigureOut">
              <a:rPr lang="ru-RU" smtClean="0"/>
              <a:t>06.11.2025</a:t>
            </a:fld>
            <a:endParaRPr lang="ru-RU" dirty="0"/>
          </a:p>
        </p:txBody>
      </p:sp>
      <p:sp>
        <p:nvSpPr>
          <p:cNvPr id="4" name="Образ слайда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ru-RU" dirty="0"/>
          </a:p>
        </p:txBody>
      </p:sp>
      <p:sp>
        <p:nvSpPr>
          <p:cNvPr id="5" name="Заметки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ru-RU" dirty="0"/>
          </a:p>
        </p:txBody>
      </p:sp>
      <p:sp>
        <p:nvSpPr>
          <p:cNvPr id="7" name="Номер слайда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A8BC04A8-8E84-4CDF-9B92-36B2179632B4}" type="slidenum">
              <a:rPr lang="ru-RU" smtClean="0"/>
              <a:t>‹#›</a:t>
            </a:fld>
            <a:endParaRPr lang="ru-RU" dirty="0"/>
          </a:p>
        </p:txBody>
      </p:sp>
    </p:spTree>
    <p:extLst>
      <p:ext uri="{BB962C8B-B14F-4D97-AF65-F5344CB8AC3E}">
        <p14:creationId xmlns:p14="http://schemas.microsoft.com/office/powerpoint/2010/main" val="2039565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A8BC04A8-8E84-4CDF-9B92-36B2179632B4}" type="slidenum">
              <a:rPr lang="ru-RU" smtClean="0"/>
              <a:t>2</a:t>
            </a:fld>
            <a:endParaRPr lang="ru-RU" dirty="0"/>
          </a:p>
        </p:txBody>
      </p:sp>
    </p:spTree>
    <p:extLst>
      <p:ext uri="{BB962C8B-B14F-4D97-AF65-F5344CB8AC3E}">
        <p14:creationId xmlns:p14="http://schemas.microsoft.com/office/powerpoint/2010/main" val="348930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592F0D80-164F-4ECE-A815-4FDD83F9BCA5}" type="datetime1">
              <a:rPr lang="ru-RU" smtClean="0"/>
              <a:t>06.11.2025</a:t>
            </a:fld>
            <a:endParaRPr lang="ru-RU" dirty="0"/>
          </a:p>
        </p:txBody>
      </p:sp>
      <p:sp>
        <p:nvSpPr>
          <p:cNvPr id="5" name="Нижний колонтитул 4"/>
          <p:cNvSpPr>
            <a:spLocks noGrp="1"/>
          </p:cNvSpPr>
          <p:nvPr>
            <p:ph type="ftr" sz="quarter" idx="11"/>
          </p:nvPr>
        </p:nvSpPr>
        <p:spPr/>
        <p:txBody>
          <a:bodyPr/>
          <a:lstStyle/>
          <a:p>
            <a:r>
              <a:rPr lang="ru-RU" dirty="0"/>
              <a:t>Образование и наука - будущее России</a:t>
            </a:r>
          </a:p>
        </p:txBody>
      </p:sp>
      <p:sp>
        <p:nvSpPr>
          <p:cNvPr id="6" name="Номер слайда 5"/>
          <p:cNvSpPr>
            <a:spLocks noGrp="1"/>
          </p:cNvSpPr>
          <p:nvPr>
            <p:ph type="sldNum" sz="quarter" idx="12"/>
          </p:nvPr>
        </p:nvSpPr>
        <p:spPr/>
        <p:txBody>
          <a:bodyPr/>
          <a:lstStyle/>
          <a:p>
            <a:fld id="{9DD0990C-240E-4F6D-96E9-50DBAF192F56}" type="slidenum">
              <a:rPr lang="ru-RU" smtClean="0"/>
              <a:t>‹#›</a:t>
            </a:fld>
            <a:endParaRPr lang="ru-RU" dirty="0"/>
          </a:p>
        </p:txBody>
      </p:sp>
    </p:spTree>
    <p:extLst>
      <p:ext uri="{BB962C8B-B14F-4D97-AF65-F5344CB8AC3E}">
        <p14:creationId xmlns:p14="http://schemas.microsoft.com/office/powerpoint/2010/main" val="3085210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C5B88CD6-BB20-4C52-B81D-B7785C33963A}" type="datetime1">
              <a:rPr lang="ru-RU" smtClean="0"/>
              <a:t>06.11.2025</a:t>
            </a:fld>
            <a:endParaRPr lang="ru-RU" dirty="0"/>
          </a:p>
        </p:txBody>
      </p:sp>
      <p:sp>
        <p:nvSpPr>
          <p:cNvPr id="5" name="Нижний колонтитул 4"/>
          <p:cNvSpPr>
            <a:spLocks noGrp="1"/>
          </p:cNvSpPr>
          <p:nvPr>
            <p:ph type="ftr" sz="quarter" idx="11"/>
          </p:nvPr>
        </p:nvSpPr>
        <p:spPr/>
        <p:txBody>
          <a:bodyPr/>
          <a:lstStyle/>
          <a:p>
            <a:r>
              <a:rPr lang="ru-RU" dirty="0"/>
              <a:t>Образование и наука - будущее России</a:t>
            </a:r>
          </a:p>
        </p:txBody>
      </p:sp>
      <p:sp>
        <p:nvSpPr>
          <p:cNvPr id="6" name="Номер слайда 5"/>
          <p:cNvSpPr>
            <a:spLocks noGrp="1"/>
          </p:cNvSpPr>
          <p:nvPr>
            <p:ph type="sldNum" sz="quarter" idx="12"/>
          </p:nvPr>
        </p:nvSpPr>
        <p:spPr/>
        <p:txBody>
          <a:bodyPr/>
          <a:lstStyle/>
          <a:p>
            <a:fld id="{9DD0990C-240E-4F6D-96E9-50DBAF192F56}" type="slidenum">
              <a:rPr lang="ru-RU" smtClean="0"/>
              <a:t>‹#›</a:t>
            </a:fld>
            <a:endParaRPr lang="ru-RU" dirty="0"/>
          </a:p>
        </p:txBody>
      </p:sp>
    </p:spTree>
    <p:extLst>
      <p:ext uri="{BB962C8B-B14F-4D97-AF65-F5344CB8AC3E}">
        <p14:creationId xmlns:p14="http://schemas.microsoft.com/office/powerpoint/2010/main" val="2796644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7D96B67C-FD54-4096-A385-8F8657C73047}" type="datetime1">
              <a:rPr lang="ru-RU" smtClean="0"/>
              <a:t>06.11.2025</a:t>
            </a:fld>
            <a:endParaRPr lang="ru-RU" dirty="0"/>
          </a:p>
        </p:txBody>
      </p:sp>
      <p:sp>
        <p:nvSpPr>
          <p:cNvPr id="5" name="Нижний колонтитул 4"/>
          <p:cNvSpPr>
            <a:spLocks noGrp="1"/>
          </p:cNvSpPr>
          <p:nvPr>
            <p:ph type="ftr" sz="quarter" idx="11"/>
          </p:nvPr>
        </p:nvSpPr>
        <p:spPr/>
        <p:txBody>
          <a:bodyPr/>
          <a:lstStyle/>
          <a:p>
            <a:r>
              <a:rPr lang="ru-RU" dirty="0"/>
              <a:t>Образование и наука - будущее России</a:t>
            </a:r>
          </a:p>
        </p:txBody>
      </p:sp>
      <p:sp>
        <p:nvSpPr>
          <p:cNvPr id="6" name="Номер слайда 5"/>
          <p:cNvSpPr>
            <a:spLocks noGrp="1"/>
          </p:cNvSpPr>
          <p:nvPr>
            <p:ph type="sldNum" sz="quarter" idx="12"/>
          </p:nvPr>
        </p:nvSpPr>
        <p:spPr/>
        <p:txBody>
          <a:bodyPr/>
          <a:lstStyle/>
          <a:p>
            <a:fld id="{9DD0990C-240E-4F6D-96E9-50DBAF192F56}" type="slidenum">
              <a:rPr lang="ru-RU" smtClean="0"/>
              <a:t>‹#›</a:t>
            </a:fld>
            <a:endParaRPr lang="ru-RU" dirty="0"/>
          </a:p>
        </p:txBody>
      </p:sp>
    </p:spTree>
    <p:extLst>
      <p:ext uri="{BB962C8B-B14F-4D97-AF65-F5344CB8AC3E}">
        <p14:creationId xmlns:p14="http://schemas.microsoft.com/office/powerpoint/2010/main" val="1940713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BBA176E6-C242-4724-A575-17A3D2DBE5B9}" type="datetime1">
              <a:rPr lang="ru-RU" smtClean="0"/>
              <a:t>06.11.2025</a:t>
            </a:fld>
            <a:endParaRPr lang="ru-RU" dirty="0"/>
          </a:p>
        </p:txBody>
      </p:sp>
      <p:sp>
        <p:nvSpPr>
          <p:cNvPr id="6" name="Нижний колонтитул 5"/>
          <p:cNvSpPr>
            <a:spLocks noGrp="1"/>
          </p:cNvSpPr>
          <p:nvPr>
            <p:ph type="ftr" sz="quarter" idx="11"/>
          </p:nvPr>
        </p:nvSpPr>
        <p:spPr/>
        <p:txBody>
          <a:bodyPr/>
          <a:lstStyle/>
          <a:p>
            <a:r>
              <a:rPr lang="ru-RU" dirty="0"/>
              <a:t>Образование и наука - будущее России</a:t>
            </a:r>
          </a:p>
        </p:txBody>
      </p:sp>
      <p:sp>
        <p:nvSpPr>
          <p:cNvPr id="7" name="Номер слайда 6"/>
          <p:cNvSpPr>
            <a:spLocks noGrp="1"/>
          </p:cNvSpPr>
          <p:nvPr>
            <p:ph type="sldNum" sz="quarter" idx="12"/>
          </p:nvPr>
        </p:nvSpPr>
        <p:spPr/>
        <p:txBody>
          <a:bodyPr/>
          <a:lstStyle/>
          <a:p>
            <a:fld id="{9DD0990C-240E-4F6D-96E9-50DBAF192F56}" type="slidenum">
              <a:rPr lang="ru-RU" smtClean="0"/>
              <a:t>‹#›</a:t>
            </a:fld>
            <a:endParaRPr lang="ru-RU" dirty="0"/>
          </a:p>
        </p:txBody>
      </p:sp>
    </p:spTree>
    <p:extLst>
      <p:ext uri="{BB962C8B-B14F-4D97-AF65-F5344CB8AC3E}">
        <p14:creationId xmlns:p14="http://schemas.microsoft.com/office/powerpoint/2010/main" val="1639058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3582084D-7615-4765-BEBB-FC2ADD0D2DA6}" type="datetime1">
              <a:rPr lang="ru-RU" smtClean="0"/>
              <a:t>06.11.2025</a:t>
            </a:fld>
            <a:endParaRPr lang="ru-RU" dirty="0"/>
          </a:p>
        </p:txBody>
      </p:sp>
      <p:sp>
        <p:nvSpPr>
          <p:cNvPr id="8" name="Нижний колонтитул 7"/>
          <p:cNvSpPr>
            <a:spLocks noGrp="1"/>
          </p:cNvSpPr>
          <p:nvPr>
            <p:ph type="ftr" sz="quarter" idx="11"/>
          </p:nvPr>
        </p:nvSpPr>
        <p:spPr/>
        <p:txBody>
          <a:bodyPr/>
          <a:lstStyle/>
          <a:p>
            <a:r>
              <a:rPr lang="ru-RU" dirty="0"/>
              <a:t>Образование и наука - будущее России</a:t>
            </a:r>
          </a:p>
        </p:txBody>
      </p:sp>
      <p:sp>
        <p:nvSpPr>
          <p:cNvPr id="9" name="Номер слайда 8"/>
          <p:cNvSpPr>
            <a:spLocks noGrp="1"/>
          </p:cNvSpPr>
          <p:nvPr>
            <p:ph type="sldNum" sz="quarter" idx="12"/>
          </p:nvPr>
        </p:nvSpPr>
        <p:spPr/>
        <p:txBody>
          <a:bodyPr/>
          <a:lstStyle/>
          <a:p>
            <a:fld id="{9DD0990C-240E-4F6D-96E9-50DBAF192F56}" type="slidenum">
              <a:rPr lang="ru-RU" smtClean="0"/>
              <a:t>‹#›</a:t>
            </a:fld>
            <a:endParaRPr lang="ru-RU" dirty="0"/>
          </a:p>
        </p:txBody>
      </p:sp>
    </p:spTree>
    <p:extLst>
      <p:ext uri="{BB962C8B-B14F-4D97-AF65-F5344CB8AC3E}">
        <p14:creationId xmlns:p14="http://schemas.microsoft.com/office/powerpoint/2010/main" val="2437429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6D9003A1-BF28-48BC-9995-A08902293C2F}" type="datetime1">
              <a:rPr lang="ru-RU" smtClean="0"/>
              <a:t>06.11.2025</a:t>
            </a:fld>
            <a:endParaRPr lang="ru-RU" dirty="0"/>
          </a:p>
        </p:txBody>
      </p:sp>
      <p:sp>
        <p:nvSpPr>
          <p:cNvPr id="4" name="Нижний колонтитул 3"/>
          <p:cNvSpPr>
            <a:spLocks noGrp="1"/>
          </p:cNvSpPr>
          <p:nvPr>
            <p:ph type="ftr" sz="quarter" idx="11"/>
          </p:nvPr>
        </p:nvSpPr>
        <p:spPr/>
        <p:txBody>
          <a:bodyPr/>
          <a:lstStyle/>
          <a:p>
            <a:r>
              <a:rPr lang="ru-RU" dirty="0"/>
              <a:t>Образование и наука - будущее России</a:t>
            </a:r>
          </a:p>
        </p:txBody>
      </p:sp>
      <p:sp>
        <p:nvSpPr>
          <p:cNvPr id="5" name="Номер слайда 4"/>
          <p:cNvSpPr>
            <a:spLocks noGrp="1"/>
          </p:cNvSpPr>
          <p:nvPr>
            <p:ph type="sldNum" sz="quarter" idx="12"/>
          </p:nvPr>
        </p:nvSpPr>
        <p:spPr/>
        <p:txBody>
          <a:bodyPr/>
          <a:lstStyle/>
          <a:p>
            <a:fld id="{9DD0990C-240E-4F6D-96E9-50DBAF192F56}" type="slidenum">
              <a:rPr lang="ru-RU" smtClean="0"/>
              <a:t>‹#›</a:t>
            </a:fld>
            <a:endParaRPr lang="ru-RU" dirty="0"/>
          </a:p>
        </p:txBody>
      </p:sp>
    </p:spTree>
    <p:extLst>
      <p:ext uri="{BB962C8B-B14F-4D97-AF65-F5344CB8AC3E}">
        <p14:creationId xmlns:p14="http://schemas.microsoft.com/office/powerpoint/2010/main" val="2230420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53E2774-8C0E-4227-8A4F-13D7074C7957}" type="datetime1">
              <a:rPr lang="ru-RU" smtClean="0"/>
              <a:t>06.11.2025</a:t>
            </a:fld>
            <a:endParaRPr lang="ru-RU" dirty="0"/>
          </a:p>
        </p:txBody>
      </p:sp>
      <p:sp>
        <p:nvSpPr>
          <p:cNvPr id="3" name="Нижний колонтитул 2"/>
          <p:cNvSpPr>
            <a:spLocks noGrp="1"/>
          </p:cNvSpPr>
          <p:nvPr>
            <p:ph type="ftr" sz="quarter" idx="11"/>
          </p:nvPr>
        </p:nvSpPr>
        <p:spPr/>
        <p:txBody>
          <a:bodyPr/>
          <a:lstStyle/>
          <a:p>
            <a:r>
              <a:rPr lang="ru-RU" dirty="0"/>
              <a:t>Образование и наука - будущее России</a:t>
            </a:r>
          </a:p>
        </p:txBody>
      </p:sp>
      <p:sp>
        <p:nvSpPr>
          <p:cNvPr id="4" name="Номер слайда 3"/>
          <p:cNvSpPr>
            <a:spLocks noGrp="1"/>
          </p:cNvSpPr>
          <p:nvPr>
            <p:ph type="sldNum" sz="quarter" idx="12"/>
          </p:nvPr>
        </p:nvSpPr>
        <p:spPr/>
        <p:txBody>
          <a:bodyPr/>
          <a:lstStyle/>
          <a:p>
            <a:fld id="{9DD0990C-240E-4F6D-96E9-50DBAF192F56}" type="slidenum">
              <a:rPr lang="ru-RU" smtClean="0"/>
              <a:t>‹#›</a:t>
            </a:fld>
            <a:endParaRPr lang="ru-RU" dirty="0"/>
          </a:p>
        </p:txBody>
      </p:sp>
    </p:spTree>
    <p:extLst>
      <p:ext uri="{BB962C8B-B14F-4D97-AF65-F5344CB8AC3E}">
        <p14:creationId xmlns:p14="http://schemas.microsoft.com/office/powerpoint/2010/main" val="3947074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BF9D009E-B0BA-40F4-9409-BAD477F7AA27}" type="datetime1">
              <a:rPr lang="ru-RU" smtClean="0"/>
              <a:t>06.11.2025</a:t>
            </a:fld>
            <a:endParaRPr lang="ru-RU" dirty="0"/>
          </a:p>
        </p:txBody>
      </p:sp>
      <p:sp>
        <p:nvSpPr>
          <p:cNvPr id="6" name="Нижний колонтитул 5"/>
          <p:cNvSpPr>
            <a:spLocks noGrp="1"/>
          </p:cNvSpPr>
          <p:nvPr>
            <p:ph type="ftr" sz="quarter" idx="11"/>
          </p:nvPr>
        </p:nvSpPr>
        <p:spPr/>
        <p:txBody>
          <a:bodyPr/>
          <a:lstStyle/>
          <a:p>
            <a:r>
              <a:rPr lang="ru-RU" dirty="0"/>
              <a:t>Образование и наука - будущее России</a:t>
            </a:r>
          </a:p>
        </p:txBody>
      </p:sp>
      <p:sp>
        <p:nvSpPr>
          <p:cNvPr id="7" name="Номер слайда 6"/>
          <p:cNvSpPr>
            <a:spLocks noGrp="1"/>
          </p:cNvSpPr>
          <p:nvPr>
            <p:ph type="sldNum" sz="quarter" idx="12"/>
          </p:nvPr>
        </p:nvSpPr>
        <p:spPr/>
        <p:txBody>
          <a:bodyPr/>
          <a:lstStyle/>
          <a:p>
            <a:fld id="{9DD0990C-240E-4F6D-96E9-50DBAF192F56}" type="slidenum">
              <a:rPr lang="ru-RU" smtClean="0"/>
              <a:t>‹#›</a:t>
            </a:fld>
            <a:endParaRPr lang="ru-RU" dirty="0"/>
          </a:p>
        </p:txBody>
      </p:sp>
    </p:spTree>
    <p:extLst>
      <p:ext uri="{BB962C8B-B14F-4D97-AF65-F5344CB8AC3E}">
        <p14:creationId xmlns:p14="http://schemas.microsoft.com/office/powerpoint/2010/main" val="4228629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dirty="0"/>
              <a:t>Чтобы добавить рисунок, перетащите его на заполнитель или щелкните значок</a:t>
            </a:r>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2D6E8B98-2144-49DA-A188-3A9AAE81BE8F}" type="datetime1">
              <a:rPr lang="ru-RU" smtClean="0"/>
              <a:t>06.11.2025</a:t>
            </a:fld>
            <a:endParaRPr lang="ru-RU" dirty="0"/>
          </a:p>
        </p:txBody>
      </p:sp>
      <p:sp>
        <p:nvSpPr>
          <p:cNvPr id="6" name="Нижний колонтитул 5"/>
          <p:cNvSpPr>
            <a:spLocks noGrp="1"/>
          </p:cNvSpPr>
          <p:nvPr>
            <p:ph type="ftr" sz="quarter" idx="11"/>
          </p:nvPr>
        </p:nvSpPr>
        <p:spPr/>
        <p:txBody>
          <a:bodyPr/>
          <a:lstStyle/>
          <a:p>
            <a:r>
              <a:rPr lang="ru-RU" dirty="0"/>
              <a:t>Образование и наука - будущее России</a:t>
            </a:r>
          </a:p>
        </p:txBody>
      </p:sp>
      <p:sp>
        <p:nvSpPr>
          <p:cNvPr id="7" name="Номер слайда 6"/>
          <p:cNvSpPr>
            <a:spLocks noGrp="1"/>
          </p:cNvSpPr>
          <p:nvPr>
            <p:ph type="sldNum" sz="quarter" idx="12"/>
          </p:nvPr>
        </p:nvSpPr>
        <p:spPr/>
        <p:txBody>
          <a:bodyPr/>
          <a:lstStyle/>
          <a:p>
            <a:fld id="{9DD0990C-240E-4F6D-96E9-50DBAF192F56}" type="slidenum">
              <a:rPr lang="ru-RU" smtClean="0"/>
              <a:t>‹#›</a:t>
            </a:fld>
            <a:endParaRPr lang="ru-RU" dirty="0"/>
          </a:p>
        </p:txBody>
      </p:sp>
    </p:spTree>
    <p:extLst>
      <p:ext uri="{BB962C8B-B14F-4D97-AF65-F5344CB8AC3E}">
        <p14:creationId xmlns:p14="http://schemas.microsoft.com/office/powerpoint/2010/main" val="3785936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68F90CD5-AEFD-4FB0-8E05-A24BD20C7889}" type="datetime1">
              <a:rPr lang="ru-RU" smtClean="0"/>
              <a:t>06.11.2025</a:t>
            </a:fld>
            <a:endParaRPr lang="ru-RU" dirty="0"/>
          </a:p>
        </p:txBody>
      </p:sp>
      <p:sp>
        <p:nvSpPr>
          <p:cNvPr id="5" name="Нижний колонтитул 4"/>
          <p:cNvSpPr>
            <a:spLocks noGrp="1"/>
          </p:cNvSpPr>
          <p:nvPr>
            <p:ph type="ftr" sz="quarter" idx="11"/>
          </p:nvPr>
        </p:nvSpPr>
        <p:spPr/>
        <p:txBody>
          <a:bodyPr/>
          <a:lstStyle/>
          <a:p>
            <a:r>
              <a:rPr lang="ru-RU" dirty="0"/>
              <a:t>Образование и наука - будущее России</a:t>
            </a:r>
          </a:p>
        </p:txBody>
      </p:sp>
      <p:sp>
        <p:nvSpPr>
          <p:cNvPr id="6" name="Номер слайда 5"/>
          <p:cNvSpPr>
            <a:spLocks noGrp="1"/>
          </p:cNvSpPr>
          <p:nvPr>
            <p:ph type="sldNum" sz="quarter" idx="12"/>
          </p:nvPr>
        </p:nvSpPr>
        <p:spPr/>
        <p:txBody>
          <a:bodyPr/>
          <a:lstStyle/>
          <a:p>
            <a:fld id="{9DD0990C-240E-4F6D-96E9-50DBAF192F56}" type="slidenum">
              <a:rPr lang="ru-RU" smtClean="0"/>
              <a:t>‹#›</a:t>
            </a:fld>
            <a:endParaRPr lang="ru-RU" dirty="0"/>
          </a:p>
        </p:txBody>
      </p:sp>
    </p:spTree>
    <p:extLst>
      <p:ext uri="{BB962C8B-B14F-4D97-AF65-F5344CB8AC3E}">
        <p14:creationId xmlns:p14="http://schemas.microsoft.com/office/powerpoint/2010/main" val="2036823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045A9A4-3005-430B-8AC7-63EFCE895077}" type="datetime1">
              <a:rPr lang="ru-RU" smtClean="0"/>
              <a:t>06.11.2025</a:t>
            </a:fld>
            <a:endParaRPr lang="ru-RU" dirty="0"/>
          </a:p>
        </p:txBody>
      </p:sp>
      <p:sp>
        <p:nvSpPr>
          <p:cNvPr id="5" name="Нижний колонтитул 4"/>
          <p:cNvSpPr>
            <a:spLocks noGrp="1"/>
          </p:cNvSpPr>
          <p:nvPr>
            <p:ph type="ftr" sz="quarter" idx="11"/>
          </p:nvPr>
        </p:nvSpPr>
        <p:spPr/>
        <p:txBody>
          <a:bodyPr/>
          <a:lstStyle/>
          <a:p>
            <a:r>
              <a:rPr lang="ru-RU" dirty="0"/>
              <a:t>Образование и наука - будущее России</a:t>
            </a:r>
          </a:p>
        </p:txBody>
      </p:sp>
      <p:sp>
        <p:nvSpPr>
          <p:cNvPr id="6" name="Номер слайда 5"/>
          <p:cNvSpPr>
            <a:spLocks noGrp="1"/>
          </p:cNvSpPr>
          <p:nvPr>
            <p:ph type="sldNum" sz="quarter" idx="12"/>
          </p:nvPr>
        </p:nvSpPr>
        <p:spPr/>
        <p:txBody>
          <a:bodyPr/>
          <a:lstStyle/>
          <a:p>
            <a:fld id="{9DD0990C-240E-4F6D-96E9-50DBAF192F56}" type="slidenum">
              <a:rPr lang="ru-RU" smtClean="0"/>
              <a:t>‹#›</a:t>
            </a:fld>
            <a:endParaRPr lang="ru-RU" dirty="0"/>
          </a:p>
        </p:txBody>
      </p:sp>
    </p:spTree>
    <p:extLst>
      <p:ext uri="{BB962C8B-B14F-4D97-AF65-F5344CB8AC3E}">
        <p14:creationId xmlns:p14="http://schemas.microsoft.com/office/powerpoint/2010/main" val="1049385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0E7E8C-EA9C-421C-A5E1-3533048FB457}" type="datetime1">
              <a:rPr lang="ru-RU" smtClean="0"/>
              <a:t>06.11.2025</a:t>
            </a:fld>
            <a:endParaRPr lang="ru-RU" dirty="0"/>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ru-RU" dirty="0"/>
              <a:t>Образование и наука - будущее России</a:t>
            </a:r>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D0990C-240E-4F6D-96E9-50DBAF192F56}" type="slidenum">
              <a:rPr lang="ru-RU" smtClean="0"/>
              <a:t>‹#›</a:t>
            </a:fld>
            <a:endParaRPr lang="ru-RU" dirty="0"/>
          </a:p>
        </p:txBody>
      </p:sp>
    </p:spTree>
    <p:extLst>
      <p:ext uri="{BB962C8B-B14F-4D97-AF65-F5344CB8AC3E}">
        <p14:creationId xmlns:p14="http://schemas.microsoft.com/office/powerpoint/2010/main" val="2508412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500000000000000"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500000000000000"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500000000000000"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500000000000000"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500000000000000"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500000000000000"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500000000000000"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500000000000000"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500000000000000"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comments" Target="../comments/comment1.xml"/><Relationship Id="rId5" Type="http://schemas.openxmlformats.org/officeDocument/2006/relationships/hyperlink" Target="https://www.youtube.com/watch?v=OF6c_lW91lk" TargetMode="Externa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6.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p:txBody>
          <a:bodyPr/>
          <a:lstStyle/>
          <a:p>
            <a:fld id="{9DD0990C-240E-4F6D-96E9-50DBAF192F56}" type="slidenum">
              <a:rPr lang="ru-RU" smtClean="0"/>
              <a:t>1</a:t>
            </a:fld>
            <a:endParaRPr lang="ru-RU" dirty="0"/>
          </a:p>
        </p:txBody>
      </p:sp>
      <p:cxnSp>
        <p:nvCxnSpPr>
          <p:cNvPr id="9" name="Прямая соединительная линия 8">
            <a:extLst>
              <a:ext uri="{FF2B5EF4-FFF2-40B4-BE49-F238E27FC236}">
                <a16:creationId xmlns:a16="http://schemas.microsoft.com/office/drawing/2014/main" id="{90903EA7-06CC-6449-8C08-49C6220A9BEB}"/>
              </a:ext>
            </a:extLst>
          </p:cNvPr>
          <p:cNvCxnSpPr/>
          <p:nvPr/>
        </p:nvCxnSpPr>
        <p:spPr>
          <a:xfrm>
            <a:off x="683568" y="980728"/>
            <a:ext cx="69950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59F6138E-7D9F-EAEB-61CF-B433B772DE60}"/>
              </a:ext>
            </a:extLst>
          </p:cNvPr>
          <p:cNvCxnSpPr/>
          <p:nvPr/>
        </p:nvCxnSpPr>
        <p:spPr>
          <a:xfrm flipV="1">
            <a:off x="899592" y="476672"/>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Заголовок 2">
            <a:extLst>
              <a:ext uri="{FF2B5EF4-FFF2-40B4-BE49-F238E27FC236}">
                <a16:creationId xmlns:a16="http://schemas.microsoft.com/office/drawing/2014/main" id="{E65D82C4-E56C-E89E-3E6D-8BFB3D4CD84A}"/>
              </a:ext>
            </a:extLst>
          </p:cNvPr>
          <p:cNvSpPr txBox="1">
            <a:spLocks/>
          </p:cNvSpPr>
          <p:nvPr/>
        </p:nvSpPr>
        <p:spPr>
          <a:xfrm>
            <a:off x="971600" y="476672"/>
            <a:ext cx="7725544" cy="504056"/>
          </a:xfrm>
          <a:prstGeom prst="rect">
            <a:avLst/>
          </a:prstGeom>
        </p:spPr>
        <p:txBody>
          <a:bodyPr vert="horz" lIns="91440" tIns="45720" rIns="91440" bIns="45720" rtlCol="0" anchor="ctr">
            <a:noAutofit/>
          </a:bodyPr>
          <a:lstStyle>
            <a:defPPr>
              <a:defRPr lang="ru-RU"/>
            </a:defPPr>
            <a:lvl1pPr>
              <a:spcBef>
                <a:spcPct val="0"/>
              </a:spcBef>
              <a:buNone/>
              <a:defRPr sz="2000" b="1">
                <a:solidFill>
                  <a:srgbClr val="000000"/>
                </a:solidFill>
                <a:latin typeface="Arial"/>
                <a:ea typeface="+mj-ea"/>
                <a:cs typeface="Arial"/>
              </a:defRPr>
            </a:lvl1pPr>
          </a:lstStyle>
          <a:p>
            <a:r>
              <a:rPr lang="ru-RU" dirty="0">
                <a:latin typeface="Gilroy Bold" pitchFamily="50" charset="-52"/>
              </a:rPr>
              <a:t>Анализ «5 сил М. Портера»</a:t>
            </a:r>
          </a:p>
        </p:txBody>
      </p:sp>
      <p:sp>
        <p:nvSpPr>
          <p:cNvPr id="12" name="TextBox 11">
            <a:extLst>
              <a:ext uri="{FF2B5EF4-FFF2-40B4-BE49-F238E27FC236}">
                <a16:creationId xmlns:a16="http://schemas.microsoft.com/office/drawing/2014/main" id="{325AEAB8-2A8C-590C-78EF-7897623013C4}"/>
              </a:ext>
            </a:extLst>
          </p:cNvPr>
          <p:cNvSpPr txBox="1"/>
          <p:nvPr/>
        </p:nvSpPr>
        <p:spPr>
          <a:xfrm>
            <a:off x="899592" y="1412776"/>
            <a:ext cx="6995062" cy="3970318"/>
          </a:xfrm>
          <a:prstGeom prst="rect">
            <a:avLst/>
          </a:prstGeom>
          <a:noFill/>
        </p:spPr>
        <p:txBody>
          <a:bodyPr wrap="square" rtlCol="0">
            <a:spAutoFit/>
          </a:bodyPr>
          <a:lstStyle/>
          <a:p>
            <a:r>
              <a:rPr lang="ru-RU" dirty="0"/>
              <a:t>Анализ 5 сил Портера нужен для разработки долгосрочной стратегии развития бизнеса.  (Может применяться для оценки внутренней среды). По М. Портеру, давление на организацию оказывают следующие силы:</a:t>
            </a:r>
          </a:p>
          <a:p>
            <a:endParaRPr lang="ru-RU" dirty="0"/>
          </a:p>
          <a:p>
            <a:r>
              <a:rPr lang="ru-RU" b="1" dirty="0">
                <a:effectLst>
                  <a:outerShdw blurRad="38100" dist="38100" dir="2700000" algn="tl">
                    <a:srgbClr val="000000">
                      <a:alpha val="43137"/>
                    </a:srgbClr>
                  </a:outerShdw>
                </a:effectLst>
              </a:rPr>
              <a:t>Покупатели (клиенты);</a:t>
            </a:r>
            <a:endParaRPr lang="ru-RU" dirty="0"/>
          </a:p>
          <a:p>
            <a:r>
              <a:rPr lang="ru-RU" b="1" dirty="0">
                <a:effectLst>
                  <a:outerShdw blurRad="38100" dist="38100" dir="2700000" algn="tl">
                    <a:srgbClr val="000000">
                      <a:alpha val="43137"/>
                    </a:srgbClr>
                  </a:outerShdw>
                </a:effectLst>
              </a:rPr>
              <a:t>Поставщики (если их нет, просто не учитываются);</a:t>
            </a:r>
            <a:r>
              <a:rPr lang="ru-RU" dirty="0"/>
              <a:t> </a:t>
            </a:r>
          </a:p>
          <a:p>
            <a:r>
              <a:rPr lang="ru-RU" b="1" dirty="0">
                <a:effectLst>
                  <a:outerShdw blurRad="38100" dist="38100" dir="2700000" algn="tl">
                    <a:srgbClr val="000000">
                      <a:alpha val="43137"/>
                    </a:srgbClr>
                  </a:outerShdw>
                </a:effectLst>
              </a:rPr>
              <a:t>Действующие конкуренты</a:t>
            </a:r>
            <a:r>
              <a:rPr lang="ru-RU" dirty="0"/>
              <a:t> </a:t>
            </a:r>
          </a:p>
          <a:p>
            <a:r>
              <a:rPr lang="ru-RU" b="1" dirty="0">
                <a:effectLst>
                  <a:outerShdw blurRad="38100" dist="38100" dir="2700000" algn="tl">
                    <a:srgbClr val="000000">
                      <a:alpha val="43137"/>
                    </a:srgbClr>
                  </a:outerShdw>
                </a:effectLst>
              </a:rPr>
              <a:t>Угроза появления новых конкурентов</a:t>
            </a:r>
          </a:p>
          <a:p>
            <a:r>
              <a:rPr lang="ru-RU" b="1" dirty="0">
                <a:effectLst>
                  <a:outerShdw blurRad="38100" dist="38100" dir="2700000" algn="tl">
                    <a:srgbClr val="000000">
                      <a:alpha val="43137"/>
                    </a:srgbClr>
                  </a:outerShdw>
                </a:effectLst>
              </a:rPr>
              <a:t>Товары-заменители (субституты)</a:t>
            </a:r>
          </a:p>
          <a:p>
            <a:endParaRPr lang="ru-RU" b="1" dirty="0">
              <a:effectLst>
                <a:outerShdw blurRad="38100" dist="38100" dir="2700000" algn="tl">
                  <a:srgbClr val="000000">
                    <a:alpha val="43137"/>
                  </a:srgbClr>
                </a:outerShdw>
              </a:effectLst>
            </a:endParaRPr>
          </a:p>
          <a:p>
            <a:r>
              <a:rPr lang="ru-RU" dirty="0"/>
              <a:t>Чем меньше давление сил Портера, тем больше у компании шансов получить высокую прибыль. И наоборот, чем больше давление, тем ниже рентабельность бизнеса.</a:t>
            </a:r>
          </a:p>
        </p:txBody>
      </p:sp>
    </p:spTree>
    <p:extLst>
      <p:ext uri="{BB962C8B-B14F-4D97-AF65-F5344CB8AC3E}">
        <p14:creationId xmlns:p14="http://schemas.microsoft.com/office/powerpoint/2010/main" val="4178803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2" name="TextBox 11"/>
          <p:cNvSpPr txBox="1"/>
          <p:nvPr/>
        </p:nvSpPr>
        <p:spPr>
          <a:xfrm>
            <a:off x="467544" y="88485"/>
            <a:ext cx="6840760" cy="496799"/>
          </a:xfrm>
          <a:prstGeom prst="rect">
            <a:avLst/>
          </a:prstGeom>
          <a:noFill/>
        </p:spPr>
        <p:txBody>
          <a:bodyPr wrap="square" lIns="65274" tIns="32637" rIns="65274" bIns="32637" rtlCol="0">
            <a:spAutoFit/>
          </a:bodyPr>
          <a:lstStyle/>
          <a:p>
            <a:r>
              <a:rPr lang="ru-RU" sz="2800" dirty="0">
                <a:solidFill>
                  <a:schemeClr val="bg1"/>
                </a:solidFill>
                <a:latin typeface="Gilroy SemiBold" pitchFamily="50" charset="-52"/>
              </a:rPr>
              <a:t>Историческая справка</a:t>
            </a:r>
          </a:p>
        </p:txBody>
      </p:sp>
      <p:sp>
        <p:nvSpPr>
          <p:cNvPr id="2" name="TextBox 1">
            <a:extLst>
              <a:ext uri="{FF2B5EF4-FFF2-40B4-BE49-F238E27FC236}">
                <a16:creationId xmlns:a16="http://schemas.microsoft.com/office/drawing/2014/main" id="{0609275A-CD95-8148-F661-A0A45121D323}"/>
              </a:ext>
            </a:extLst>
          </p:cNvPr>
          <p:cNvSpPr txBox="1"/>
          <p:nvPr/>
        </p:nvSpPr>
        <p:spPr>
          <a:xfrm>
            <a:off x="1835696" y="764704"/>
            <a:ext cx="5564920" cy="1384995"/>
          </a:xfrm>
          <a:prstGeom prst="rect">
            <a:avLst/>
          </a:prstGeom>
          <a:noFill/>
        </p:spPr>
        <p:txBody>
          <a:bodyPr wrap="square" rtlCol="0">
            <a:spAutoFit/>
          </a:bodyPr>
          <a:lstStyle/>
          <a:p>
            <a:pPr algn="just"/>
            <a:r>
              <a:rPr lang="ru-RU" sz="1400" dirty="0">
                <a:solidFill>
                  <a:schemeClr val="bg1"/>
                </a:solidFill>
              </a:rPr>
              <a:t>Майкл </a:t>
            </a:r>
            <a:r>
              <a:rPr lang="ru-RU" sz="1400" dirty="0" err="1">
                <a:solidFill>
                  <a:schemeClr val="bg1"/>
                </a:solidFill>
              </a:rPr>
              <a:t>Юджи́н</a:t>
            </a:r>
            <a:r>
              <a:rPr lang="ru-RU" sz="1400" dirty="0">
                <a:solidFill>
                  <a:schemeClr val="bg1"/>
                </a:solidFill>
              </a:rPr>
              <a:t> </a:t>
            </a:r>
            <a:r>
              <a:rPr lang="ru-RU" sz="1400" dirty="0" err="1">
                <a:solidFill>
                  <a:schemeClr val="bg1"/>
                </a:solidFill>
              </a:rPr>
              <a:t>По́ртер</a:t>
            </a:r>
            <a:r>
              <a:rPr lang="ru-RU" sz="1400" dirty="0">
                <a:solidFill>
                  <a:schemeClr val="bg1"/>
                </a:solidFill>
              </a:rPr>
              <a:t>— американский экономист, профессор кафедры делового администрирования Гарвардской школы бизнеса (англ. Harvard Business School), признанный специалист в области изучения экономической конкуренции, в том числе конкуренции на международных рынках, конкуренции между странами и регионами. Разработал теорию конкурентных преимуществ стран</a:t>
            </a:r>
          </a:p>
        </p:txBody>
      </p:sp>
      <p:pic>
        <p:nvPicPr>
          <p:cNvPr id="9" name="Рисунок 8">
            <a:extLst>
              <a:ext uri="{FF2B5EF4-FFF2-40B4-BE49-F238E27FC236}">
                <a16:creationId xmlns:a16="http://schemas.microsoft.com/office/drawing/2014/main" id="{537EC896-D90C-EE79-2566-DDA339B81BA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1560" y="764704"/>
            <a:ext cx="899839" cy="1381709"/>
          </a:xfrm>
          <a:prstGeom prst="rect">
            <a:avLst/>
          </a:prstGeom>
        </p:spPr>
      </p:pic>
      <p:sp>
        <p:nvSpPr>
          <p:cNvPr id="10" name="TextBox 9">
            <a:extLst>
              <a:ext uri="{FF2B5EF4-FFF2-40B4-BE49-F238E27FC236}">
                <a16:creationId xmlns:a16="http://schemas.microsoft.com/office/drawing/2014/main" id="{7ABFA023-3517-0DB5-5315-DCDE9C895356}"/>
              </a:ext>
            </a:extLst>
          </p:cNvPr>
          <p:cNvSpPr txBox="1"/>
          <p:nvPr/>
        </p:nvSpPr>
        <p:spPr>
          <a:xfrm>
            <a:off x="467544" y="2420888"/>
            <a:ext cx="3312368" cy="2862322"/>
          </a:xfrm>
          <a:prstGeom prst="rect">
            <a:avLst/>
          </a:prstGeom>
          <a:noFill/>
        </p:spPr>
        <p:txBody>
          <a:bodyPr wrap="square" rtlCol="0">
            <a:spAutoFit/>
          </a:bodyPr>
          <a:lstStyle/>
          <a:p>
            <a:r>
              <a:rPr lang="ru-RU" dirty="0">
                <a:solidFill>
                  <a:schemeClr val="bg1"/>
                </a:solidFill>
              </a:rPr>
              <a:t>Майкл Портер является одним из ведущих специалистов в области изучения природы конкуренции. За свою карьеру Портер выступал бизнес-консультантом известных во всём мире компаний, среди которых можно назвать, например, AT&amp;T, DuPont, Royal Dutch Shell и </a:t>
            </a:r>
            <a:r>
              <a:rPr lang="ru-RU" dirty="0" err="1">
                <a:solidFill>
                  <a:schemeClr val="bg1"/>
                </a:solidFill>
              </a:rPr>
              <a:t>Procter&amp;Gamble</a:t>
            </a:r>
            <a:r>
              <a:rPr lang="ru-RU" dirty="0">
                <a:solidFill>
                  <a:schemeClr val="bg1"/>
                </a:solidFill>
              </a:rPr>
              <a:t>,</a:t>
            </a:r>
          </a:p>
        </p:txBody>
      </p:sp>
      <p:sp>
        <p:nvSpPr>
          <p:cNvPr id="11" name="TextBox 10">
            <a:extLst>
              <a:ext uri="{FF2B5EF4-FFF2-40B4-BE49-F238E27FC236}">
                <a16:creationId xmlns:a16="http://schemas.microsoft.com/office/drawing/2014/main" id="{9AD5C0ED-0D6C-5AB7-C40A-5D08045FAEF8}"/>
              </a:ext>
            </a:extLst>
          </p:cNvPr>
          <p:cNvSpPr txBox="1"/>
          <p:nvPr/>
        </p:nvSpPr>
        <p:spPr>
          <a:xfrm>
            <a:off x="3777181" y="2449907"/>
            <a:ext cx="3960440" cy="2862322"/>
          </a:xfrm>
          <a:prstGeom prst="rect">
            <a:avLst/>
          </a:prstGeom>
          <a:noFill/>
        </p:spPr>
        <p:txBody>
          <a:bodyPr wrap="square" rtlCol="0">
            <a:spAutoFit/>
          </a:bodyPr>
          <a:lstStyle/>
          <a:p>
            <a:r>
              <a:rPr lang="ru-RU" dirty="0">
                <a:solidFill>
                  <a:schemeClr val="bg1"/>
                </a:solidFill>
              </a:rPr>
              <a:t>По мнению Майкла Портера, чем сильнее развита конкуренция на внутреннем рынке страны и выше требования покупателей, тем больше вероятность успеха компаний из этой страны на международных рынках (и наоборот, ослабление конкуренции на национальном рынке приводит, как правило, к утрате конкурентных преимуществ).</a:t>
            </a:r>
          </a:p>
        </p:txBody>
      </p:sp>
      <p:sp>
        <p:nvSpPr>
          <p:cNvPr id="13" name="TextBox 12">
            <a:extLst>
              <a:ext uri="{FF2B5EF4-FFF2-40B4-BE49-F238E27FC236}">
                <a16:creationId xmlns:a16="http://schemas.microsoft.com/office/drawing/2014/main" id="{D7432CD0-1752-284E-A2A9-BCEE18C1ED2F}"/>
              </a:ext>
            </a:extLst>
          </p:cNvPr>
          <p:cNvSpPr txBox="1"/>
          <p:nvPr/>
        </p:nvSpPr>
        <p:spPr>
          <a:xfrm>
            <a:off x="3059832" y="5583418"/>
            <a:ext cx="4896544" cy="923330"/>
          </a:xfrm>
          <a:prstGeom prst="rect">
            <a:avLst/>
          </a:prstGeom>
          <a:noFill/>
        </p:spPr>
        <p:txBody>
          <a:bodyPr wrap="square" rtlCol="0">
            <a:spAutoFit/>
          </a:bodyPr>
          <a:lstStyle/>
          <a:p>
            <a:r>
              <a:rPr lang="en-US" dirty="0">
                <a:hlinkClick r:id="rId5"/>
              </a:rPr>
              <a:t>https://www.youtube.com/watch?v=OF6c_lW91lk</a:t>
            </a:r>
            <a:r>
              <a:rPr lang="ru-RU" dirty="0"/>
              <a:t> </a:t>
            </a:r>
            <a:r>
              <a:rPr lang="ru-RU" dirty="0">
                <a:solidFill>
                  <a:schemeClr val="bg1"/>
                </a:solidFill>
              </a:rPr>
              <a:t>Выступление </a:t>
            </a:r>
            <a:r>
              <a:rPr lang="ru-RU" dirty="0" err="1">
                <a:solidFill>
                  <a:schemeClr val="bg1"/>
                </a:solidFill>
              </a:rPr>
              <a:t>М.Портера</a:t>
            </a:r>
            <a:r>
              <a:rPr lang="ru-RU" dirty="0">
                <a:solidFill>
                  <a:schemeClr val="bg1"/>
                </a:solidFill>
              </a:rPr>
              <a:t> о КСО и создании общей ценности</a:t>
            </a:r>
          </a:p>
        </p:txBody>
      </p:sp>
    </p:spTree>
    <p:extLst>
      <p:ext uri="{BB962C8B-B14F-4D97-AF65-F5344CB8AC3E}">
        <p14:creationId xmlns:p14="http://schemas.microsoft.com/office/powerpoint/2010/main" val="4122531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p:txBody>
          <a:bodyPr/>
          <a:lstStyle/>
          <a:p>
            <a:fld id="{9DD0990C-240E-4F6D-96E9-50DBAF192F56}" type="slidenum">
              <a:rPr lang="ru-RU" smtClean="0"/>
              <a:t>3</a:t>
            </a:fld>
            <a:endParaRPr lang="ru-RU" dirty="0"/>
          </a:p>
        </p:txBody>
      </p:sp>
      <p:cxnSp>
        <p:nvCxnSpPr>
          <p:cNvPr id="9" name="Прямая соединительная линия 8">
            <a:extLst>
              <a:ext uri="{FF2B5EF4-FFF2-40B4-BE49-F238E27FC236}">
                <a16:creationId xmlns:a16="http://schemas.microsoft.com/office/drawing/2014/main" id="{90903EA7-06CC-6449-8C08-49C6220A9BEB}"/>
              </a:ext>
            </a:extLst>
          </p:cNvPr>
          <p:cNvCxnSpPr/>
          <p:nvPr/>
        </p:nvCxnSpPr>
        <p:spPr>
          <a:xfrm>
            <a:off x="683568" y="980728"/>
            <a:ext cx="69950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59F6138E-7D9F-EAEB-61CF-B433B772DE60}"/>
              </a:ext>
            </a:extLst>
          </p:cNvPr>
          <p:cNvCxnSpPr/>
          <p:nvPr/>
        </p:nvCxnSpPr>
        <p:spPr>
          <a:xfrm flipV="1">
            <a:off x="899592" y="476672"/>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Заголовок 2">
            <a:extLst>
              <a:ext uri="{FF2B5EF4-FFF2-40B4-BE49-F238E27FC236}">
                <a16:creationId xmlns:a16="http://schemas.microsoft.com/office/drawing/2014/main" id="{E65D82C4-E56C-E89E-3E6D-8BFB3D4CD84A}"/>
              </a:ext>
            </a:extLst>
          </p:cNvPr>
          <p:cNvSpPr txBox="1">
            <a:spLocks/>
          </p:cNvSpPr>
          <p:nvPr/>
        </p:nvSpPr>
        <p:spPr>
          <a:xfrm>
            <a:off x="971600" y="476672"/>
            <a:ext cx="7725544" cy="504056"/>
          </a:xfrm>
          <a:prstGeom prst="rect">
            <a:avLst/>
          </a:prstGeom>
        </p:spPr>
        <p:txBody>
          <a:bodyPr vert="horz" lIns="91440" tIns="45720" rIns="91440" bIns="45720" rtlCol="0" anchor="ctr">
            <a:noAutofit/>
          </a:bodyPr>
          <a:lstStyle>
            <a:defPPr>
              <a:defRPr lang="ru-RU"/>
            </a:defPPr>
            <a:lvl1pPr>
              <a:spcBef>
                <a:spcPct val="0"/>
              </a:spcBef>
              <a:buNone/>
              <a:defRPr sz="2000" b="1">
                <a:solidFill>
                  <a:srgbClr val="000000"/>
                </a:solidFill>
                <a:latin typeface="Arial"/>
                <a:ea typeface="+mj-ea"/>
                <a:cs typeface="Arial"/>
              </a:defRPr>
            </a:lvl1pPr>
          </a:lstStyle>
          <a:p>
            <a:r>
              <a:rPr lang="ru-RU" dirty="0">
                <a:latin typeface="Gilroy Bold" pitchFamily="50" charset="-52"/>
              </a:rPr>
              <a:t>Анализ «5 сил М. Портера»</a:t>
            </a:r>
          </a:p>
        </p:txBody>
      </p:sp>
      <p:graphicFrame>
        <p:nvGraphicFramePr>
          <p:cNvPr id="3" name="Схема 2">
            <a:extLst>
              <a:ext uri="{FF2B5EF4-FFF2-40B4-BE49-F238E27FC236}">
                <a16:creationId xmlns:a16="http://schemas.microsoft.com/office/drawing/2014/main" id="{B105A925-3159-C7E4-F038-F2691A936BDD}"/>
              </a:ext>
            </a:extLst>
          </p:cNvPr>
          <p:cNvGraphicFramePr/>
          <p:nvPr>
            <p:extLst>
              <p:ext uri="{D42A27DB-BD31-4B8C-83A1-F6EECF244321}">
                <p14:modId xmlns:p14="http://schemas.microsoft.com/office/powerpoint/2010/main" val="4186951166"/>
              </p:ext>
            </p:extLst>
          </p:nvPr>
        </p:nvGraphicFramePr>
        <p:xfrm>
          <a:off x="899591" y="980728"/>
          <a:ext cx="7272793" cy="52565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1669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1DAC1BFC-56EA-A236-3419-C3A9D3EF7457}"/>
              </a:ext>
            </a:extLst>
          </p:cNvPr>
          <p:cNvSpPr>
            <a:spLocks noGrp="1"/>
          </p:cNvSpPr>
          <p:nvPr>
            <p:ph type="sldNum" sz="quarter" idx="12"/>
          </p:nvPr>
        </p:nvSpPr>
        <p:spPr/>
        <p:txBody>
          <a:bodyPr/>
          <a:lstStyle/>
          <a:p>
            <a:fld id="{9DD0990C-240E-4F6D-96E9-50DBAF192F56}" type="slidenum">
              <a:rPr lang="ru-RU" smtClean="0"/>
              <a:t>4</a:t>
            </a:fld>
            <a:endParaRPr lang="ru-RU" dirty="0"/>
          </a:p>
        </p:txBody>
      </p:sp>
      <p:graphicFrame>
        <p:nvGraphicFramePr>
          <p:cNvPr id="5" name="Таблица 5">
            <a:extLst>
              <a:ext uri="{FF2B5EF4-FFF2-40B4-BE49-F238E27FC236}">
                <a16:creationId xmlns:a16="http://schemas.microsoft.com/office/drawing/2014/main" id="{C264DD16-FC40-0F82-9A59-A911BE91A4F6}"/>
              </a:ext>
            </a:extLst>
          </p:cNvPr>
          <p:cNvGraphicFramePr>
            <a:graphicFrameLocks noGrp="1"/>
          </p:cNvGraphicFramePr>
          <p:nvPr>
            <p:extLst>
              <p:ext uri="{D42A27DB-BD31-4B8C-83A1-F6EECF244321}">
                <p14:modId xmlns:p14="http://schemas.microsoft.com/office/powerpoint/2010/main" val="332979202"/>
              </p:ext>
            </p:extLst>
          </p:nvPr>
        </p:nvGraphicFramePr>
        <p:xfrm>
          <a:off x="441887" y="1402145"/>
          <a:ext cx="8522600" cy="3215640"/>
        </p:xfrm>
        <a:graphic>
          <a:graphicData uri="http://schemas.openxmlformats.org/drawingml/2006/table">
            <a:tbl>
              <a:tblPr firstRow="1" bandRow="1">
                <a:tableStyleId>{C4B1156A-380E-4F78-BDF5-A606A8083BF9}</a:tableStyleId>
              </a:tblPr>
              <a:tblGrid>
                <a:gridCol w="1704520">
                  <a:extLst>
                    <a:ext uri="{9D8B030D-6E8A-4147-A177-3AD203B41FA5}">
                      <a16:colId xmlns:a16="http://schemas.microsoft.com/office/drawing/2014/main" val="611090927"/>
                    </a:ext>
                  </a:extLst>
                </a:gridCol>
                <a:gridCol w="1704520">
                  <a:extLst>
                    <a:ext uri="{9D8B030D-6E8A-4147-A177-3AD203B41FA5}">
                      <a16:colId xmlns:a16="http://schemas.microsoft.com/office/drawing/2014/main" val="2321163282"/>
                    </a:ext>
                  </a:extLst>
                </a:gridCol>
                <a:gridCol w="1704520">
                  <a:extLst>
                    <a:ext uri="{9D8B030D-6E8A-4147-A177-3AD203B41FA5}">
                      <a16:colId xmlns:a16="http://schemas.microsoft.com/office/drawing/2014/main" val="627675985"/>
                    </a:ext>
                  </a:extLst>
                </a:gridCol>
                <a:gridCol w="1704520">
                  <a:extLst>
                    <a:ext uri="{9D8B030D-6E8A-4147-A177-3AD203B41FA5}">
                      <a16:colId xmlns:a16="http://schemas.microsoft.com/office/drawing/2014/main" val="1998655417"/>
                    </a:ext>
                  </a:extLst>
                </a:gridCol>
                <a:gridCol w="1704520">
                  <a:extLst>
                    <a:ext uri="{9D8B030D-6E8A-4147-A177-3AD203B41FA5}">
                      <a16:colId xmlns:a16="http://schemas.microsoft.com/office/drawing/2014/main" val="1888888089"/>
                    </a:ext>
                  </a:extLst>
                </a:gridCol>
              </a:tblGrid>
              <a:tr h="461758">
                <a:tc>
                  <a:txBody>
                    <a:bodyPr/>
                    <a:lstStyle/>
                    <a:p>
                      <a:pPr algn="ctr" rtl="0" fontAlgn="ctr"/>
                      <a:r>
                        <a:rPr lang="ru-RU" sz="1400" b="1" dirty="0">
                          <a:effectLst/>
                        </a:rPr>
                        <a:t>Сила / Оценка</a:t>
                      </a:r>
                    </a:p>
                  </a:txBody>
                  <a:tcPr marL="28575" marR="28575" marT="19050" marB="19050" anchor="ctr"/>
                </a:tc>
                <a:tc>
                  <a:txBody>
                    <a:bodyPr/>
                    <a:lstStyle/>
                    <a:p>
                      <a:pPr algn="ctr" rtl="0" fontAlgn="ctr"/>
                      <a:r>
                        <a:rPr lang="ru-RU" sz="1400" b="1" dirty="0">
                          <a:effectLst/>
                        </a:rPr>
                        <a:t>Выраженность риска</a:t>
                      </a:r>
                    </a:p>
                  </a:txBody>
                  <a:tcPr marL="28575" marR="28575" marT="19050" marB="19050" anchor="ctr"/>
                </a:tc>
                <a:tc>
                  <a:txBody>
                    <a:bodyPr/>
                    <a:lstStyle/>
                    <a:p>
                      <a:pPr algn="ctr" rtl="0" fontAlgn="ctr"/>
                      <a:r>
                        <a:rPr lang="ru-RU" sz="1400" b="1">
                          <a:effectLst/>
                        </a:rPr>
                        <a:t>Степень влияния</a:t>
                      </a:r>
                    </a:p>
                  </a:txBody>
                  <a:tcPr marL="28575" marR="28575" marT="19050" marB="19050" anchor="ctr"/>
                </a:tc>
                <a:tc>
                  <a:txBody>
                    <a:bodyPr/>
                    <a:lstStyle/>
                    <a:p>
                      <a:pPr algn="ctr" rtl="0" fontAlgn="ctr"/>
                      <a:r>
                        <a:rPr lang="ru-RU" sz="1400" b="1">
                          <a:effectLst/>
                        </a:rPr>
                        <a:t>Возможность решения</a:t>
                      </a:r>
                    </a:p>
                  </a:txBody>
                  <a:tcPr marL="28575" marR="28575" marT="19050" marB="19050" anchor="ctr"/>
                </a:tc>
                <a:tc>
                  <a:txBody>
                    <a:bodyPr/>
                    <a:lstStyle/>
                    <a:p>
                      <a:pPr algn="ctr" rtl="0" fontAlgn="ctr"/>
                      <a:r>
                        <a:rPr lang="ru-RU" sz="1400" b="1" dirty="0">
                          <a:effectLst/>
                        </a:rPr>
                        <a:t>Итоговый рейтинг</a:t>
                      </a:r>
                    </a:p>
                  </a:txBody>
                  <a:tcPr marL="28575" marR="28575" marT="19050" marB="19050" anchor="ctr"/>
                </a:tc>
                <a:extLst>
                  <a:ext uri="{0D108BD9-81ED-4DB2-BD59-A6C34878D82A}">
                    <a16:rowId xmlns:a16="http://schemas.microsoft.com/office/drawing/2014/main" val="1690100499"/>
                  </a:ext>
                </a:extLst>
              </a:tr>
              <a:tr h="370840">
                <a:tc>
                  <a:txBody>
                    <a:bodyPr/>
                    <a:lstStyle/>
                    <a:p>
                      <a:pPr rtl="0" fontAlgn="ctr"/>
                      <a:r>
                        <a:rPr lang="ru-RU" sz="1400" dirty="0">
                          <a:effectLst/>
                        </a:rPr>
                        <a:t>Давление поставщиков</a:t>
                      </a:r>
                    </a:p>
                  </a:txBody>
                  <a:tcPr marL="28575" marR="28575" marT="19050" marB="19050" anchor="ctr"/>
                </a:tc>
                <a:tc>
                  <a:txBody>
                    <a:bodyPr/>
                    <a:lstStyle/>
                    <a:p>
                      <a:endParaRPr lang="ru-RU" sz="1400" dirty="0"/>
                    </a:p>
                  </a:txBody>
                  <a:tcPr/>
                </a:tc>
                <a:tc>
                  <a:txBody>
                    <a:bodyPr/>
                    <a:lstStyle/>
                    <a:p>
                      <a:endParaRPr lang="ru-RU" sz="1400" dirty="0"/>
                    </a:p>
                  </a:txBody>
                  <a:tcPr/>
                </a:tc>
                <a:tc>
                  <a:txBody>
                    <a:bodyPr/>
                    <a:lstStyle/>
                    <a:p>
                      <a:endParaRPr lang="ru-RU" sz="1400"/>
                    </a:p>
                  </a:txBody>
                  <a:tcPr/>
                </a:tc>
                <a:tc>
                  <a:txBody>
                    <a:bodyPr/>
                    <a:lstStyle/>
                    <a:p>
                      <a:endParaRPr lang="ru-RU" sz="1400"/>
                    </a:p>
                  </a:txBody>
                  <a:tcPr/>
                </a:tc>
                <a:extLst>
                  <a:ext uri="{0D108BD9-81ED-4DB2-BD59-A6C34878D82A}">
                    <a16:rowId xmlns:a16="http://schemas.microsoft.com/office/drawing/2014/main" val="300364684"/>
                  </a:ext>
                </a:extLst>
              </a:tr>
              <a:tr h="370840">
                <a:tc>
                  <a:txBody>
                    <a:bodyPr/>
                    <a:lstStyle/>
                    <a:p>
                      <a:pPr rtl="0" fontAlgn="ctr"/>
                      <a:r>
                        <a:rPr lang="ru-RU" sz="1400" dirty="0">
                          <a:effectLst/>
                        </a:rPr>
                        <a:t>Давление покупателей</a:t>
                      </a:r>
                    </a:p>
                  </a:txBody>
                  <a:tcPr marL="28575" marR="28575" marT="19050" marB="19050" anchor="ctr"/>
                </a:tc>
                <a:tc>
                  <a:txBody>
                    <a:bodyPr/>
                    <a:lstStyle/>
                    <a:p>
                      <a:endParaRPr lang="ru-RU" sz="1400" dirty="0"/>
                    </a:p>
                  </a:txBody>
                  <a:tcPr/>
                </a:tc>
                <a:tc>
                  <a:txBody>
                    <a:bodyPr/>
                    <a:lstStyle/>
                    <a:p>
                      <a:endParaRPr lang="ru-RU" sz="1400" dirty="0"/>
                    </a:p>
                  </a:txBody>
                  <a:tcPr/>
                </a:tc>
                <a:tc>
                  <a:txBody>
                    <a:bodyPr/>
                    <a:lstStyle/>
                    <a:p>
                      <a:endParaRPr lang="ru-RU" sz="1400"/>
                    </a:p>
                  </a:txBody>
                  <a:tcPr/>
                </a:tc>
                <a:tc>
                  <a:txBody>
                    <a:bodyPr/>
                    <a:lstStyle/>
                    <a:p>
                      <a:endParaRPr lang="ru-RU" sz="1400"/>
                    </a:p>
                  </a:txBody>
                  <a:tcPr/>
                </a:tc>
                <a:extLst>
                  <a:ext uri="{0D108BD9-81ED-4DB2-BD59-A6C34878D82A}">
                    <a16:rowId xmlns:a16="http://schemas.microsoft.com/office/drawing/2014/main" val="1537244153"/>
                  </a:ext>
                </a:extLst>
              </a:tr>
              <a:tr h="370840">
                <a:tc>
                  <a:txBody>
                    <a:bodyPr/>
                    <a:lstStyle/>
                    <a:p>
                      <a:pPr rtl="0" fontAlgn="ctr"/>
                      <a:r>
                        <a:rPr lang="ru-RU" sz="1400">
                          <a:effectLst/>
                        </a:rPr>
                        <a:t>Давление действующих конкурентов</a:t>
                      </a:r>
                    </a:p>
                  </a:txBody>
                  <a:tcPr marL="28575" marR="28575" marT="19050" marB="19050" anchor="ctr"/>
                </a:tc>
                <a:tc>
                  <a:txBody>
                    <a:bodyPr/>
                    <a:lstStyle/>
                    <a:p>
                      <a:endParaRPr lang="ru-RU" sz="1400" dirty="0"/>
                    </a:p>
                  </a:txBody>
                  <a:tcPr/>
                </a:tc>
                <a:tc>
                  <a:txBody>
                    <a:bodyPr/>
                    <a:lstStyle/>
                    <a:p>
                      <a:endParaRPr lang="ru-RU" sz="1400" dirty="0"/>
                    </a:p>
                  </a:txBody>
                  <a:tcPr/>
                </a:tc>
                <a:tc>
                  <a:txBody>
                    <a:bodyPr/>
                    <a:lstStyle/>
                    <a:p>
                      <a:endParaRPr lang="ru-RU" sz="1400" dirty="0"/>
                    </a:p>
                  </a:txBody>
                  <a:tcPr/>
                </a:tc>
                <a:tc>
                  <a:txBody>
                    <a:bodyPr/>
                    <a:lstStyle/>
                    <a:p>
                      <a:endParaRPr lang="ru-RU" sz="1400"/>
                    </a:p>
                  </a:txBody>
                  <a:tcPr/>
                </a:tc>
                <a:extLst>
                  <a:ext uri="{0D108BD9-81ED-4DB2-BD59-A6C34878D82A}">
                    <a16:rowId xmlns:a16="http://schemas.microsoft.com/office/drawing/2014/main" val="3402292828"/>
                  </a:ext>
                </a:extLst>
              </a:tr>
              <a:tr h="370840">
                <a:tc>
                  <a:txBody>
                    <a:bodyPr/>
                    <a:lstStyle/>
                    <a:p>
                      <a:pPr rtl="0" fontAlgn="ctr"/>
                      <a:r>
                        <a:rPr lang="ru-RU" sz="1400">
                          <a:effectLst/>
                        </a:rPr>
                        <a:t>Угроза появления новых конкурентов</a:t>
                      </a:r>
                    </a:p>
                  </a:txBody>
                  <a:tcPr marL="28575" marR="28575" marT="19050" marB="19050" anchor="ctr"/>
                </a:tc>
                <a:tc>
                  <a:txBody>
                    <a:bodyPr/>
                    <a:lstStyle/>
                    <a:p>
                      <a:endParaRPr lang="ru-RU" sz="1400" dirty="0"/>
                    </a:p>
                  </a:txBody>
                  <a:tcPr/>
                </a:tc>
                <a:tc>
                  <a:txBody>
                    <a:bodyPr/>
                    <a:lstStyle/>
                    <a:p>
                      <a:endParaRPr lang="ru-RU" sz="1400"/>
                    </a:p>
                  </a:txBody>
                  <a:tcPr/>
                </a:tc>
                <a:tc>
                  <a:txBody>
                    <a:bodyPr/>
                    <a:lstStyle/>
                    <a:p>
                      <a:endParaRPr lang="ru-RU" sz="1400" dirty="0"/>
                    </a:p>
                  </a:txBody>
                  <a:tcPr/>
                </a:tc>
                <a:tc>
                  <a:txBody>
                    <a:bodyPr/>
                    <a:lstStyle/>
                    <a:p>
                      <a:endParaRPr lang="ru-RU" sz="1400" dirty="0"/>
                    </a:p>
                  </a:txBody>
                  <a:tcPr/>
                </a:tc>
                <a:extLst>
                  <a:ext uri="{0D108BD9-81ED-4DB2-BD59-A6C34878D82A}">
                    <a16:rowId xmlns:a16="http://schemas.microsoft.com/office/drawing/2014/main" val="759098032"/>
                  </a:ext>
                </a:extLst>
              </a:tr>
              <a:tr h="370840">
                <a:tc>
                  <a:txBody>
                    <a:bodyPr/>
                    <a:lstStyle/>
                    <a:p>
                      <a:pPr rtl="0" fontAlgn="ctr"/>
                      <a:r>
                        <a:rPr lang="ru-RU" sz="1400" dirty="0">
                          <a:effectLst/>
                        </a:rPr>
                        <a:t>Давление товаров-заменителей</a:t>
                      </a:r>
                    </a:p>
                  </a:txBody>
                  <a:tcPr marL="28575" marR="28575" marT="19050" marB="19050" anchor="ctr"/>
                </a:tc>
                <a:tc>
                  <a:txBody>
                    <a:bodyPr/>
                    <a:lstStyle/>
                    <a:p>
                      <a:endParaRPr lang="ru-RU" sz="1400"/>
                    </a:p>
                  </a:txBody>
                  <a:tcPr/>
                </a:tc>
                <a:tc>
                  <a:txBody>
                    <a:bodyPr/>
                    <a:lstStyle/>
                    <a:p>
                      <a:endParaRPr lang="ru-RU" sz="1400" dirty="0"/>
                    </a:p>
                  </a:txBody>
                  <a:tcPr/>
                </a:tc>
                <a:tc>
                  <a:txBody>
                    <a:bodyPr/>
                    <a:lstStyle/>
                    <a:p>
                      <a:endParaRPr lang="ru-RU" sz="1400" dirty="0"/>
                    </a:p>
                  </a:txBody>
                  <a:tcPr/>
                </a:tc>
                <a:tc>
                  <a:txBody>
                    <a:bodyPr/>
                    <a:lstStyle/>
                    <a:p>
                      <a:endParaRPr lang="ru-RU" sz="1400" dirty="0"/>
                    </a:p>
                  </a:txBody>
                  <a:tcPr/>
                </a:tc>
                <a:extLst>
                  <a:ext uri="{0D108BD9-81ED-4DB2-BD59-A6C34878D82A}">
                    <a16:rowId xmlns:a16="http://schemas.microsoft.com/office/drawing/2014/main" val="3949175821"/>
                  </a:ext>
                </a:extLst>
              </a:tr>
            </a:tbl>
          </a:graphicData>
        </a:graphic>
      </p:graphicFrame>
      <p:cxnSp>
        <p:nvCxnSpPr>
          <p:cNvPr id="6" name="Прямая соединительная линия 5">
            <a:extLst>
              <a:ext uri="{FF2B5EF4-FFF2-40B4-BE49-F238E27FC236}">
                <a16:creationId xmlns:a16="http://schemas.microsoft.com/office/drawing/2014/main" id="{59A89770-2830-61AD-9C14-3BB0AE9CA1B9}"/>
              </a:ext>
            </a:extLst>
          </p:cNvPr>
          <p:cNvCxnSpPr/>
          <p:nvPr/>
        </p:nvCxnSpPr>
        <p:spPr>
          <a:xfrm>
            <a:off x="683568" y="980728"/>
            <a:ext cx="69950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a:extLst>
              <a:ext uri="{FF2B5EF4-FFF2-40B4-BE49-F238E27FC236}">
                <a16:creationId xmlns:a16="http://schemas.microsoft.com/office/drawing/2014/main" id="{5089EB94-651E-93CE-AE3B-BCEF0A59FF6E}"/>
              </a:ext>
            </a:extLst>
          </p:cNvPr>
          <p:cNvCxnSpPr/>
          <p:nvPr/>
        </p:nvCxnSpPr>
        <p:spPr>
          <a:xfrm flipV="1">
            <a:off x="899592" y="476672"/>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Заголовок 2">
            <a:extLst>
              <a:ext uri="{FF2B5EF4-FFF2-40B4-BE49-F238E27FC236}">
                <a16:creationId xmlns:a16="http://schemas.microsoft.com/office/drawing/2014/main" id="{7F25504A-59D2-584E-3E1C-3537C3ECDBCD}"/>
              </a:ext>
            </a:extLst>
          </p:cNvPr>
          <p:cNvSpPr txBox="1">
            <a:spLocks/>
          </p:cNvSpPr>
          <p:nvPr/>
        </p:nvSpPr>
        <p:spPr>
          <a:xfrm>
            <a:off x="971600" y="476672"/>
            <a:ext cx="7725544" cy="504056"/>
          </a:xfrm>
          <a:prstGeom prst="rect">
            <a:avLst/>
          </a:prstGeom>
        </p:spPr>
        <p:txBody>
          <a:bodyPr vert="horz" lIns="91440" tIns="45720" rIns="91440" bIns="45720" rtlCol="0" anchor="ctr">
            <a:noAutofit/>
          </a:bodyPr>
          <a:lstStyle>
            <a:defPPr>
              <a:defRPr lang="ru-RU"/>
            </a:defPPr>
            <a:lvl1pPr>
              <a:spcBef>
                <a:spcPct val="0"/>
              </a:spcBef>
              <a:buNone/>
              <a:defRPr sz="2000" b="1">
                <a:solidFill>
                  <a:srgbClr val="000000"/>
                </a:solidFill>
                <a:latin typeface="Arial"/>
                <a:ea typeface="+mj-ea"/>
                <a:cs typeface="Arial"/>
              </a:defRPr>
            </a:lvl1pPr>
          </a:lstStyle>
          <a:p>
            <a:r>
              <a:rPr lang="ru-RU" dirty="0">
                <a:latin typeface="Gilroy Bold" pitchFamily="50" charset="-52"/>
              </a:rPr>
              <a:t>Экспресс-анализ «5 сил М. Портера»</a:t>
            </a:r>
          </a:p>
        </p:txBody>
      </p:sp>
      <p:sp>
        <p:nvSpPr>
          <p:cNvPr id="9" name="TextBox 8">
            <a:extLst>
              <a:ext uri="{FF2B5EF4-FFF2-40B4-BE49-F238E27FC236}">
                <a16:creationId xmlns:a16="http://schemas.microsoft.com/office/drawing/2014/main" id="{0E207ECD-3486-F5B4-C5F7-86CFD75A7B64}"/>
              </a:ext>
            </a:extLst>
          </p:cNvPr>
          <p:cNvSpPr txBox="1"/>
          <p:nvPr/>
        </p:nvSpPr>
        <p:spPr>
          <a:xfrm>
            <a:off x="441887" y="4540655"/>
            <a:ext cx="8784969" cy="369332"/>
          </a:xfrm>
          <a:prstGeom prst="rect">
            <a:avLst/>
          </a:prstGeom>
          <a:noFill/>
        </p:spPr>
        <p:txBody>
          <a:bodyPr wrap="square" rtlCol="0">
            <a:spAutoFit/>
          </a:bodyPr>
          <a:lstStyle/>
          <a:p>
            <a:r>
              <a:rPr lang="ru-RU" b="1" dirty="0">
                <a:effectLst>
                  <a:outerShdw blurRad="38100" dist="38100" dir="2700000" algn="tl">
                    <a:srgbClr val="000000">
                      <a:alpha val="43137"/>
                    </a:srgbClr>
                  </a:outerShdw>
                </a:effectLst>
              </a:rPr>
              <a:t>Итоговый рейтинг = Выраженность риска + степень влияния – возможность решения</a:t>
            </a:r>
          </a:p>
        </p:txBody>
      </p:sp>
      <p:sp>
        <p:nvSpPr>
          <p:cNvPr id="10" name="TextBox 9">
            <a:extLst>
              <a:ext uri="{FF2B5EF4-FFF2-40B4-BE49-F238E27FC236}">
                <a16:creationId xmlns:a16="http://schemas.microsoft.com/office/drawing/2014/main" id="{E6ACF819-CB26-8EDD-EA24-43E782B5CC61}"/>
              </a:ext>
            </a:extLst>
          </p:cNvPr>
          <p:cNvSpPr txBox="1"/>
          <p:nvPr/>
        </p:nvSpPr>
        <p:spPr>
          <a:xfrm>
            <a:off x="3059833" y="5182448"/>
            <a:ext cx="5616624" cy="646331"/>
          </a:xfrm>
          <a:prstGeom prst="rect">
            <a:avLst/>
          </a:prstGeom>
          <a:noFill/>
        </p:spPr>
        <p:txBody>
          <a:bodyPr wrap="square" rtlCol="0">
            <a:spAutoFit/>
          </a:bodyPr>
          <a:lstStyle/>
          <a:p>
            <a:r>
              <a:rPr lang="ru-RU"/>
              <a:t>В первый столбец выпишите все 5 сил, а в соседних трёх оцените их выраженность по 10-балльной шкале:</a:t>
            </a:r>
            <a:endParaRPr lang="ru-RU" dirty="0"/>
          </a:p>
        </p:txBody>
      </p:sp>
    </p:spTree>
    <p:extLst>
      <p:ext uri="{BB962C8B-B14F-4D97-AF65-F5344CB8AC3E}">
        <p14:creationId xmlns:p14="http://schemas.microsoft.com/office/powerpoint/2010/main" val="198808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1DAC1BFC-56EA-A236-3419-C3A9D3EF7457}"/>
              </a:ext>
            </a:extLst>
          </p:cNvPr>
          <p:cNvSpPr>
            <a:spLocks noGrp="1"/>
          </p:cNvSpPr>
          <p:nvPr>
            <p:ph type="sldNum" sz="quarter" idx="12"/>
          </p:nvPr>
        </p:nvSpPr>
        <p:spPr/>
        <p:txBody>
          <a:bodyPr/>
          <a:lstStyle/>
          <a:p>
            <a:fld id="{9DD0990C-240E-4F6D-96E9-50DBAF192F56}" type="slidenum">
              <a:rPr lang="ru-RU" smtClean="0"/>
              <a:t>5</a:t>
            </a:fld>
            <a:endParaRPr lang="ru-RU" dirty="0"/>
          </a:p>
        </p:txBody>
      </p:sp>
      <p:graphicFrame>
        <p:nvGraphicFramePr>
          <p:cNvPr id="5" name="Таблица 5">
            <a:extLst>
              <a:ext uri="{FF2B5EF4-FFF2-40B4-BE49-F238E27FC236}">
                <a16:creationId xmlns:a16="http://schemas.microsoft.com/office/drawing/2014/main" id="{C264DD16-FC40-0F82-9A59-A911BE91A4F6}"/>
              </a:ext>
            </a:extLst>
          </p:cNvPr>
          <p:cNvGraphicFramePr>
            <a:graphicFrameLocks noGrp="1"/>
          </p:cNvGraphicFramePr>
          <p:nvPr>
            <p:extLst>
              <p:ext uri="{D42A27DB-BD31-4B8C-83A1-F6EECF244321}">
                <p14:modId xmlns:p14="http://schemas.microsoft.com/office/powerpoint/2010/main" val="1235168155"/>
              </p:ext>
            </p:extLst>
          </p:nvPr>
        </p:nvGraphicFramePr>
        <p:xfrm>
          <a:off x="441887" y="1402145"/>
          <a:ext cx="8522600" cy="3215640"/>
        </p:xfrm>
        <a:graphic>
          <a:graphicData uri="http://schemas.openxmlformats.org/drawingml/2006/table">
            <a:tbl>
              <a:tblPr firstRow="1" bandRow="1">
                <a:tableStyleId>{C4B1156A-380E-4F78-BDF5-A606A8083BF9}</a:tableStyleId>
              </a:tblPr>
              <a:tblGrid>
                <a:gridCol w="1704520">
                  <a:extLst>
                    <a:ext uri="{9D8B030D-6E8A-4147-A177-3AD203B41FA5}">
                      <a16:colId xmlns:a16="http://schemas.microsoft.com/office/drawing/2014/main" val="611090927"/>
                    </a:ext>
                  </a:extLst>
                </a:gridCol>
                <a:gridCol w="1704520">
                  <a:extLst>
                    <a:ext uri="{9D8B030D-6E8A-4147-A177-3AD203B41FA5}">
                      <a16:colId xmlns:a16="http://schemas.microsoft.com/office/drawing/2014/main" val="2321163282"/>
                    </a:ext>
                  </a:extLst>
                </a:gridCol>
                <a:gridCol w="1704520">
                  <a:extLst>
                    <a:ext uri="{9D8B030D-6E8A-4147-A177-3AD203B41FA5}">
                      <a16:colId xmlns:a16="http://schemas.microsoft.com/office/drawing/2014/main" val="627675985"/>
                    </a:ext>
                  </a:extLst>
                </a:gridCol>
                <a:gridCol w="1704520">
                  <a:extLst>
                    <a:ext uri="{9D8B030D-6E8A-4147-A177-3AD203B41FA5}">
                      <a16:colId xmlns:a16="http://schemas.microsoft.com/office/drawing/2014/main" val="1998655417"/>
                    </a:ext>
                  </a:extLst>
                </a:gridCol>
                <a:gridCol w="1704520">
                  <a:extLst>
                    <a:ext uri="{9D8B030D-6E8A-4147-A177-3AD203B41FA5}">
                      <a16:colId xmlns:a16="http://schemas.microsoft.com/office/drawing/2014/main" val="1888888089"/>
                    </a:ext>
                  </a:extLst>
                </a:gridCol>
              </a:tblGrid>
              <a:tr h="461758">
                <a:tc>
                  <a:txBody>
                    <a:bodyPr/>
                    <a:lstStyle/>
                    <a:p>
                      <a:pPr algn="ctr" rtl="0" fontAlgn="ctr"/>
                      <a:r>
                        <a:rPr lang="ru-RU" sz="1400" b="1" dirty="0">
                          <a:effectLst/>
                        </a:rPr>
                        <a:t>Сила / Оценка</a:t>
                      </a:r>
                    </a:p>
                  </a:txBody>
                  <a:tcPr marL="28575" marR="28575" marT="19050" marB="19050" anchor="ctr"/>
                </a:tc>
                <a:tc>
                  <a:txBody>
                    <a:bodyPr/>
                    <a:lstStyle/>
                    <a:p>
                      <a:pPr algn="ctr" rtl="0" fontAlgn="ctr"/>
                      <a:r>
                        <a:rPr lang="ru-RU" sz="1400" b="1" dirty="0">
                          <a:effectLst/>
                        </a:rPr>
                        <a:t>Выраженность риска</a:t>
                      </a:r>
                    </a:p>
                  </a:txBody>
                  <a:tcPr marL="28575" marR="28575" marT="19050" marB="19050" anchor="ctr"/>
                </a:tc>
                <a:tc>
                  <a:txBody>
                    <a:bodyPr/>
                    <a:lstStyle/>
                    <a:p>
                      <a:pPr algn="ctr" rtl="0" fontAlgn="ctr"/>
                      <a:r>
                        <a:rPr lang="ru-RU" sz="1400" b="1">
                          <a:effectLst/>
                        </a:rPr>
                        <a:t>Степень влияния</a:t>
                      </a:r>
                    </a:p>
                  </a:txBody>
                  <a:tcPr marL="28575" marR="28575" marT="19050" marB="19050" anchor="ctr"/>
                </a:tc>
                <a:tc>
                  <a:txBody>
                    <a:bodyPr/>
                    <a:lstStyle/>
                    <a:p>
                      <a:pPr algn="ctr" rtl="0" fontAlgn="ctr"/>
                      <a:r>
                        <a:rPr lang="ru-RU" sz="1400" b="1">
                          <a:effectLst/>
                        </a:rPr>
                        <a:t>Возможность решения</a:t>
                      </a:r>
                    </a:p>
                  </a:txBody>
                  <a:tcPr marL="28575" marR="28575" marT="19050" marB="19050" anchor="ctr"/>
                </a:tc>
                <a:tc>
                  <a:txBody>
                    <a:bodyPr/>
                    <a:lstStyle/>
                    <a:p>
                      <a:pPr algn="ctr" rtl="0" fontAlgn="ctr"/>
                      <a:r>
                        <a:rPr lang="ru-RU" sz="1400" b="1" dirty="0">
                          <a:effectLst/>
                        </a:rPr>
                        <a:t>Итоговый рейтинг</a:t>
                      </a:r>
                    </a:p>
                  </a:txBody>
                  <a:tcPr marL="28575" marR="28575" marT="19050" marB="19050" anchor="ctr"/>
                </a:tc>
                <a:extLst>
                  <a:ext uri="{0D108BD9-81ED-4DB2-BD59-A6C34878D82A}">
                    <a16:rowId xmlns:a16="http://schemas.microsoft.com/office/drawing/2014/main" val="1690100499"/>
                  </a:ext>
                </a:extLst>
              </a:tr>
              <a:tr h="370840">
                <a:tc>
                  <a:txBody>
                    <a:bodyPr/>
                    <a:lstStyle/>
                    <a:p>
                      <a:pPr rtl="0" fontAlgn="ctr"/>
                      <a:r>
                        <a:rPr lang="ru-RU" sz="1400" dirty="0">
                          <a:effectLst/>
                        </a:rPr>
                        <a:t>Давление поставщиков</a:t>
                      </a:r>
                    </a:p>
                  </a:txBody>
                  <a:tcPr marL="28575" marR="28575" marT="19050" marB="19050" anchor="ctr"/>
                </a:tc>
                <a:tc>
                  <a:txBody>
                    <a:bodyPr/>
                    <a:lstStyle/>
                    <a:p>
                      <a:pPr algn="ctr"/>
                      <a:r>
                        <a:rPr lang="ru-RU" sz="1400" dirty="0"/>
                        <a:t>7</a:t>
                      </a:r>
                    </a:p>
                  </a:txBody>
                  <a:tcPr/>
                </a:tc>
                <a:tc>
                  <a:txBody>
                    <a:bodyPr/>
                    <a:lstStyle/>
                    <a:p>
                      <a:pPr algn="ctr"/>
                      <a:r>
                        <a:rPr lang="ru-RU" sz="1400" dirty="0"/>
                        <a:t>4</a:t>
                      </a:r>
                    </a:p>
                  </a:txBody>
                  <a:tcPr/>
                </a:tc>
                <a:tc>
                  <a:txBody>
                    <a:bodyPr/>
                    <a:lstStyle/>
                    <a:p>
                      <a:pPr algn="ctr"/>
                      <a:r>
                        <a:rPr lang="ru-RU" sz="1400" dirty="0"/>
                        <a:t>3</a:t>
                      </a:r>
                    </a:p>
                  </a:txBody>
                  <a:tcPr/>
                </a:tc>
                <a:tc>
                  <a:txBody>
                    <a:bodyPr/>
                    <a:lstStyle/>
                    <a:p>
                      <a:pPr algn="ctr"/>
                      <a:r>
                        <a:rPr lang="ru-RU" sz="1400"/>
                        <a:t>8</a:t>
                      </a:r>
                      <a:endParaRPr lang="ru-RU" sz="1400" dirty="0"/>
                    </a:p>
                  </a:txBody>
                  <a:tcPr/>
                </a:tc>
                <a:extLst>
                  <a:ext uri="{0D108BD9-81ED-4DB2-BD59-A6C34878D82A}">
                    <a16:rowId xmlns:a16="http://schemas.microsoft.com/office/drawing/2014/main" val="300364684"/>
                  </a:ext>
                </a:extLst>
              </a:tr>
              <a:tr h="370840">
                <a:tc>
                  <a:txBody>
                    <a:bodyPr/>
                    <a:lstStyle/>
                    <a:p>
                      <a:pPr rtl="0" fontAlgn="ctr"/>
                      <a:r>
                        <a:rPr lang="ru-RU" sz="1400" dirty="0">
                          <a:effectLst/>
                        </a:rPr>
                        <a:t>Давление покупателей</a:t>
                      </a:r>
                    </a:p>
                  </a:txBody>
                  <a:tcPr marL="28575" marR="28575" marT="19050" marB="19050" anchor="ctr"/>
                </a:tc>
                <a:tc>
                  <a:txBody>
                    <a:bodyPr/>
                    <a:lstStyle/>
                    <a:p>
                      <a:pPr algn="ctr"/>
                      <a:r>
                        <a:rPr lang="ru-RU" sz="1400" dirty="0"/>
                        <a:t>5</a:t>
                      </a:r>
                    </a:p>
                  </a:txBody>
                  <a:tcPr/>
                </a:tc>
                <a:tc>
                  <a:txBody>
                    <a:bodyPr/>
                    <a:lstStyle/>
                    <a:p>
                      <a:pPr algn="ctr"/>
                      <a:r>
                        <a:rPr lang="ru-RU" sz="1400" dirty="0"/>
                        <a:t>7</a:t>
                      </a:r>
                    </a:p>
                  </a:txBody>
                  <a:tcPr/>
                </a:tc>
                <a:tc>
                  <a:txBody>
                    <a:bodyPr/>
                    <a:lstStyle/>
                    <a:p>
                      <a:pPr algn="ctr"/>
                      <a:r>
                        <a:rPr lang="ru-RU" sz="1400" dirty="0"/>
                        <a:t>4</a:t>
                      </a:r>
                    </a:p>
                  </a:txBody>
                  <a:tcPr/>
                </a:tc>
                <a:tc>
                  <a:txBody>
                    <a:bodyPr/>
                    <a:lstStyle/>
                    <a:p>
                      <a:pPr algn="ctr"/>
                      <a:r>
                        <a:rPr lang="ru-RU" sz="1400" dirty="0"/>
                        <a:t>8</a:t>
                      </a:r>
                    </a:p>
                  </a:txBody>
                  <a:tcPr/>
                </a:tc>
                <a:extLst>
                  <a:ext uri="{0D108BD9-81ED-4DB2-BD59-A6C34878D82A}">
                    <a16:rowId xmlns:a16="http://schemas.microsoft.com/office/drawing/2014/main" val="1537244153"/>
                  </a:ext>
                </a:extLst>
              </a:tr>
              <a:tr h="370840">
                <a:tc>
                  <a:txBody>
                    <a:bodyPr/>
                    <a:lstStyle/>
                    <a:p>
                      <a:pPr rtl="0" fontAlgn="ctr"/>
                      <a:r>
                        <a:rPr lang="ru-RU" sz="1400">
                          <a:effectLst/>
                        </a:rPr>
                        <a:t>Давление действующих конкурентов</a:t>
                      </a:r>
                    </a:p>
                  </a:txBody>
                  <a:tcPr marL="28575" marR="28575" marT="19050" marB="19050" anchor="ctr"/>
                </a:tc>
                <a:tc>
                  <a:txBody>
                    <a:bodyPr/>
                    <a:lstStyle/>
                    <a:p>
                      <a:pPr algn="ctr"/>
                      <a:r>
                        <a:rPr lang="ru-RU" sz="1400" dirty="0"/>
                        <a:t>6</a:t>
                      </a:r>
                    </a:p>
                  </a:txBody>
                  <a:tcPr/>
                </a:tc>
                <a:tc>
                  <a:txBody>
                    <a:bodyPr/>
                    <a:lstStyle/>
                    <a:p>
                      <a:pPr algn="ctr"/>
                      <a:r>
                        <a:rPr lang="ru-RU" sz="1400" dirty="0"/>
                        <a:t>1</a:t>
                      </a:r>
                    </a:p>
                  </a:txBody>
                  <a:tcPr/>
                </a:tc>
                <a:tc>
                  <a:txBody>
                    <a:bodyPr/>
                    <a:lstStyle/>
                    <a:p>
                      <a:pPr algn="ctr"/>
                      <a:r>
                        <a:rPr lang="ru-RU" sz="1400" dirty="0"/>
                        <a:t>1</a:t>
                      </a:r>
                    </a:p>
                  </a:txBody>
                  <a:tcPr/>
                </a:tc>
                <a:tc>
                  <a:txBody>
                    <a:bodyPr/>
                    <a:lstStyle/>
                    <a:p>
                      <a:pPr algn="ctr"/>
                      <a:r>
                        <a:rPr lang="ru-RU" sz="1400" dirty="0"/>
                        <a:t>6</a:t>
                      </a:r>
                    </a:p>
                  </a:txBody>
                  <a:tcPr/>
                </a:tc>
                <a:extLst>
                  <a:ext uri="{0D108BD9-81ED-4DB2-BD59-A6C34878D82A}">
                    <a16:rowId xmlns:a16="http://schemas.microsoft.com/office/drawing/2014/main" val="3402292828"/>
                  </a:ext>
                </a:extLst>
              </a:tr>
              <a:tr h="370840">
                <a:tc>
                  <a:txBody>
                    <a:bodyPr/>
                    <a:lstStyle/>
                    <a:p>
                      <a:pPr rtl="0" fontAlgn="ctr"/>
                      <a:r>
                        <a:rPr lang="ru-RU" sz="1400">
                          <a:effectLst/>
                        </a:rPr>
                        <a:t>Угроза появления новых конкурентов</a:t>
                      </a:r>
                    </a:p>
                  </a:txBody>
                  <a:tcPr marL="28575" marR="28575" marT="19050" marB="19050" anchor="ctr"/>
                </a:tc>
                <a:tc>
                  <a:txBody>
                    <a:bodyPr/>
                    <a:lstStyle/>
                    <a:p>
                      <a:pPr algn="ctr"/>
                      <a:r>
                        <a:rPr lang="ru-RU" sz="1400" dirty="0"/>
                        <a:t>1</a:t>
                      </a:r>
                    </a:p>
                  </a:txBody>
                  <a:tcPr/>
                </a:tc>
                <a:tc>
                  <a:txBody>
                    <a:bodyPr/>
                    <a:lstStyle/>
                    <a:p>
                      <a:pPr algn="ctr"/>
                      <a:r>
                        <a:rPr lang="ru-RU" sz="1400" dirty="0"/>
                        <a:t>5</a:t>
                      </a:r>
                    </a:p>
                  </a:txBody>
                  <a:tcPr/>
                </a:tc>
                <a:tc>
                  <a:txBody>
                    <a:bodyPr/>
                    <a:lstStyle/>
                    <a:p>
                      <a:pPr algn="ctr"/>
                      <a:r>
                        <a:rPr lang="ru-RU" sz="1400" dirty="0"/>
                        <a:t>5</a:t>
                      </a:r>
                    </a:p>
                  </a:txBody>
                  <a:tcPr/>
                </a:tc>
                <a:tc>
                  <a:txBody>
                    <a:bodyPr/>
                    <a:lstStyle/>
                    <a:p>
                      <a:pPr algn="ctr"/>
                      <a:r>
                        <a:rPr lang="ru-RU" sz="1400" dirty="0"/>
                        <a:t>1</a:t>
                      </a:r>
                    </a:p>
                  </a:txBody>
                  <a:tcPr/>
                </a:tc>
                <a:extLst>
                  <a:ext uri="{0D108BD9-81ED-4DB2-BD59-A6C34878D82A}">
                    <a16:rowId xmlns:a16="http://schemas.microsoft.com/office/drawing/2014/main" val="759098032"/>
                  </a:ext>
                </a:extLst>
              </a:tr>
              <a:tr h="370840">
                <a:tc>
                  <a:txBody>
                    <a:bodyPr/>
                    <a:lstStyle/>
                    <a:p>
                      <a:pPr rtl="0" fontAlgn="ctr"/>
                      <a:r>
                        <a:rPr lang="ru-RU" sz="1400" dirty="0">
                          <a:effectLst/>
                        </a:rPr>
                        <a:t>Давление товаров-заменителей</a:t>
                      </a:r>
                    </a:p>
                  </a:txBody>
                  <a:tcPr marL="28575" marR="28575" marT="19050" marB="19050" anchor="ctr"/>
                </a:tc>
                <a:tc>
                  <a:txBody>
                    <a:bodyPr/>
                    <a:lstStyle/>
                    <a:p>
                      <a:pPr algn="ctr"/>
                      <a:r>
                        <a:rPr lang="ru-RU" sz="1400" dirty="0"/>
                        <a:t>4</a:t>
                      </a:r>
                    </a:p>
                  </a:txBody>
                  <a:tcPr/>
                </a:tc>
                <a:tc>
                  <a:txBody>
                    <a:bodyPr/>
                    <a:lstStyle/>
                    <a:p>
                      <a:pPr algn="ctr"/>
                      <a:r>
                        <a:rPr lang="ru-RU" sz="1400" dirty="0"/>
                        <a:t>2</a:t>
                      </a:r>
                    </a:p>
                  </a:txBody>
                  <a:tcPr/>
                </a:tc>
                <a:tc>
                  <a:txBody>
                    <a:bodyPr/>
                    <a:lstStyle/>
                    <a:p>
                      <a:pPr algn="ctr"/>
                      <a:r>
                        <a:rPr lang="ru-RU" sz="1400" dirty="0"/>
                        <a:t>3</a:t>
                      </a:r>
                    </a:p>
                  </a:txBody>
                  <a:tcPr/>
                </a:tc>
                <a:tc>
                  <a:txBody>
                    <a:bodyPr/>
                    <a:lstStyle/>
                    <a:p>
                      <a:pPr algn="ctr"/>
                      <a:r>
                        <a:rPr lang="ru-RU" sz="1400" dirty="0"/>
                        <a:t>3</a:t>
                      </a:r>
                    </a:p>
                  </a:txBody>
                  <a:tcPr/>
                </a:tc>
                <a:extLst>
                  <a:ext uri="{0D108BD9-81ED-4DB2-BD59-A6C34878D82A}">
                    <a16:rowId xmlns:a16="http://schemas.microsoft.com/office/drawing/2014/main" val="3949175821"/>
                  </a:ext>
                </a:extLst>
              </a:tr>
            </a:tbl>
          </a:graphicData>
        </a:graphic>
      </p:graphicFrame>
      <p:cxnSp>
        <p:nvCxnSpPr>
          <p:cNvPr id="6" name="Прямая соединительная линия 5">
            <a:extLst>
              <a:ext uri="{FF2B5EF4-FFF2-40B4-BE49-F238E27FC236}">
                <a16:creationId xmlns:a16="http://schemas.microsoft.com/office/drawing/2014/main" id="{59A89770-2830-61AD-9C14-3BB0AE9CA1B9}"/>
              </a:ext>
            </a:extLst>
          </p:cNvPr>
          <p:cNvCxnSpPr/>
          <p:nvPr/>
        </p:nvCxnSpPr>
        <p:spPr>
          <a:xfrm>
            <a:off x="683568" y="980728"/>
            <a:ext cx="69950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a:extLst>
              <a:ext uri="{FF2B5EF4-FFF2-40B4-BE49-F238E27FC236}">
                <a16:creationId xmlns:a16="http://schemas.microsoft.com/office/drawing/2014/main" id="{5089EB94-651E-93CE-AE3B-BCEF0A59FF6E}"/>
              </a:ext>
            </a:extLst>
          </p:cNvPr>
          <p:cNvCxnSpPr/>
          <p:nvPr/>
        </p:nvCxnSpPr>
        <p:spPr>
          <a:xfrm flipV="1">
            <a:off x="899592" y="476672"/>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Заголовок 2">
            <a:extLst>
              <a:ext uri="{FF2B5EF4-FFF2-40B4-BE49-F238E27FC236}">
                <a16:creationId xmlns:a16="http://schemas.microsoft.com/office/drawing/2014/main" id="{7F25504A-59D2-584E-3E1C-3537C3ECDBCD}"/>
              </a:ext>
            </a:extLst>
          </p:cNvPr>
          <p:cNvSpPr txBox="1">
            <a:spLocks/>
          </p:cNvSpPr>
          <p:nvPr/>
        </p:nvSpPr>
        <p:spPr>
          <a:xfrm>
            <a:off x="971600" y="476672"/>
            <a:ext cx="7725544" cy="504056"/>
          </a:xfrm>
          <a:prstGeom prst="rect">
            <a:avLst/>
          </a:prstGeom>
        </p:spPr>
        <p:txBody>
          <a:bodyPr vert="horz" lIns="91440" tIns="45720" rIns="91440" bIns="45720" rtlCol="0" anchor="ctr">
            <a:noAutofit/>
          </a:bodyPr>
          <a:lstStyle>
            <a:defPPr>
              <a:defRPr lang="ru-RU"/>
            </a:defPPr>
            <a:lvl1pPr>
              <a:spcBef>
                <a:spcPct val="0"/>
              </a:spcBef>
              <a:buNone/>
              <a:defRPr sz="2000" b="1">
                <a:solidFill>
                  <a:srgbClr val="000000"/>
                </a:solidFill>
                <a:latin typeface="Arial"/>
                <a:ea typeface="+mj-ea"/>
                <a:cs typeface="Arial"/>
              </a:defRPr>
            </a:lvl1pPr>
          </a:lstStyle>
          <a:p>
            <a:r>
              <a:rPr lang="ru-RU" dirty="0">
                <a:latin typeface="Gilroy Bold" pitchFamily="50" charset="-52"/>
              </a:rPr>
              <a:t>Экспресс-анализ «5 сил М. Портера»</a:t>
            </a:r>
          </a:p>
        </p:txBody>
      </p:sp>
      <p:sp>
        <p:nvSpPr>
          <p:cNvPr id="9" name="TextBox 8">
            <a:extLst>
              <a:ext uri="{FF2B5EF4-FFF2-40B4-BE49-F238E27FC236}">
                <a16:creationId xmlns:a16="http://schemas.microsoft.com/office/drawing/2014/main" id="{0E207ECD-3486-F5B4-C5F7-86CFD75A7B64}"/>
              </a:ext>
            </a:extLst>
          </p:cNvPr>
          <p:cNvSpPr txBox="1"/>
          <p:nvPr/>
        </p:nvSpPr>
        <p:spPr>
          <a:xfrm>
            <a:off x="441887" y="4540655"/>
            <a:ext cx="8784969" cy="369332"/>
          </a:xfrm>
          <a:prstGeom prst="rect">
            <a:avLst/>
          </a:prstGeom>
          <a:noFill/>
        </p:spPr>
        <p:txBody>
          <a:bodyPr wrap="square" rtlCol="0">
            <a:spAutoFit/>
          </a:bodyPr>
          <a:lstStyle/>
          <a:p>
            <a:r>
              <a:rPr lang="ru-RU" b="1" dirty="0">
                <a:effectLst>
                  <a:outerShdw blurRad="38100" dist="38100" dir="2700000" algn="tl">
                    <a:srgbClr val="000000">
                      <a:alpha val="43137"/>
                    </a:srgbClr>
                  </a:outerShdw>
                </a:effectLst>
              </a:rPr>
              <a:t>Итоговый рейтинг = Выраженность риска + степень влияния – возможность решения</a:t>
            </a:r>
          </a:p>
        </p:txBody>
      </p:sp>
      <p:sp>
        <p:nvSpPr>
          <p:cNvPr id="10" name="TextBox 9">
            <a:extLst>
              <a:ext uri="{FF2B5EF4-FFF2-40B4-BE49-F238E27FC236}">
                <a16:creationId xmlns:a16="http://schemas.microsoft.com/office/drawing/2014/main" id="{E6ACF819-CB26-8EDD-EA24-43E782B5CC61}"/>
              </a:ext>
            </a:extLst>
          </p:cNvPr>
          <p:cNvSpPr txBox="1"/>
          <p:nvPr/>
        </p:nvSpPr>
        <p:spPr>
          <a:xfrm>
            <a:off x="3059833" y="5182448"/>
            <a:ext cx="5616624" cy="646331"/>
          </a:xfrm>
          <a:prstGeom prst="rect">
            <a:avLst/>
          </a:prstGeom>
          <a:noFill/>
        </p:spPr>
        <p:txBody>
          <a:bodyPr wrap="square" rtlCol="0">
            <a:spAutoFit/>
          </a:bodyPr>
          <a:lstStyle/>
          <a:p>
            <a:r>
              <a:rPr lang="ru-RU"/>
              <a:t>В первый столбец выпишите все 5 сил, а в соседних трёх оцените их выраженность по 10-балльной шкале:</a:t>
            </a:r>
            <a:endParaRPr lang="ru-RU" dirty="0"/>
          </a:p>
        </p:txBody>
      </p:sp>
      <p:sp>
        <p:nvSpPr>
          <p:cNvPr id="2" name="Знак ''плюс'' 1">
            <a:extLst>
              <a:ext uri="{FF2B5EF4-FFF2-40B4-BE49-F238E27FC236}">
                <a16:creationId xmlns:a16="http://schemas.microsoft.com/office/drawing/2014/main" id="{1402A4B5-3A1F-3B54-C39C-F9579ABFA752}"/>
              </a:ext>
            </a:extLst>
          </p:cNvPr>
          <p:cNvSpPr/>
          <p:nvPr/>
        </p:nvSpPr>
        <p:spPr>
          <a:xfrm>
            <a:off x="3635896" y="1844824"/>
            <a:ext cx="432048" cy="504056"/>
          </a:xfrm>
          <a:prstGeom prst="mathPlus">
            <a:avLst/>
          </a:prstGeom>
          <a:solidFill>
            <a:srgbClr val="C00000">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3" name="Знак ''плюс'' 12">
            <a:extLst>
              <a:ext uri="{FF2B5EF4-FFF2-40B4-BE49-F238E27FC236}">
                <a16:creationId xmlns:a16="http://schemas.microsoft.com/office/drawing/2014/main" id="{72A00209-34B5-F84D-6A2C-11B9254178D8}"/>
              </a:ext>
            </a:extLst>
          </p:cNvPr>
          <p:cNvSpPr/>
          <p:nvPr/>
        </p:nvSpPr>
        <p:spPr>
          <a:xfrm>
            <a:off x="3638563" y="2315977"/>
            <a:ext cx="432048" cy="504056"/>
          </a:xfrm>
          <a:prstGeom prst="mathPlus">
            <a:avLst/>
          </a:prstGeom>
          <a:solidFill>
            <a:srgbClr val="C00000">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4" name="Знак ''плюс'' 13">
            <a:extLst>
              <a:ext uri="{FF2B5EF4-FFF2-40B4-BE49-F238E27FC236}">
                <a16:creationId xmlns:a16="http://schemas.microsoft.com/office/drawing/2014/main" id="{C434E752-BD1E-D107-8443-A47D8372F374}"/>
              </a:ext>
            </a:extLst>
          </p:cNvPr>
          <p:cNvSpPr/>
          <p:nvPr/>
        </p:nvSpPr>
        <p:spPr>
          <a:xfrm>
            <a:off x="3632953" y="2899482"/>
            <a:ext cx="432048" cy="504056"/>
          </a:xfrm>
          <a:prstGeom prst="mathPlus">
            <a:avLst/>
          </a:prstGeom>
          <a:solidFill>
            <a:srgbClr val="C00000">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5" name="Знак ''плюс'' 14">
            <a:extLst>
              <a:ext uri="{FF2B5EF4-FFF2-40B4-BE49-F238E27FC236}">
                <a16:creationId xmlns:a16="http://schemas.microsoft.com/office/drawing/2014/main" id="{81D61C1E-0EB9-F5FB-072B-5EBC391DD865}"/>
              </a:ext>
            </a:extLst>
          </p:cNvPr>
          <p:cNvSpPr/>
          <p:nvPr/>
        </p:nvSpPr>
        <p:spPr>
          <a:xfrm>
            <a:off x="3632953" y="3454463"/>
            <a:ext cx="432048" cy="504056"/>
          </a:xfrm>
          <a:prstGeom prst="mathPlus">
            <a:avLst/>
          </a:prstGeom>
          <a:solidFill>
            <a:srgbClr val="C00000">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6" name="Знак ''плюс'' 15">
            <a:extLst>
              <a:ext uri="{FF2B5EF4-FFF2-40B4-BE49-F238E27FC236}">
                <a16:creationId xmlns:a16="http://schemas.microsoft.com/office/drawing/2014/main" id="{AE123888-D6FE-1EDE-9194-AD10D38DBA56}"/>
              </a:ext>
            </a:extLst>
          </p:cNvPr>
          <p:cNvSpPr/>
          <p:nvPr/>
        </p:nvSpPr>
        <p:spPr>
          <a:xfrm>
            <a:off x="3632953" y="3912126"/>
            <a:ext cx="432048" cy="504056"/>
          </a:xfrm>
          <a:prstGeom prst="mathPlus">
            <a:avLst/>
          </a:prstGeom>
          <a:solidFill>
            <a:srgbClr val="C00000">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7" name="Знак ''минус'' 16">
            <a:extLst>
              <a:ext uri="{FF2B5EF4-FFF2-40B4-BE49-F238E27FC236}">
                <a16:creationId xmlns:a16="http://schemas.microsoft.com/office/drawing/2014/main" id="{C8063C40-7AF7-D193-CC51-DDA87FF01251}"/>
              </a:ext>
            </a:extLst>
          </p:cNvPr>
          <p:cNvSpPr/>
          <p:nvPr/>
        </p:nvSpPr>
        <p:spPr>
          <a:xfrm>
            <a:off x="5364088" y="1952836"/>
            <a:ext cx="360040" cy="288032"/>
          </a:xfrm>
          <a:prstGeom prst="mathMinus">
            <a:avLst/>
          </a:prstGeom>
          <a:solidFill>
            <a:srgbClr val="FF0000">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Знак ''минус'' 17">
            <a:extLst>
              <a:ext uri="{FF2B5EF4-FFF2-40B4-BE49-F238E27FC236}">
                <a16:creationId xmlns:a16="http://schemas.microsoft.com/office/drawing/2014/main" id="{7FD22326-B7A3-F050-8D92-C7190378DE3D}"/>
              </a:ext>
            </a:extLst>
          </p:cNvPr>
          <p:cNvSpPr/>
          <p:nvPr/>
        </p:nvSpPr>
        <p:spPr>
          <a:xfrm>
            <a:off x="5364088" y="2423989"/>
            <a:ext cx="360040" cy="288032"/>
          </a:xfrm>
          <a:prstGeom prst="mathMinus">
            <a:avLst/>
          </a:prstGeom>
          <a:solidFill>
            <a:srgbClr val="FF0000">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Знак ''минус'' 18">
            <a:extLst>
              <a:ext uri="{FF2B5EF4-FFF2-40B4-BE49-F238E27FC236}">
                <a16:creationId xmlns:a16="http://schemas.microsoft.com/office/drawing/2014/main" id="{AAD63191-AFEE-0723-098E-CC4633159C8A}"/>
              </a:ext>
            </a:extLst>
          </p:cNvPr>
          <p:cNvSpPr/>
          <p:nvPr/>
        </p:nvSpPr>
        <p:spPr>
          <a:xfrm>
            <a:off x="5371308" y="3542689"/>
            <a:ext cx="360040" cy="288032"/>
          </a:xfrm>
          <a:prstGeom prst="mathMinus">
            <a:avLst/>
          </a:prstGeom>
          <a:solidFill>
            <a:srgbClr val="FF0000">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Знак ''минус'' 19">
            <a:extLst>
              <a:ext uri="{FF2B5EF4-FFF2-40B4-BE49-F238E27FC236}">
                <a16:creationId xmlns:a16="http://schemas.microsoft.com/office/drawing/2014/main" id="{E9B7A74C-BA34-B003-5A4C-2ED5C3E88849}"/>
              </a:ext>
            </a:extLst>
          </p:cNvPr>
          <p:cNvSpPr/>
          <p:nvPr/>
        </p:nvSpPr>
        <p:spPr>
          <a:xfrm>
            <a:off x="5371308" y="4019750"/>
            <a:ext cx="360040" cy="288032"/>
          </a:xfrm>
          <a:prstGeom prst="mathMinus">
            <a:avLst/>
          </a:prstGeom>
          <a:solidFill>
            <a:srgbClr val="FF0000">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Знак ''минус'' 20">
            <a:extLst>
              <a:ext uri="{FF2B5EF4-FFF2-40B4-BE49-F238E27FC236}">
                <a16:creationId xmlns:a16="http://schemas.microsoft.com/office/drawing/2014/main" id="{442E00FB-5E70-B242-D2C7-DEAD1E418EFD}"/>
              </a:ext>
            </a:extLst>
          </p:cNvPr>
          <p:cNvSpPr/>
          <p:nvPr/>
        </p:nvSpPr>
        <p:spPr>
          <a:xfrm>
            <a:off x="5364088" y="3015118"/>
            <a:ext cx="360040" cy="288032"/>
          </a:xfrm>
          <a:prstGeom prst="mathMinus">
            <a:avLst/>
          </a:prstGeom>
          <a:solidFill>
            <a:srgbClr val="FF0000">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039008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D1830A8A-5CF6-E380-FE45-0161A9FD3FB9}"/>
              </a:ext>
            </a:extLst>
          </p:cNvPr>
          <p:cNvSpPr>
            <a:spLocks noGrp="1"/>
          </p:cNvSpPr>
          <p:nvPr>
            <p:ph type="sldNum" sz="quarter" idx="12"/>
          </p:nvPr>
        </p:nvSpPr>
        <p:spPr/>
        <p:txBody>
          <a:bodyPr/>
          <a:lstStyle/>
          <a:p>
            <a:fld id="{9DD0990C-240E-4F6D-96E9-50DBAF192F56}" type="slidenum">
              <a:rPr lang="ru-RU" smtClean="0"/>
              <a:t>6</a:t>
            </a:fld>
            <a:endParaRPr lang="ru-RU" dirty="0"/>
          </a:p>
        </p:txBody>
      </p:sp>
      <p:cxnSp>
        <p:nvCxnSpPr>
          <p:cNvPr id="5" name="Прямая соединительная линия 4">
            <a:extLst>
              <a:ext uri="{FF2B5EF4-FFF2-40B4-BE49-F238E27FC236}">
                <a16:creationId xmlns:a16="http://schemas.microsoft.com/office/drawing/2014/main" id="{6A063D83-07EA-1CCD-6AF6-AF3A95DCE881}"/>
              </a:ext>
            </a:extLst>
          </p:cNvPr>
          <p:cNvCxnSpPr/>
          <p:nvPr/>
        </p:nvCxnSpPr>
        <p:spPr>
          <a:xfrm>
            <a:off x="683568" y="980728"/>
            <a:ext cx="69950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5">
            <a:extLst>
              <a:ext uri="{FF2B5EF4-FFF2-40B4-BE49-F238E27FC236}">
                <a16:creationId xmlns:a16="http://schemas.microsoft.com/office/drawing/2014/main" id="{C4F58C88-211C-457E-9399-DFC50685CD88}"/>
              </a:ext>
            </a:extLst>
          </p:cNvPr>
          <p:cNvCxnSpPr/>
          <p:nvPr/>
        </p:nvCxnSpPr>
        <p:spPr>
          <a:xfrm flipV="1">
            <a:off x="899592" y="476672"/>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Заголовок 2">
            <a:extLst>
              <a:ext uri="{FF2B5EF4-FFF2-40B4-BE49-F238E27FC236}">
                <a16:creationId xmlns:a16="http://schemas.microsoft.com/office/drawing/2014/main" id="{2D83E3A5-C644-5570-084E-963DCBF4C536}"/>
              </a:ext>
            </a:extLst>
          </p:cNvPr>
          <p:cNvSpPr txBox="1">
            <a:spLocks/>
          </p:cNvSpPr>
          <p:nvPr/>
        </p:nvSpPr>
        <p:spPr>
          <a:xfrm>
            <a:off x="971600" y="476672"/>
            <a:ext cx="7725544" cy="504056"/>
          </a:xfrm>
          <a:prstGeom prst="rect">
            <a:avLst/>
          </a:prstGeom>
        </p:spPr>
        <p:txBody>
          <a:bodyPr vert="horz" lIns="91440" tIns="45720" rIns="91440" bIns="45720" rtlCol="0" anchor="ctr">
            <a:noAutofit/>
          </a:bodyPr>
          <a:lstStyle>
            <a:defPPr>
              <a:defRPr lang="ru-RU"/>
            </a:defPPr>
            <a:lvl1pPr>
              <a:spcBef>
                <a:spcPct val="0"/>
              </a:spcBef>
              <a:buNone/>
              <a:defRPr sz="2000" b="1">
                <a:solidFill>
                  <a:srgbClr val="000000"/>
                </a:solidFill>
                <a:latin typeface="Arial"/>
                <a:ea typeface="+mj-ea"/>
                <a:cs typeface="Arial"/>
              </a:defRPr>
            </a:lvl1pPr>
          </a:lstStyle>
          <a:p>
            <a:r>
              <a:rPr lang="ru-RU" dirty="0">
                <a:latin typeface="Gilroy Bold" pitchFamily="50" charset="-52"/>
              </a:rPr>
              <a:t>Полный анализ «5 сил М. Портера». </a:t>
            </a:r>
          </a:p>
        </p:txBody>
      </p:sp>
      <p:sp>
        <p:nvSpPr>
          <p:cNvPr id="9" name="TextBox 8">
            <a:extLst>
              <a:ext uri="{FF2B5EF4-FFF2-40B4-BE49-F238E27FC236}">
                <a16:creationId xmlns:a16="http://schemas.microsoft.com/office/drawing/2014/main" id="{B13E032D-08D7-D2EF-060E-045C0847D39D}"/>
              </a:ext>
            </a:extLst>
          </p:cNvPr>
          <p:cNvSpPr txBox="1"/>
          <p:nvPr/>
        </p:nvSpPr>
        <p:spPr>
          <a:xfrm>
            <a:off x="971600" y="980728"/>
            <a:ext cx="4572000" cy="369332"/>
          </a:xfrm>
          <a:prstGeom prst="rect">
            <a:avLst/>
          </a:prstGeom>
          <a:noFill/>
        </p:spPr>
        <p:txBody>
          <a:bodyPr wrap="square">
            <a:spAutoFit/>
          </a:bodyPr>
          <a:lstStyle/>
          <a:p>
            <a:r>
              <a:rPr lang="ru-RU" dirty="0"/>
              <a:t>Разбор силы давления текущих конкурентов</a:t>
            </a:r>
          </a:p>
        </p:txBody>
      </p:sp>
      <p:graphicFrame>
        <p:nvGraphicFramePr>
          <p:cNvPr id="2" name="Таблица 1">
            <a:extLst>
              <a:ext uri="{FF2B5EF4-FFF2-40B4-BE49-F238E27FC236}">
                <a16:creationId xmlns:a16="http://schemas.microsoft.com/office/drawing/2014/main" id="{4D5BA11C-3B61-7D8B-BF9F-C12DD862D964}"/>
              </a:ext>
            </a:extLst>
          </p:cNvPr>
          <p:cNvGraphicFramePr>
            <a:graphicFrameLocks noGrp="1"/>
          </p:cNvGraphicFramePr>
          <p:nvPr>
            <p:extLst>
              <p:ext uri="{D42A27DB-BD31-4B8C-83A1-F6EECF244321}">
                <p14:modId xmlns:p14="http://schemas.microsoft.com/office/powerpoint/2010/main" val="4165275275"/>
              </p:ext>
            </p:extLst>
          </p:nvPr>
        </p:nvGraphicFramePr>
        <p:xfrm>
          <a:off x="971599" y="1383241"/>
          <a:ext cx="6768754" cy="4570594"/>
        </p:xfrm>
        <a:graphic>
          <a:graphicData uri="http://schemas.openxmlformats.org/drawingml/2006/table">
            <a:tbl>
              <a:tblPr>
                <a:tableStyleId>{C4B1156A-380E-4F78-BDF5-A606A8083BF9}</a:tableStyleId>
              </a:tblPr>
              <a:tblGrid>
                <a:gridCol w="1490099">
                  <a:extLst>
                    <a:ext uri="{9D8B030D-6E8A-4147-A177-3AD203B41FA5}">
                      <a16:colId xmlns:a16="http://schemas.microsoft.com/office/drawing/2014/main" val="2754925456"/>
                    </a:ext>
                  </a:extLst>
                </a:gridCol>
                <a:gridCol w="1792016">
                  <a:extLst>
                    <a:ext uri="{9D8B030D-6E8A-4147-A177-3AD203B41FA5}">
                      <a16:colId xmlns:a16="http://schemas.microsoft.com/office/drawing/2014/main" val="2300240969"/>
                    </a:ext>
                  </a:extLst>
                </a:gridCol>
                <a:gridCol w="1792016">
                  <a:extLst>
                    <a:ext uri="{9D8B030D-6E8A-4147-A177-3AD203B41FA5}">
                      <a16:colId xmlns:a16="http://schemas.microsoft.com/office/drawing/2014/main" val="3565397007"/>
                    </a:ext>
                  </a:extLst>
                </a:gridCol>
                <a:gridCol w="1694623">
                  <a:extLst>
                    <a:ext uri="{9D8B030D-6E8A-4147-A177-3AD203B41FA5}">
                      <a16:colId xmlns:a16="http://schemas.microsoft.com/office/drawing/2014/main" val="2644254632"/>
                    </a:ext>
                  </a:extLst>
                </a:gridCol>
              </a:tblGrid>
              <a:tr h="220406">
                <a:tc rowSpan="2">
                  <a:txBody>
                    <a:bodyPr/>
                    <a:lstStyle/>
                    <a:p>
                      <a:pPr algn="ctr" fontAlgn="ctr"/>
                      <a:r>
                        <a:rPr lang="ru-RU" sz="1100" u="none" strike="noStrike" dirty="0">
                          <a:effectLst/>
                        </a:rPr>
                        <a:t>Параметр оценки</a:t>
                      </a:r>
                      <a:endParaRPr lang="ru-RU" sz="1100" b="1" i="0" u="none" strike="noStrike" dirty="0">
                        <a:effectLst/>
                        <a:latin typeface="Calibri" panose="020F0502020204030204" pitchFamily="34" charset="0"/>
                      </a:endParaRPr>
                    </a:p>
                  </a:txBody>
                  <a:tcPr marL="7156" marR="7156" marT="7156" marB="0" anchor="ctr"/>
                </a:tc>
                <a:tc gridSpan="3">
                  <a:txBody>
                    <a:bodyPr/>
                    <a:lstStyle/>
                    <a:p>
                      <a:pPr algn="ctr" fontAlgn="ctr"/>
                      <a:r>
                        <a:rPr lang="ru-RU" sz="1100" u="none" strike="noStrike">
                          <a:effectLst/>
                        </a:rPr>
                        <a:t>Оценка параметра</a:t>
                      </a:r>
                      <a:endParaRPr lang="ru-RU" sz="1100" b="1" i="0" u="none" strike="noStrike">
                        <a:effectLst/>
                        <a:latin typeface="Calibri" panose="020F0502020204030204" pitchFamily="34" charset="0"/>
                      </a:endParaRPr>
                    </a:p>
                  </a:txBody>
                  <a:tcPr marL="7156" marR="7156" marT="7156" marB="0" anchor="ct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110655786"/>
                  </a:ext>
                </a:extLst>
              </a:tr>
              <a:tr h="209434">
                <a:tc vMerge="1">
                  <a:txBody>
                    <a:bodyPr/>
                    <a:lstStyle/>
                    <a:p>
                      <a:endParaRPr lang="ru-RU"/>
                    </a:p>
                  </a:txBody>
                  <a:tcPr/>
                </a:tc>
                <a:tc>
                  <a:txBody>
                    <a:bodyPr/>
                    <a:lstStyle/>
                    <a:p>
                      <a:pPr algn="ctr" fontAlgn="ctr"/>
                      <a:r>
                        <a:rPr lang="ru-RU" sz="1100" u="none" strike="noStrike">
                          <a:effectLst/>
                        </a:rPr>
                        <a:t>3</a:t>
                      </a:r>
                      <a:endParaRPr lang="ru-RU" sz="1100" b="1" i="0" u="none" strike="noStrike">
                        <a:effectLst/>
                        <a:latin typeface="Calibri" panose="020F0502020204030204" pitchFamily="34" charset="0"/>
                      </a:endParaRPr>
                    </a:p>
                  </a:txBody>
                  <a:tcPr marL="7156" marR="7156" marT="7156" marB="0" anchor="ctr"/>
                </a:tc>
                <a:tc>
                  <a:txBody>
                    <a:bodyPr/>
                    <a:lstStyle/>
                    <a:p>
                      <a:pPr algn="ctr" fontAlgn="ctr"/>
                      <a:r>
                        <a:rPr lang="ru-RU" sz="1100" u="none" strike="noStrike">
                          <a:effectLst/>
                        </a:rPr>
                        <a:t>2</a:t>
                      </a:r>
                      <a:endParaRPr lang="ru-RU" sz="1100" b="1" i="0" u="none" strike="noStrike">
                        <a:effectLst/>
                        <a:latin typeface="Calibri" panose="020F0502020204030204" pitchFamily="34" charset="0"/>
                      </a:endParaRPr>
                    </a:p>
                  </a:txBody>
                  <a:tcPr marL="7156" marR="7156" marT="7156" marB="0" anchor="ctr"/>
                </a:tc>
                <a:tc>
                  <a:txBody>
                    <a:bodyPr/>
                    <a:lstStyle/>
                    <a:p>
                      <a:pPr algn="ctr" fontAlgn="ctr"/>
                      <a:r>
                        <a:rPr lang="ru-RU" sz="1100" u="none" strike="noStrike">
                          <a:effectLst/>
                        </a:rPr>
                        <a:t>1</a:t>
                      </a:r>
                      <a:endParaRPr lang="ru-RU" sz="1100" b="1" i="0" u="none" strike="noStrike">
                        <a:effectLst/>
                        <a:latin typeface="Calibri" panose="020F0502020204030204" pitchFamily="34" charset="0"/>
                      </a:endParaRPr>
                    </a:p>
                  </a:txBody>
                  <a:tcPr marL="7156" marR="7156" marT="7156" marB="0" anchor="ctr"/>
                </a:tc>
                <a:extLst>
                  <a:ext uri="{0D108BD9-81ED-4DB2-BD59-A6C34878D82A}">
                    <a16:rowId xmlns:a16="http://schemas.microsoft.com/office/drawing/2014/main" val="3523933774"/>
                  </a:ext>
                </a:extLst>
              </a:tr>
              <a:tr h="422207">
                <a:tc rowSpan="2">
                  <a:txBody>
                    <a:bodyPr/>
                    <a:lstStyle/>
                    <a:p>
                      <a:pPr algn="ctr" fontAlgn="ctr"/>
                      <a:r>
                        <a:rPr lang="ru-RU" sz="1100" u="none" strike="noStrike" dirty="0">
                          <a:effectLst/>
                        </a:rPr>
                        <a:t>Количество игроков</a:t>
                      </a:r>
                      <a:endParaRPr lang="ru-RU" sz="1100" b="0" i="0" u="none" strike="noStrike" dirty="0">
                        <a:effectLst/>
                        <a:latin typeface="Calibri" panose="020F0502020204030204" pitchFamily="34" charset="0"/>
                      </a:endParaRPr>
                    </a:p>
                  </a:txBody>
                  <a:tcPr marL="7156" marR="7156" marT="7156" marB="0" anchor="ctr"/>
                </a:tc>
                <a:tc>
                  <a:txBody>
                    <a:bodyPr/>
                    <a:lstStyle/>
                    <a:p>
                      <a:pPr algn="ctr" fontAlgn="ctr"/>
                      <a:r>
                        <a:rPr lang="ru-RU" sz="1100" u="none" strike="noStrike">
                          <a:effectLst/>
                        </a:rPr>
                        <a:t>Высокий уровень насыщения рынка</a:t>
                      </a:r>
                      <a:endParaRPr lang="ru-RU" sz="1100" b="0" i="0" u="none" strike="noStrike">
                        <a:effectLst/>
                        <a:latin typeface="Calibri" panose="020F0502020204030204" pitchFamily="34" charset="0"/>
                      </a:endParaRPr>
                    </a:p>
                  </a:txBody>
                  <a:tcPr marL="7156" marR="7156" marT="7156" marB="0" anchor="ctr"/>
                </a:tc>
                <a:tc>
                  <a:txBody>
                    <a:bodyPr/>
                    <a:lstStyle/>
                    <a:p>
                      <a:pPr algn="ctr" fontAlgn="ctr"/>
                      <a:r>
                        <a:rPr lang="ru-RU" sz="1100" u="none" strike="noStrike">
                          <a:effectLst/>
                        </a:rPr>
                        <a:t>Средний уровень насыщения рынка</a:t>
                      </a:r>
                      <a:endParaRPr lang="ru-RU" sz="1100" b="0" i="0" u="none" strike="noStrike">
                        <a:effectLst/>
                        <a:latin typeface="Calibri" panose="020F0502020204030204" pitchFamily="34" charset="0"/>
                      </a:endParaRPr>
                    </a:p>
                  </a:txBody>
                  <a:tcPr marL="7156" marR="7156" marT="7156" marB="0" anchor="ctr"/>
                </a:tc>
                <a:tc>
                  <a:txBody>
                    <a:bodyPr/>
                    <a:lstStyle/>
                    <a:p>
                      <a:pPr algn="ctr" fontAlgn="ctr"/>
                      <a:r>
                        <a:rPr lang="ru-RU" sz="1100" u="none" strike="noStrike">
                          <a:effectLst/>
                        </a:rPr>
                        <a:t>   Небольшое количество игроков</a:t>
                      </a:r>
                      <a:endParaRPr lang="ru-RU" sz="1100" b="0" i="0" u="none" strike="noStrike">
                        <a:effectLst/>
                        <a:latin typeface="Calibri" panose="020F0502020204030204" pitchFamily="34" charset="0"/>
                      </a:endParaRPr>
                    </a:p>
                  </a:txBody>
                  <a:tcPr marL="7156" marR="7156" marT="7156" marB="0" anchor="ctr"/>
                </a:tc>
                <a:extLst>
                  <a:ext uri="{0D108BD9-81ED-4DB2-BD59-A6C34878D82A}">
                    <a16:rowId xmlns:a16="http://schemas.microsoft.com/office/drawing/2014/main" val="376915447"/>
                  </a:ext>
                </a:extLst>
              </a:tr>
              <a:tr h="200369">
                <a:tc vMerge="1">
                  <a:txBody>
                    <a:bodyPr/>
                    <a:lstStyle/>
                    <a:p>
                      <a:endParaRPr lang="ru-RU"/>
                    </a:p>
                  </a:txBody>
                  <a:tcPr/>
                </a:tc>
                <a:tc>
                  <a:txBody>
                    <a:bodyPr/>
                    <a:lstStyle/>
                    <a:p>
                      <a:pPr algn="ctr" fontAlgn="ctr"/>
                      <a:r>
                        <a:rPr lang="ru-RU" sz="1100" u="none" strike="noStrike" dirty="0">
                          <a:effectLst/>
                        </a:rPr>
                        <a:t> </a:t>
                      </a:r>
                      <a:endParaRPr lang="ru-RU" sz="1100" b="0" i="0" u="none" strike="noStrike" dirty="0">
                        <a:effectLst/>
                        <a:latin typeface="Calibri" panose="020F0502020204030204" pitchFamily="34" charset="0"/>
                      </a:endParaRPr>
                    </a:p>
                  </a:txBody>
                  <a:tcPr marL="7156" marR="7156" marT="7156" marB="0" anchor="ctr"/>
                </a:tc>
                <a:tc>
                  <a:txBody>
                    <a:bodyPr/>
                    <a:lstStyle/>
                    <a:p>
                      <a:pPr algn="ctr" fontAlgn="ctr"/>
                      <a:r>
                        <a:rPr lang="ru-RU" sz="1100" u="none" strike="noStrike">
                          <a:effectLst/>
                        </a:rPr>
                        <a:t> </a:t>
                      </a:r>
                      <a:endParaRPr lang="ru-RU" sz="1100" b="0" i="0" u="none" strike="noStrike">
                        <a:effectLst/>
                        <a:latin typeface="Calibri" panose="020F0502020204030204" pitchFamily="34" charset="0"/>
                      </a:endParaRPr>
                    </a:p>
                  </a:txBody>
                  <a:tcPr marL="7156" marR="7156" marT="7156" marB="0" anchor="ctr"/>
                </a:tc>
                <a:tc>
                  <a:txBody>
                    <a:bodyPr/>
                    <a:lstStyle/>
                    <a:p>
                      <a:pPr algn="ctr" fontAlgn="ctr"/>
                      <a:r>
                        <a:rPr lang="ru-RU" sz="1100" u="none" strike="noStrike" dirty="0">
                          <a:effectLst/>
                        </a:rPr>
                        <a:t> </a:t>
                      </a:r>
                      <a:endParaRPr lang="ru-RU" sz="1100" b="0" i="0" u="none" strike="noStrike" dirty="0">
                        <a:effectLst/>
                        <a:latin typeface="Calibri" panose="020F0502020204030204" pitchFamily="34" charset="0"/>
                      </a:endParaRPr>
                    </a:p>
                  </a:txBody>
                  <a:tcPr marL="7156" marR="7156" marT="7156" marB="0" anchor="ctr"/>
                </a:tc>
                <a:extLst>
                  <a:ext uri="{0D108BD9-81ED-4DB2-BD59-A6C34878D82A}">
                    <a16:rowId xmlns:a16="http://schemas.microsoft.com/office/drawing/2014/main" val="2732090420"/>
                  </a:ext>
                </a:extLst>
              </a:tr>
              <a:tr h="535272">
                <a:tc rowSpan="2">
                  <a:txBody>
                    <a:bodyPr/>
                    <a:lstStyle/>
                    <a:p>
                      <a:pPr algn="ctr" fontAlgn="ctr"/>
                      <a:r>
                        <a:rPr lang="ru-RU" sz="1100" u="none" strike="noStrike">
                          <a:effectLst/>
                        </a:rPr>
                        <a:t>Темп роста рынка</a:t>
                      </a:r>
                      <a:endParaRPr lang="ru-RU" sz="1100" b="0" i="0" u="none" strike="noStrike">
                        <a:effectLst/>
                        <a:latin typeface="Calibri" panose="020F0502020204030204" pitchFamily="34" charset="0"/>
                      </a:endParaRPr>
                    </a:p>
                  </a:txBody>
                  <a:tcPr marL="7156" marR="7156" marT="7156" marB="0" anchor="ctr"/>
                </a:tc>
                <a:tc>
                  <a:txBody>
                    <a:bodyPr/>
                    <a:lstStyle/>
                    <a:p>
                      <a:pPr algn="ctr" fontAlgn="ctr"/>
                      <a:r>
                        <a:rPr lang="ru-RU" sz="1100" u="none" strike="noStrike">
                          <a:effectLst/>
                        </a:rPr>
                        <a:t>Стагнация или снижение объема рынка</a:t>
                      </a:r>
                      <a:endParaRPr lang="ru-RU" sz="1100" b="0" i="0" u="none" strike="noStrike">
                        <a:effectLst/>
                        <a:latin typeface="Calibri" panose="020F0502020204030204" pitchFamily="34" charset="0"/>
                      </a:endParaRPr>
                    </a:p>
                  </a:txBody>
                  <a:tcPr marL="7156" marR="7156" marT="7156" marB="0" anchor="ctr"/>
                </a:tc>
                <a:tc>
                  <a:txBody>
                    <a:bodyPr/>
                    <a:lstStyle/>
                    <a:p>
                      <a:pPr algn="ctr" fontAlgn="ctr"/>
                      <a:r>
                        <a:rPr lang="ru-RU" sz="1100" u="none" strike="noStrike">
                          <a:effectLst/>
                        </a:rPr>
                        <a:t>Замедляющийся, но растущий</a:t>
                      </a:r>
                      <a:endParaRPr lang="ru-RU" sz="1100" b="0" i="0" u="none" strike="noStrike">
                        <a:effectLst/>
                        <a:latin typeface="Calibri" panose="020F0502020204030204" pitchFamily="34" charset="0"/>
                      </a:endParaRPr>
                    </a:p>
                  </a:txBody>
                  <a:tcPr marL="7156" marR="7156" marT="7156" marB="0" anchor="ctr"/>
                </a:tc>
                <a:tc>
                  <a:txBody>
                    <a:bodyPr/>
                    <a:lstStyle/>
                    <a:p>
                      <a:pPr algn="ctr" fontAlgn="ctr"/>
                      <a:r>
                        <a:rPr lang="ru-RU" sz="1100" u="none" strike="noStrike">
                          <a:effectLst/>
                        </a:rPr>
                        <a:t>Высокий</a:t>
                      </a:r>
                      <a:endParaRPr lang="ru-RU" sz="1100" b="0" i="0" u="none" strike="noStrike">
                        <a:effectLst/>
                        <a:latin typeface="Calibri" panose="020F0502020204030204" pitchFamily="34" charset="0"/>
                      </a:endParaRPr>
                    </a:p>
                  </a:txBody>
                  <a:tcPr marL="7156" marR="7156" marT="7156" marB="0" anchor="ctr"/>
                </a:tc>
                <a:extLst>
                  <a:ext uri="{0D108BD9-81ED-4DB2-BD59-A6C34878D82A}">
                    <a16:rowId xmlns:a16="http://schemas.microsoft.com/office/drawing/2014/main" val="3697571488"/>
                  </a:ext>
                </a:extLst>
              </a:tr>
              <a:tr h="178901">
                <a:tc vMerge="1">
                  <a:txBody>
                    <a:bodyPr/>
                    <a:lstStyle/>
                    <a:p>
                      <a:endParaRPr lang="ru-RU"/>
                    </a:p>
                  </a:txBody>
                  <a:tcPr/>
                </a:tc>
                <a:tc>
                  <a:txBody>
                    <a:bodyPr/>
                    <a:lstStyle/>
                    <a:p>
                      <a:pPr algn="l" fontAlgn="t"/>
                      <a:r>
                        <a:rPr lang="ru-RU" sz="1100" u="none" strike="noStrike" dirty="0">
                          <a:effectLst/>
                        </a:rPr>
                        <a:t> </a:t>
                      </a:r>
                      <a:endParaRPr lang="ru-RU" sz="1100" b="0" i="0" u="none" strike="noStrike" dirty="0">
                        <a:effectLst/>
                        <a:latin typeface="Calibri" panose="020F0502020204030204" pitchFamily="34" charset="0"/>
                      </a:endParaRPr>
                    </a:p>
                  </a:txBody>
                  <a:tcPr marL="7156" marR="7156" marT="7156" marB="0"/>
                </a:tc>
                <a:tc>
                  <a:txBody>
                    <a:bodyPr/>
                    <a:lstStyle/>
                    <a:p>
                      <a:pPr algn="ctr" fontAlgn="t"/>
                      <a:r>
                        <a:rPr lang="ru-RU" sz="1100" u="none" strike="noStrike" dirty="0">
                          <a:effectLst/>
                        </a:rPr>
                        <a:t> </a:t>
                      </a:r>
                      <a:endParaRPr lang="ru-RU" sz="1100" b="0" i="0" u="none" strike="noStrike" dirty="0">
                        <a:effectLst/>
                        <a:latin typeface="Calibri" panose="020F0502020204030204" pitchFamily="34" charset="0"/>
                      </a:endParaRPr>
                    </a:p>
                  </a:txBody>
                  <a:tcPr marL="7156" marR="7156" marT="7156" marB="0"/>
                </a:tc>
                <a:tc>
                  <a:txBody>
                    <a:bodyPr/>
                    <a:lstStyle/>
                    <a:p>
                      <a:pPr algn="ctr" fontAlgn="b"/>
                      <a:r>
                        <a:rPr lang="ru-RU" sz="1100" u="none" strike="noStrike">
                          <a:effectLst/>
                        </a:rPr>
                        <a:t> </a:t>
                      </a:r>
                      <a:endParaRPr lang="ru-RU" sz="1100" b="0" i="0" u="none" strike="noStrike">
                        <a:effectLst/>
                        <a:latin typeface="Calibri" panose="020F0502020204030204" pitchFamily="34" charset="0"/>
                      </a:endParaRPr>
                    </a:p>
                  </a:txBody>
                  <a:tcPr marL="7156" marR="7156" marT="7156" marB="0" anchor="b"/>
                </a:tc>
                <a:extLst>
                  <a:ext uri="{0D108BD9-81ED-4DB2-BD59-A6C34878D82A}">
                    <a16:rowId xmlns:a16="http://schemas.microsoft.com/office/drawing/2014/main" val="4251831822"/>
                  </a:ext>
                </a:extLst>
              </a:tr>
              <a:tr h="830102">
                <a:tc rowSpan="2">
                  <a:txBody>
                    <a:bodyPr/>
                    <a:lstStyle/>
                    <a:p>
                      <a:pPr algn="ctr" fontAlgn="ctr"/>
                      <a:r>
                        <a:rPr lang="ru-RU" sz="1100" u="none" strike="noStrike">
                          <a:effectLst/>
                        </a:rPr>
                        <a:t>Уровень дифференциации продукта</a:t>
                      </a:r>
                      <a:endParaRPr lang="ru-RU" sz="1100" b="0" i="0" u="none" strike="noStrike">
                        <a:effectLst/>
                        <a:latin typeface="Calibri" panose="020F0502020204030204" pitchFamily="34" charset="0"/>
                      </a:endParaRPr>
                    </a:p>
                  </a:txBody>
                  <a:tcPr marL="7156" marR="7156" marT="7156" marB="0" anchor="ctr"/>
                </a:tc>
                <a:tc>
                  <a:txBody>
                    <a:bodyPr/>
                    <a:lstStyle/>
                    <a:p>
                      <a:pPr algn="ctr" fontAlgn="ctr"/>
                      <a:r>
                        <a:rPr lang="ru-RU" sz="1100" u="none" strike="noStrike">
                          <a:effectLst/>
                        </a:rPr>
                        <a:t>Компании продают стандартизированный товар</a:t>
                      </a:r>
                      <a:endParaRPr lang="ru-RU" sz="1100" b="0" i="0" u="none" strike="noStrike">
                        <a:effectLst/>
                        <a:latin typeface="Calibri" panose="020F0502020204030204" pitchFamily="34" charset="0"/>
                      </a:endParaRPr>
                    </a:p>
                  </a:txBody>
                  <a:tcPr marL="7156" marR="7156" marT="7156" marB="0" anchor="ctr"/>
                </a:tc>
                <a:tc>
                  <a:txBody>
                    <a:bodyPr/>
                    <a:lstStyle/>
                    <a:p>
                      <a:pPr algn="ctr" fontAlgn="ctr"/>
                      <a:r>
                        <a:rPr lang="ru-RU" sz="1100" u="none" strike="noStrike" dirty="0">
                          <a:effectLst/>
                        </a:rPr>
                        <a:t>Товар стандартизирован по ключевым свойствам, но отличается по дополнительным преимуществам</a:t>
                      </a:r>
                      <a:endParaRPr lang="ru-RU" sz="1100" b="0" i="0" u="none" strike="noStrike" dirty="0">
                        <a:effectLst/>
                        <a:latin typeface="Calibri" panose="020F0502020204030204" pitchFamily="34" charset="0"/>
                      </a:endParaRPr>
                    </a:p>
                  </a:txBody>
                  <a:tcPr marL="7156" marR="7156" marT="7156" marB="0" anchor="ctr"/>
                </a:tc>
                <a:tc>
                  <a:txBody>
                    <a:bodyPr/>
                    <a:lstStyle/>
                    <a:p>
                      <a:pPr algn="ctr" fontAlgn="ctr"/>
                      <a:r>
                        <a:rPr lang="ru-RU" sz="1100" u="none" strike="noStrike" dirty="0">
                          <a:effectLst/>
                        </a:rPr>
                        <a:t>Продукты компаний значимо отличаются между собой</a:t>
                      </a:r>
                      <a:endParaRPr lang="ru-RU" sz="1100" b="0" i="0" u="none" strike="noStrike" dirty="0">
                        <a:effectLst/>
                        <a:latin typeface="Calibri" panose="020F0502020204030204" pitchFamily="34" charset="0"/>
                      </a:endParaRPr>
                    </a:p>
                  </a:txBody>
                  <a:tcPr marL="7156" marR="7156" marT="7156" marB="0" anchor="ctr"/>
                </a:tc>
                <a:extLst>
                  <a:ext uri="{0D108BD9-81ED-4DB2-BD59-A6C34878D82A}">
                    <a16:rowId xmlns:a16="http://schemas.microsoft.com/office/drawing/2014/main" val="3398538714"/>
                  </a:ext>
                </a:extLst>
              </a:tr>
              <a:tr h="193213">
                <a:tc vMerge="1">
                  <a:txBody>
                    <a:bodyPr/>
                    <a:lstStyle/>
                    <a:p>
                      <a:endParaRPr lang="ru-RU"/>
                    </a:p>
                  </a:txBody>
                  <a:tcPr/>
                </a:tc>
                <a:tc>
                  <a:txBody>
                    <a:bodyPr/>
                    <a:lstStyle/>
                    <a:p>
                      <a:pPr algn="ctr" fontAlgn="t"/>
                      <a:r>
                        <a:rPr lang="ru-RU" sz="1100" u="none" strike="noStrike" dirty="0">
                          <a:effectLst/>
                        </a:rPr>
                        <a:t> </a:t>
                      </a:r>
                      <a:endParaRPr lang="ru-RU" sz="1100" b="0" i="0" u="none" strike="noStrike" dirty="0">
                        <a:effectLst/>
                        <a:latin typeface="Calibri" panose="020F0502020204030204" pitchFamily="34" charset="0"/>
                      </a:endParaRPr>
                    </a:p>
                  </a:txBody>
                  <a:tcPr marL="7156" marR="7156" marT="7156" marB="0"/>
                </a:tc>
                <a:tc>
                  <a:txBody>
                    <a:bodyPr/>
                    <a:lstStyle/>
                    <a:p>
                      <a:pPr algn="l" fontAlgn="t"/>
                      <a:r>
                        <a:rPr lang="ru-RU" sz="1100" u="none" strike="noStrike" dirty="0">
                          <a:effectLst/>
                        </a:rPr>
                        <a:t> </a:t>
                      </a:r>
                      <a:endParaRPr lang="ru-RU" sz="1100" b="0" i="0" u="none" strike="noStrike" dirty="0">
                        <a:effectLst/>
                        <a:latin typeface="Calibri" panose="020F0502020204030204" pitchFamily="34" charset="0"/>
                      </a:endParaRPr>
                    </a:p>
                  </a:txBody>
                  <a:tcPr marL="7156" marR="7156" marT="7156" marB="0"/>
                </a:tc>
                <a:tc>
                  <a:txBody>
                    <a:bodyPr/>
                    <a:lstStyle/>
                    <a:p>
                      <a:pPr algn="ctr" fontAlgn="b"/>
                      <a:r>
                        <a:rPr lang="ru-RU" sz="1100" u="none" strike="noStrike">
                          <a:effectLst/>
                        </a:rPr>
                        <a:t> </a:t>
                      </a:r>
                      <a:endParaRPr lang="ru-RU" sz="1100" b="0" i="0" u="none" strike="noStrike">
                        <a:effectLst/>
                        <a:latin typeface="Calibri" panose="020F0502020204030204" pitchFamily="34" charset="0"/>
                      </a:endParaRPr>
                    </a:p>
                  </a:txBody>
                  <a:tcPr marL="7156" marR="7156" marT="7156" marB="0" anchor="b"/>
                </a:tc>
                <a:extLst>
                  <a:ext uri="{0D108BD9-81ED-4DB2-BD59-A6C34878D82A}">
                    <a16:rowId xmlns:a16="http://schemas.microsoft.com/office/drawing/2014/main" val="3569476745"/>
                  </a:ext>
                </a:extLst>
              </a:tr>
              <a:tr h="648338">
                <a:tc rowSpan="2">
                  <a:txBody>
                    <a:bodyPr/>
                    <a:lstStyle/>
                    <a:p>
                      <a:pPr algn="ctr" fontAlgn="ctr"/>
                      <a:r>
                        <a:rPr lang="ru-RU" sz="1100" u="none" strike="noStrike">
                          <a:effectLst/>
                        </a:rPr>
                        <a:t>Ограничение в повышении цен</a:t>
                      </a:r>
                      <a:endParaRPr lang="ru-RU" sz="1100" b="0" i="0" u="none" strike="noStrike">
                        <a:effectLst/>
                        <a:latin typeface="Calibri" panose="020F0502020204030204" pitchFamily="34" charset="0"/>
                      </a:endParaRPr>
                    </a:p>
                  </a:txBody>
                  <a:tcPr marL="7156" marR="7156" marT="7156" marB="0" anchor="ctr"/>
                </a:tc>
                <a:tc>
                  <a:txBody>
                    <a:bodyPr/>
                    <a:lstStyle/>
                    <a:p>
                      <a:pPr algn="ctr" fontAlgn="ctr"/>
                      <a:r>
                        <a:rPr lang="ru-RU" sz="1100" u="none" strike="noStrike">
                          <a:effectLst/>
                        </a:rPr>
                        <a:t>Жесткая ценовая конкуренция на рынке, отсутствуют возможности в повышении цен</a:t>
                      </a:r>
                      <a:endParaRPr lang="ru-RU" sz="1100" b="0" i="0" u="none" strike="noStrike">
                        <a:effectLst/>
                        <a:latin typeface="Calibri" panose="020F0502020204030204" pitchFamily="34" charset="0"/>
                      </a:endParaRPr>
                    </a:p>
                  </a:txBody>
                  <a:tcPr marL="7156" marR="7156" marT="7156" marB="0" anchor="ctr"/>
                </a:tc>
                <a:tc>
                  <a:txBody>
                    <a:bodyPr/>
                    <a:lstStyle/>
                    <a:p>
                      <a:pPr algn="ctr" fontAlgn="ctr"/>
                      <a:r>
                        <a:rPr lang="ru-RU" sz="1100" u="none" strike="noStrike">
                          <a:effectLst/>
                        </a:rPr>
                        <a:t>Есть возможность к повышению цен только в рамках покрытия роста затрат</a:t>
                      </a:r>
                      <a:endParaRPr lang="ru-RU" sz="1100" b="0" i="0" u="none" strike="noStrike">
                        <a:effectLst/>
                        <a:latin typeface="Calibri" panose="020F0502020204030204" pitchFamily="34" charset="0"/>
                      </a:endParaRPr>
                    </a:p>
                  </a:txBody>
                  <a:tcPr marL="7156" marR="7156" marT="7156" marB="0" anchor="ctr"/>
                </a:tc>
                <a:tc>
                  <a:txBody>
                    <a:bodyPr/>
                    <a:lstStyle/>
                    <a:p>
                      <a:pPr algn="ctr" fontAlgn="ctr"/>
                      <a:r>
                        <a:rPr lang="ru-RU" sz="1100" u="none" strike="noStrike">
                          <a:effectLst/>
                        </a:rPr>
                        <a:t>Всегда есть возможность к повышению цены для покрытия роста затрат и повышения прибыли</a:t>
                      </a:r>
                      <a:endParaRPr lang="ru-RU" sz="1100" b="0" i="0" u="none" strike="noStrike">
                        <a:effectLst/>
                        <a:latin typeface="Calibri" panose="020F0502020204030204" pitchFamily="34" charset="0"/>
                      </a:endParaRPr>
                    </a:p>
                  </a:txBody>
                  <a:tcPr marL="7156" marR="7156" marT="7156" marB="0" anchor="ctr"/>
                </a:tc>
                <a:extLst>
                  <a:ext uri="{0D108BD9-81ED-4DB2-BD59-A6C34878D82A}">
                    <a16:rowId xmlns:a16="http://schemas.microsoft.com/office/drawing/2014/main" val="4246455385"/>
                  </a:ext>
                </a:extLst>
              </a:tr>
              <a:tr h="221838">
                <a:tc vMerge="1">
                  <a:txBody>
                    <a:bodyPr/>
                    <a:lstStyle/>
                    <a:p>
                      <a:endParaRPr lang="ru-RU"/>
                    </a:p>
                  </a:txBody>
                  <a:tcPr/>
                </a:tc>
                <a:tc>
                  <a:txBody>
                    <a:bodyPr/>
                    <a:lstStyle/>
                    <a:p>
                      <a:pPr algn="l" fontAlgn="t"/>
                      <a:r>
                        <a:rPr lang="ru-RU" sz="1100" u="none" strike="noStrike" dirty="0">
                          <a:effectLst/>
                        </a:rPr>
                        <a:t> </a:t>
                      </a:r>
                      <a:endParaRPr lang="ru-RU" sz="1100" b="0" i="0" u="none" strike="noStrike" dirty="0">
                        <a:effectLst/>
                        <a:latin typeface="Calibri" panose="020F0502020204030204" pitchFamily="34" charset="0"/>
                      </a:endParaRPr>
                    </a:p>
                  </a:txBody>
                  <a:tcPr marL="7156" marR="7156" marT="7156" marB="0"/>
                </a:tc>
                <a:tc>
                  <a:txBody>
                    <a:bodyPr/>
                    <a:lstStyle/>
                    <a:p>
                      <a:pPr algn="ctr" fontAlgn="ctr"/>
                      <a:r>
                        <a:rPr lang="ru-RU" sz="1100" u="none" strike="noStrike">
                          <a:effectLst/>
                        </a:rPr>
                        <a:t> </a:t>
                      </a:r>
                      <a:endParaRPr lang="ru-RU" sz="1100" b="0" i="0" u="none" strike="noStrike">
                        <a:effectLst/>
                        <a:latin typeface="Calibri" panose="020F0502020204030204" pitchFamily="34" charset="0"/>
                      </a:endParaRPr>
                    </a:p>
                  </a:txBody>
                  <a:tcPr marL="7156" marR="7156" marT="7156" marB="0" anchor="ctr"/>
                </a:tc>
                <a:tc>
                  <a:txBody>
                    <a:bodyPr/>
                    <a:lstStyle/>
                    <a:p>
                      <a:pPr algn="l" fontAlgn="t"/>
                      <a:r>
                        <a:rPr lang="ru-RU" sz="1100" u="none" strike="noStrike">
                          <a:effectLst/>
                        </a:rPr>
                        <a:t> </a:t>
                      </a:r>
                      <a:endParaRPr lang="ru-RU" sz="1100" b="0" i="0" u="none" strike="noStrike">
                        <a:effectLst/>
                        <a:latin typeface="Calibri" panose="020F0502020204030204" pitchFamily="34" charset="0"/>
                      </a:endParaRPr>
                    </a:p>
                  </a:txBody>
                  <a:tcPr marL="85873" marR="7156" marT="7156" marB="0"/>
                </a:tc>
                <a:extLst>
                  <a:ext uri="{0D108BD9-81ED-4DB2-BD59-A6C34878D82A}">
                    <a16:rowId xmlns:a16="http://schemas.microsoft.com/office/drawing/2014/main" val="1524712746"/>
                  </a:ext>
                </a:extLst>
              </a:tr>
              <a:tr h="236150">
                <a:tc>
                  <a:txBody>
                    <a:bodyPr/>
                    <a:lstStyle/>
                    <a:p>
                      <a:pPr algn="ctr" fontAlgn="b"/>
                      <a:r>
                        <a:rPr lang="ru-RU" sz="1100" u="none" strike="noStrike">
                          <a:effectLst/>
                        </a:rPr>
                        <a:t>ИТОГОВЫЙ БАЛЛ</a:t>
                      </a:r>
                      <a:endParaRPr lang="ru-RU" sz="1100" b="1" i="0" u="none" strike="noStrike">
                        <a:effectLst/>
                        <a:latin typeface="Calibri" panose="020F0502020204030204" pitchFamily="34" charset="0"/>
                      </a:endParaRPr>
                    </a:p>
                  </a:txBody>
                  <a:tcPr marL="7156" marR="7156" marT="7156" marB="0" anchor="b"/>
                </a:tc>
                <a:tc gridSpan="3">
                  <a:txBody>
                    <a:bodyPr/>
                    <a:lstStyle/>
                    <a:p>
                      <a:pPr algn="ctr" fontAlgn="b"/>
                      <a:r>
                        <a:rPr lang="ru-RU" sz="1500" u="none" strike="noStrike">
                          <a:effectLst/>
                        </a:rPr>
                        <a:t> </a:t>
                      </a:r>
                      <a:endParaRPr lang="ru-RU" sz="1500" b="1" i="0" u="none" strike="noStrike">
                        <a:effectLst/>
                        <a:latin typeface="Calibri" panose="020F0502020204030204" pitchFamily="34" charset="0"/>
                      </a:endParaRPr>
                    </a:p>
                  </a:txBody>
                  <a:tcPr marL="7156" marR="7156" marT="7156" marB="0" anchor="b"/>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855673373"/>
                  </a:ext>
                </a:extLst>
              </a:tr>
              <a:tr h="236150">
                <a:tc>
                  <a:txBody>
                    <a:bodyPr/>
                    <a:lstStyle/>
                    <a:p>
                      <a:pPr algn="ctr" fontAlgn="ctr"/>
                      <a:r>
                        <a:rPr lang="ru-RU" sz="1100" u="none" strike="noStrike">
                          <a:effectLst/>
                        </a:rPr>
                        <a:t>4 балла</a:t>
                      </a:r>
                      <a:endParaRPr lang="ru-RU" sz="1100" b="1" i="0" u="none" strike="noStrike">
                        <a:effectLst/>
                        <a:latin typeface="Calibri" panose="020F0502020204030204" pitchFamily="34" charset="0"/>
                      </a:endParaRPr>
                    </a:p>
                  </a:txBody>
                  <a:tcPr marL="7156" marR="7156" marT="7156" marB="0" anchor="ctr"/>
                </a:tc>
                <a:tc gridSpan="3">
                  <a:txBody>
                    <a:bodyPr/>
                    <a:lstStyle/>
                    <a:p>
                      <a:pPr algn="ctr" fontAlgn="ctr"/>
                      <a:r>
                        <a:rPr lang="ru-RU" sz="1100" u="none" strike="noStrike">
                          <a:effectLst/>
                        </a:rPr>
                        <a:t>Низкий уровень внутриотраслевой конкуренции</a:t>
                      </a:r>
                      <a:endParaRPr lang="ru-RU" sz="1100" b="0" i="0" u="none" strike="noStrike">
                        <a:effectLst/>
                        <a:latin typeface="Calibri" panose="020F0502020204030204" pitchFamily="34" charset="0"/>
                      </a:endParaRPr>
                    </a:p>
                  </a:txBody>
                  <a:tcPr marL="7156" marR="7156" marT="7156" marB="0" anchor="ct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2492052562"/>
                  </a:ext>
                </a:extLst>
              </a:tr>
              <a:tr h="200369">
                <a:tc>
                  <a:txBody>
                    <a:bodyPr/>
                    <a:lstStyle/>
                    <a:p>
                      <a:pPr algn="ctr" fontAlgn="ctr"/>
                      <a:r>
                        <a:rPr lang="ru-RU" sz="1100" u="none" strike="noStrike">
                          <a:effectLst/>
                        </a:rPr>
                        <a:t>5-8 баллов</a:t>
                      </a:r>
                      <a:endParaRPr lang="ru-RU" sz="1100" b="1" i="0" u="none" strike="noStrike">
                        <a:effectLst/>
                        <a:latin typeface="Calibri" panose="020F0502020204030204" pitchFamily="34" charset="0"/>
                      </a:endParaRPr>
                    </a:p>
                  </a:txBody>
                  <a:tcPr marL="7156" marR="7156" marT="7156" marB="0" anchor="ctr"/>
                </a:tc>
                <a:tc gridSpan="3">
                  <a:txBody>
                    <a:bodyPr/>
                    <a:lstStyle/>
                    <a:p>
                      <a:pPr algn="ctr" fontAlgn="ctr"/>
                      <a:r>
                        <a:rPr lang="ru-RU" sz="1100" u="none" strike="noStrike">
                          <a:effectLst/>
                        </a:rPr>
                        <a:t>Средний уровень внутриотраслевой конкуренции</a:t>
                      </a:r>
                      <a:endParaRPr lang="ru-RU" sz="1100" b="0" i="0" u="none" strike="noStrike">
                        <a:effectLst/>
                        <a:latin typeface="Calibri" panose="020F0502020204030204" pitchFamily="34" charset="0"/>
                      </a:endParaRPr>
                    </a:p>
                  </a:txBody>
                  <a:tcPr marL="7156" marR="7156" marT="7156" marB="0" anchor="ct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2298874318"/>
                  </a:ext>
                </a:extLst>
              </a:tr>
              <a:tr h="193213">
                <a:tc>
                  <a:txBody>
                    <a:bodyPr/>
                    <a:lstStyle/>
                    <a:p>
                      <a:pPr algn="ctr" fontAlgn="ctr"/>
                      <a:r>
                        <a:rPr lang="ru-RU" sz="1100" u="none" strike="noStrike">
                          <a:effectLst/>
                        </a:rPr>
                        <a:t>9-12 баллов</a:t>
                      </a:r>
                      <a:endParaRPr lang="ru-RU" sz="1100" b="1" i="0" u="none" strike="noStrike">
                        <a:effectLst/>
                        <a:latin typeface="Calibri" panose="020F0502020204030204" pitchFamily="34" charset="0"/>
                      </a:endParaRPr>
                    </a:p>
                  </a:txBody>
                  <a:tcPr marL="7156" marR="7156" marT="7156" marB="0" anchor="ctr"/>
                </a:tc>
                <a:tc gridSpan="3">
                  <a:txBody>
                    <a:bodyPr/>
                    <a:lstStyle/>
                    <a:p>
                      <a:pPr algn="ctr" fontAlgn="ctr"/>
                      <a:r>
                        <a:rPr lang="ru-RU" sz="1100" u="none" strike="noStrike" dirty="0">
                          <a:effectLst/>
                        </a:rPr>
                        <a:t>Высокий уровень внутриотраслевой конкуренции</a:t>
                      </a:r>
                      <a:endParaRPr lang="ru-RU" sz="1100" b="0" i="0" u="none" strike="noStrike" dirty="0">
                        <a:effectLst/>
                        <a:latin typeface="Calibri" panose="020F0502020204030204" pitchFamily="34" charset="0"/>
                      </a:endParaRPr>
                    </a:p>
                  </a:txBody>
                  <a:tcPr marL="7156" marR="7156" marT="7156" marB="0" anchor="ct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3084939416"/>
                  </a:ext>
                </a:extLst>
              </a:tr>
            </a:tbl>
          </a:graphicData>
        </a:graphic>
      </p:graphicFrame>
    </p:spTree>
    <p:extLst>
      <p:ext uri="{BB962C8B-B14F-4D97-AF65-F5344CB8AC3E}">
        <p14:creationId xmlns:p14="http://schemas.microsoft.com/office/powerpoint/2010/main" val="798495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D1830A8A-5CF6-E380-FE45-0161A9FD3FB9}"/>
              </a:ext>
            </a:extLst>
          </p:cNvPr>
          <p:cNvSpPr>
            <a:spLocks noGrp="1"/>
          </p:cNvSpPr>
          <p:nvPr>
            <p:ph type="sldNum" sz="quarter" idx="12"/>
          </p:nvPr>
        </p:nvSpPr>
        <p:spPr/>
        <p:txBody>
          <a:bodyPr/>
          <a:lstStyle/>
          <a:p>
            <a:fld id="{9DD0990C-240E-4F6D-96E9-50DBAF192F56}" type="slidenum">
              <a:rPr lang="ru-RU" smtClean="0"/>
              <a:t>7</a:t>
            </a:fld>
            <a:endParaRPr lang="ru-RU" dirty="0"/>
          </a:p>
        </p:txBody>
      </p:sp>
      <p:cxnSp>
        <p:nvCxnSpPr>
          <p:cNvPr id="5" name="Прямая соединительная линия 4">
            <a:extLst>
              <a:ext uri="{FF2B5EF4-FFF2-40B4-BE49-F238E27FC236}">
                <a16:creationId xmlns:a16="http://schemas.microsoft.com/office/drawing/2014/main" id="{6A063D83-07EA-1CCD-6AF6-AF3A95DCE881}"/>
              </a:ext>
            </a:extLst>
          </p:cNvPr>
          <p:cNvCxnSpPr/>
          <p:nvPr/>
        </p:nvCxnSpPr>
        <p:spPr>
          <a:xfrm>
            <a:off x="683568" y="980728"/>
            <a:ext cx="69950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5">
            <a:extLst>
              <a:ext uri="{FF2B5EF4-FFF2-40B4-BE49-F238E27FC236}">
                <a16:creationId xmlns:a16="http://schemas.microsoft.com/office/drawing/2014/main" id="{C4F58C88-211C-457E-9399-DFC50685CD88}"/>
              </a:ext>
            </a:extLst>
          </p:cNvPr>
          <p:cNvCxnSpPr/>
          <p:nvPr/>
        </p:nvCxnSpPr>
        <p:spPr>
          <a:xfrm flipV="1">
            <a:off x="899592" y="476672"/>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Заголовок 2">
            <a:extLst>
              <a:ext uri="{FF2B5EF4-FFF2-40B4-BE49-F238E27FC236}">
                <a16:creationId xmlns:a16="http://schemas.microsoft.com/office/drawing/2014/main" id="{2D83E3A5-C644-5570-084E-963DCBF4C536}"/>
              </a:ext>
            </a:extLst>
          </p:cNvPr>
          <p:cNvSpPr txBox="1">
            <a:spLocks/>
          </p:cNvSpPr>
          <p:nvPr/>
        </p:nvSpPr>
        <p:spPr>
          <a:xfrm>
            <a:off x="971600" y="476672"/>
            <a:ext cx="7725544" cy="504056"/>
          </a:xfrm>
          <a:prstGeom prst="rect">
            <a:avLst/>
          </a:prstGeom>
        </p:spPr>
        <p:txBody>
          <a:bodyPr vert="horz" lIns="91440" tIns="45720" rIns="91440" bIns="45720" rtlCol="0" anchor="ctr">
            <a:noAutofit/>
          </a:bodyPr>
          <a:lstStyle>
            <a:defPPr>
              <a:defRPr lang="ru-RU"/>
            </a:defPPr>
            <a:lvl1pPr>
              <a:spcBef>
                <a:spcPct val="0"/>
              </a:spcBef>
              <a:buNone/>
              <a:defRPr sz="2000" b="1">
                <a:solidFill>
                  <a:srgbClr val="000000"/>
                </a:solidFill>
                <a:latin typeface="Arial"/>
                <a:ea typeface="+mj-ea"/>
                <a:cs typeface="Arial"/>
              </a:defRPr>
            </a:lvl1pPr>
          </a:lstStyle>
          <a:p>
            <a:r>
              <a:rPr lang="ru-RU" dirty="0">
                <a:latin typeface="Gilroy Bold" pitchFamily="50" charset="-52"/>
              </a:rPr>
              <a:t>Полный анализ «5 сил М. Портера». </a:t>
            </a:r>
          </a:p>
        </p:txBody>
      </p:sp>
      <p:sp>
        <p:nvSpPr>
          <p:cNvPr id="9" name="TextBox 8">
            <a:extLst>
              <a:ext uri="{FF2B5EF4-FFF2-40B4-BE49-F238E27FC236}">
                <a16:creationId xmlns:a16="http://schemas.microsoft.com/office/drawing/2014/main" id="{B13E032D-08D7-D2EF-060E-045C0847D39D}"/>
              </a:ext>
            </a:extLst>
          </p:cNvPr>
          <p:cNvSpPr txBox="1"/>
          <p:nvPr/>
        </p:nvSpPr>
        <p:spPr>
          <a:xfrm>
            <a:off x="971600" y="980728"/>
            <a:ext cx="4572000" cy="369332"/>
          </a:xfrm>
          <a:prstGeom prst="rect">
            <a:avLst/>
          </a:prstGeom>
          <a:noFill/>
        </p:spPr>
        <p:txBody>
          <a:bodyPr wrap="square">
            <a:spAutoFit/>
          </a:bodyPr>
          <a:lstStyle/>
          <a:p>
            <a:r>
              <a:rPr lang="ru-RU" dirty="0"/>
              <a:t>Разбор силы товаров-заменителей</a:t>
            </a:r>
          </a:p>
        </p:txBody>
      </p:sp>
      <p:graphicFrame>
        <p:nvGraphicFramePr>
          <p:cNvPr id="3" name="Таблица 2">
            <a:extLst>
              <a:ext uri="{FF2B5EF4-FFF2-40B4-BE49-F238E27FC236}">
                <a16:creationId xmlns:a16="http://schemas.microsoft.com/office/drawing/2014/main" id="{F3F7C384-3958-9F04-A95A-BC419A785A71}"/>
              </a:ext>
            </a:extLst>
          </p:cNvPr>
          <p:cNvGraphicFramePr>
            <a:graphicFrameLocks noGrp="1"/>
          </p:cNvGraphicFramePr>
          <p:nvPr>
            <p:extLst>
              <p:ext uri="{D42A27DB-BD31-4B8C-83A1-F6EECF244321}">
                <p14:modId xmlns:p14="http://schemas.microsoft.com/office/powerpoint/2010/main" val="321743245"/>
              </p:ext>
            </p:extLst>
          </p:nvPr>
        </p:nvGraphicFramePr>
        <p:xfrm>
          <a:off x="539552" y="1988840"/>
          <a:ext cx="8229601" cy="2664366"/>
        </p:xfrm>
        <a:graphic>
          <a:graphicData uri="http://schemas.openxmlformats.org/drawingml/2006/table">
            <a:tbl>
              <a:tblPr>
                <a:tableStyleId>{C4B1156A-380E-4F78-BDF5-A606A8083BF9}</a:tableStyleId>
              </a:tblPr>
              <a:tblGrid>
                <a:gridCol w="2050771">
                  <a:extLst>
                    <a:ext uri="{9D8B030D-6E8A-4147-A177-3AD203B41FA5}">
                      <a16:colId xmlns:a16="http://schemas.microsoft.com/office/drawing/2014/main" val="4029296722"/>
                    </a:ext>
                  </a:extLst>
                </a:gridCol>
                <a:gridCol w="2192203">
                  <a:extLst>
                    <a:ext uri="{9D8B030D-6E8A-4147-A177-3AD203B41FA5}">
                      <a16:colId xmlns:a16="http://schemas.microsoft.com/office/drawing/2014/main" val="2008822090"/>
                    </a:ext>
                  </a:extLst>
                </a:gridCol>
                <a:gridCol w="2192203">
                  <a:extLst>
                    <a:ext uri="{9D8B030D-6E8A-4147-A177-3AD203B41FA5}">
                      <a16:colId xmlns:a16="http://schemas.microsoft.com/office/drawing/2014/main" val="1965297029"/>
                    </a:ext>
                  </a:extLst>
                </a:gridCol>
                <a:gridCol w="1794424">
                  <a:extLst>
                    <a:ext uri="{9D8B030D-6E8A-4147-A177-3AD203B41FA5}">
                      <a16:colId xmlns:a16="http://schemas.microsoft.com/office/drawing/2014/main" val="750500605"/>
                    </a:ext>
                  </a:extLst>
                </a:gridCol>
              </a:tblGrid>
              <a:tr h="342798">
                <a:tc rowSpan="2">
                  <a:txBody>
                    <a:bodyPr/>
                    <a:lstStyle/>
                    <a:p>
                      <a:pPr algn="ctr" fontAlgn="ctr"/>
                      <a:r>
                        <a:rPr lang="ru-RU" sz="1400" u="none" strike="noStrike">
                          <a:effectLst/>
                        </a:rPr>
                        <a:t>Параметр оценки</a:t>
                      </a:r>
                      <a:endParaRPr lang="ru-RU" sz="1400" b="1" i="0" u="none" strike="noStrike">
                        <a:effectLst/>
                        <a:latin typeface="Calibri" panose="020F0502020204030204" pitchFamily="34" charset="0"/>
                      </a:endParaRPr>
                    </a:p>
                  </a:txBody>
                  <a:tcPr marL="9199" marR="9199" marT="9199" marB="0" anchor="ctr"/>
                </a:tc>
                <a:tc gridSpan="3">
                  <a:txBody>
                    <a:bodyPr/>
                    <a:lstStyle/>
                    <a:p>
                      <a:pPr algn="ctr" fontAlgn="ctr"/>
                      <a:r>
                        <a:rPr lang="ru-RU" sz="1400" u="none" strike="noStrike">
                          <a:effectLst/>
                        </a:rPr>
                        <a:t>Оценка параметра</a:t>
                      </a:r>
                      <a:endParaRPr lang="ru-RU" sz="1400" b="1" i="0" u="none" strike="noStrike">
                        <a:effectLst/>
                        <a:latin typeface="Calibri" panose="020F0502020204030204" pitchFamily="34" charset="0"/>
                      </a:endParaRPr>
                    </a:p>
                  </a:txBody>
                  <a:tcPr marL="9199" marR="9199" marT="9199" marB="0" anchor="ct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2571528911"/>
                  </a:ext>
                </a:extLst>
              </a:tr>
              <a:tr h="283314">
                <a:tc vMerge="1">
                  <a:txBody>
                    <a:bodyPr/>
                    <a:lstStyle/>
                    <a:p>
                      <a:endParaRPr lang="ru-RU"/>
                    </a:p>
                  </a:txBody>
                  <a:tcPr/>
                </a:tc>
                <a:tc>
                  <a:txBody>
                    <a:bodyPr/>
                    <a:lstStyle/>
                    <a:p>
                      <a:pPr algn="ctr" fontAlgn="ctr"/>
                      <a:r>
                        <a:rPr lang="ru-RU" sz="1400" u="none" strike="noStrike">
                          <a:effectLst/>
                        </a:rPr>
                        <a:t>3</a:t>
                      </a:r>
                      <a:endParaRPr lang="ru-RU" sz="1400" b="1" i="0" u="none" strike="noStrike">
                        <a:effectLst/>
                        <a:latin typeface="Calibri" panose="020F0502020204030204" pitchFamily="34" charset="0"/>
                      </a:endParaRPr>
                    </a:p>
                  </a:txBody>
                  <a:tcPr marL="9199" marR="9199" marT="9199" marB="0" anchor="ctr"/>
                </a:tc>
                <a:tc>
                  <a:txBody>
                    <a:bodyPr/>
                    <a:lstStyle/>
                    <a:p>
                      <a:pPr algn="ctr" fontAlgn="ctr"/>
                      <a:r>
                        <a:rPr lang="ru-RU" sz="1400" u="none" strike="noStrike">
                          <a:effectLst/>
                        </a:rPr>
                        <a:t>2</a:t>
                      </a:r>
                      <a:endParaRPr lang="ru-RU" sz="1400" b="1" i="0" u="none" strike="noStrike">
                        <a:effectLst/>
                        <a:latin typeface="Calibri" panose="020F0502020204030204" pitchFamily="34" charset="0"/>
                      </a:endParaRPr>
                    </a:p>
                  </a:txBody>
                  <a:tcPr marL="9199" marR="9199" marT="9199" marB="0" anchor="ctr"/>
                </a:tc>
                <a:tc>
                  <a:txBody>
                    <a:bodyPr/>
                    <a:lstStyle/>
                    <a:p>
                      <a:pPr algn="ctr" fontAlgn="ctr"/>
                      <a:r>
                        <a:rPr lang="ru-RU" sz="1400" u="none" strike="noStrike">
                          <a:effectLst/>
                        </a:rPr>
                        <a:t>1</a:t>
                      </a:r>
                      <a:endParaRPr lang="ru-RU" sz="1400" b="1" i="0" u="none" strike="noStrike">
                        <a:effectLst/>
                        <a:latin typeface="Calibri" panose="020F0502020204030204" pitchFamily="34" charset="0"/>
                      </a:endParaRPr>
                    </a:p>
                  </a:txBody>
                  <a:tcPr marL="9199" marR="9199" marT="9199" marB="0" anchor="ctr"/>
                </a:tc>
                <a:extLst>
                  <a:ext uri="{0D108BD9-81ED-4DB2-BD59-A6C34878D82A}">
                    <a16:rowId xmlns:a16="http://schemas.microsoft.com/office/drawing/2014/main" val="250086087"/>
                  </a:ext>
                </a:extLst>
              </a:tr>
              <a:tr h="533514">
                <a:tc rowSpan="2">
                  <a:txBody>
                    <a:bodyPr/>
                    <a:lstStyle/>
                    <a:p>
                      <a:pPr algn="ctr" fontAlgn="ctr"/>
                      <a:r>
                        <a:rPr lang="ru-RU" sz="1400" u="none" strike="noStrike">
                          <a:effectLst/>
                        </a:rPr>
                        <a:t>Товары-заменители в  позици "цена-качество"</a:t>
                      </a:r>
                      <a:endParaRPr lang="ru-RU" sz="1400" b="0" i="0" u="none" strike="noStrike">
                        <a:effectLst/>
                        <a:latin typeface="Calibri" panose="020F0502020204030204" pitchFamily="34" charset="0"/>
                      </a:endParaRPr>
                    </a:p>
                  </a:txBody>
                  <a:tcPr marL="9199" marR="9199" marT="9199" marB="0" anchor="ctr"/>
                </a:tc>
                <a:tc>
                  <a:txBody>
                    <a:bodyPr/>
                    <a:lstStyle/>
                    <a:p>
                      <a:pPr algn="ctr" fontAlgn="ctr"/>
                      <a:r>
                        <a:rPr lang="ru-RU" sz="1400" u="none" strike="noStrike">
                          <a:effectLst/>
                        </a:rPr>
                        <a:t>существуют и занимают высокую долю на рынке</a:t>
                      </a:r>
                      <a:endParaRPr lang="ru-RU" sz="1400" b="0" i="0" u="none" strike="noStrike">
                        <a:effectLst/>
                        <a:latin typeface="Calibri" panose="020F0502020204030204" pitchFamily="34" charset="0"/>
                      </a:endParaRPr>
                    </a:p>
                  </a:txBody>
                  <a:tcPr marL="9199" marR="9199" marT="9199" marB="0" anchor="ctr"/>
                </a:tc>
                <a:tc>
                  <a:txBody>
                    <a:bodyPr/>
                    <a:lstStyle/>
                    <a:p>
                      <a:pPr algn="ctr" fontAlgn="ctr"/>
                      <a:r>
                        <a:rPr lang="ru-RU" sz="1400" u="none" strike="noStrike">
                          <a:effectLst/>
                        </a:rPr>
                        <a:t>существуют, но только вошли на рынок и их доля мала</a:t>
                      </a:r>
                      <a:endParaRPr lang="ru-RU" sz="1400" b="0" i="0" u="none" strike="noStrike">
                        <a:effectLst/>
                        <a:latin typeface="Calibri" panose="020F0502020204030204" pitchFamily="34" charset="0"/>
                      </a:endParaRPr>
                    </a:p>
                  </a:txBody>
                  <a:tcPr marL="9199" marR="9199" marT="9199" marB="0" anchor="ctr"/>
                </a:tc>
                <a:tc>
                  <a:txBody>
                    <a:bodyPr/>
                    <a:lstStyle/>
                    <a:p>
                      <a:pPr algn="ctr" fontAlgn="ctr"/>
                      <a:r>
                        <a:rPr lang="ru-RU" sz="1400" u="none" strike="noStrike">
                          <a:effectLst/>
                        </a:rPr>
                        <a:t>не существуют</a:t>
                      </a:r>
                      <a:endParaRPr lang="ru-RU" sz="1400" b="0" i="0" u="none" strike="noStrike">
                        <a:effectLst/>
                        <a:latin typeface="Calibri" panose="020F0502020204030204" pitchFamily="34" charset="0"/>
                      </a:endParaRPr>
                    </a:p>
                  </a:txBody>
                  <a:tcPr marL="9199" marR="9199" marT="9199" marB="0" anchor="ctr"/>
                </a:tc>
                <a:extLst>
                  <a:ext uri="{0D108BD9-81ED-4DB2-BD59-A6C34878D82A}">
                    <a16:rowId xmlns:a16="http://schemas.microsoft.com/office/drawing/2014/main" val="1448589117"/>
                  </a:ext>
                </a:extLst>
              </a:tr>
              <a:tr h="275955">
                <a:tc vMerge="1">
                  <a:txBody>
                    <a:bodyPr/>
                    <a:lstStyle/>
                    <a:p>
                      <a:endParaRPr lang="ru-RU"/>
                    </a:p>
                  </a:txBody>
                  <a:tcPr/>
                </a:tc>
                <a:tc>
                  <a:txBody>
                    <a:bodyPr/>
                    <a:lstStyle/>
                    <a:p>
                      <a:pPr algn="ctr" fontAlgn="t"/>
                      <a:r>
                        <a:rPr lang="ru-RU" sz="1400" u="none" strike="noStrike">
                          <a:effectLst/>
                        </a:rPr>
                        <a:t> </a:t>
                      </a:r>
                      <a:endParaRPr lang="ru-RU" sz="1400" b="0" i="0" u="none" strike="noStrike">
                        <a:effectLst/>
                        <a:latin typeface="Calibri" panose="020F0502020204030204" pitchFamily="34" charset="0"/>
                      </a:endParaRPr>
                    </a:p>
                  </a:txBody>
                  <a:tcPr marL="9199" marR="9199" marT="9199" marB="0"/>
                </a:tc>
                <a:tc>
                  <a:txBody>
                    <a:bodyPr/>
                    <a:lstStyle/>
                    <a:p>
                      <a:pPr algn="ctr" fontAlgn="t"/>
                      <a:r>
                        <a:rPr lang="ru-RU" sz="1400" u="none" strike="noStrike">
                          <a:effectLst/>
                        </a:rPr>
                        <a:t> </a:t>
                      </a:r>
                      <a:endParaRPr lang="ru-RU" sz="1400" b="0" i="0" u="none" strike="noStrike">
                        <a:effectLst/>
                        <a:latin typeface="Calibri" panose="020F0502020204030204" pitchFamily="34" charset="0"/>
                      </a:endParaRPr>
                    </a:p>
                  </a:txBody>
                  <a:tcPr marL="9199" marR="9199" marT="9199" marB="0"/>
                </a:tc>
                <a:tc>
                  <a:txBody>
                    <a:bodyPr/>
                    <a:lstStyle/>
                    <a:p>
                      <a:pPr algn="ctr" fontAlgn="t"/>
                      <a:r>
                        <a:rPr lang="ru-RU" sz="1400" u="none" strike="noStrike">
                          <a:effectLst/>
                        </a:rPr>
                        <a:t> </a:t>
                      </a:r>
                      <a:endParaRPr lang="ru-RU" sz="1400" b="0" i="0" u="none" strike="noStrike">
                        <a:effectLst/>
                        <a:latin typeface="Calibri" panose="020F0502020204030204" pitchFamily="34" charset="0"/>
                      </a:endParaRPr>
                    </a:p>
                  </a:txBody>
                  <a:tcPr marL="9199" marR="9199" marT="9199" marB="0"/>
                </a:tc>
                <a:extLst>
                  <a:ext uri="{0D108BD9-81ED-4DB2-BD59-A6C34878D82A}">
                    <a16:rowId xmlns:a16="http://schemas.microsoft.com/office/drawing/2014/main" val="1880876959"/>
                  </a:ext>
                </a:extLst>
              </a:tr>
              <a:tr h="248360">
                <a:tc>
                  <a:txBody>
                    <a:bodyPr/>
                    <a:lstStyle/>
                    <a:p>
                      <a:pPr algn="ctr" fontAlgn="ctr"/>
                      <a:r>
                        <a:rPr lang="ru-RU" sz="1400" u="none" strike="noStrike">
                          <a:effectLst/>
                        </a:rPr>
                        <a:t>ИТОГОВЫЙ БАЛЛ</a:t>
                      </a:r>
                      <a:endParaRPr lang="ru-RU" sz="1400" b="1" i="0" u="none" strike="noStrike">
                        <a:effectLst/>
                        <a:latin typeface="Calibri" panose="020F0502020204030204" pitchFamily="34" charset="0"/>
                      </a:endParaRPr>
                    </a:p>
                  </a:txBody>
                  <a:tcPr marL="9199" marR="9199" marT="9199" marB="0" anchor="ctr"/>
                </a:tc>
                <a:tc gridSpan="3">
                  <a:txBody>
                    <a:bodyPr/>
                    <a:lstStyle/>
                    <a:p>
                      <a:pPr algn="ctr" fontAlgn="b"/>
                      <a:r>
                        <a:rPr lang="ru-RU" sz="1400" u="none" strike="noStrike">
                          <a:effectLst/>
                        </a:rPr>
                        <a:t>-</a:t>
                      </a:r>
                      <a:endParaRPr lang="ru-RU" sz="1400" b="1" i="0" u="none" strike="noStrike">
                        <a:effectLst/>
                        <a:latin typeface="Calibri" panose="020F0502020204030204" pitchFamily="34" charset="0"/>
                      </a:endParaRPr>
                    </a:p>
                  </a:txBody>
                  <a:tcPr marL="9199" marR="9199" marT="9199" marB="0" anchor="b"/>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3451292135"/>
                  </a:ext>
                </a:extLst>
              </a:tr>
              <a:tr h="266757">
                <a:tc>
                  <a:txBody>
                    <a:bodyPr/>
                    <a:lstStyle/>
                    <a:p>
                      <a:pPr algn="ctr" fontAlgn="ctr"/>
                      <a:r>
                        <a:rPr lang="ru-RU" sz="1400" u="none" strike="noStrike">
                          <a:effectLst/>
                        </a:rPr>
                        <a:t>1 балл</a:t>
                      </a:r>
                      <a:endParaRPr lang="ru-RU" sz="1400" b="1" i="0" u="none" strike="noStrike">
                        <a:effectLst/>
                        <a:latin typeface="Calibri" panose="020F0502020204030204" pitchFamily="34" charset="0"/>
                      </a:endParaRPr>
                    </a:p>
                  </a:txBody>
                  <a:tcPr marL="9199" marR="9199" marT="9199" marB="0" anchor="ctr"/>
                </a:tc>
                <a:tc gridSpan="3">
                  <a:txBody>
                    <a:bodyPr/>
                    <a:lstStyle/>
                    <a:p>
                      <a:pPr algn="ctr" fontAlgn="ctr"/>
                      <a:r>
                        <a:rPr lang="ru-RU" sz="1400" u="none" strike="noStrike">
                          <a:effectLst/>
                        </a:rPr>
                        <a:t>низкий уровень угрозы со стороны товаров-заменителей</a:t>
                      </a:r>
                      <a:endParaRPr lang="ru-RU" sz="1400" b="0" i="0" u="none" strike="noStrike">
                        <a:effectLst/>
                        <a:latin typeface="Calibri" panose="020F0502020204030204" pitchFamily="34" charset="0"/>
                      </a:endParaRPr>
                    </a:p>
                  </a:txBody>
                  <a:tcPr marL="9199" marR="9199" marT="9199" marB="0" anchor="ct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2015269079"/>
                  </a:ext>
                </a:extLst>
              </a:tr>
              <a:tr h="294352">
                <a:tc>
                  <a:txBody>
                    <a:bodyPr/>
                    <a:lstStyle/>
                    <a:p>
                      <a:pPr algn="ctr" fontAlgn="ctr"/>
                      <a:r>
                        <a:rPr lang="ru-RU" sz="1400" u="none" strike="noStrike">
                          <a:effectLst/>
                        </a:rPr>
                        <a:t>2 балла</a:t>
                      </a:r>
                      <a:endParaRPr lang="ru-RU" sz="1400" b="1" i="0" u="none" strike="noStrike">
                        <a:effectLst/>
                        <a:latin typeface="Calibri" panose="020F0502020204030204" pitchFamily="34" charset="0"/>
                      </a:endParaRPr>
                    </a:p>
                  </a:txBody>
                  <a:tcPr marL="9199" marR="9199" marT="9199" marB="0" anchor="ctr"/>
                </a:tc>
                <a:tc gridSpan="3">
                  <a:txBody>
                    <a:bodyPr/>
                    <a:lstStyle/>
                    <a:p>
                      <a:pPr algn="ctr" fontAlgn="ctr"/>
                      <a:r>
                        <a:rPr lang="ru-RU" sz="1400" u="none" strike="noStrike">
                          <a:effectLst/>
                        </a:rPr>
                        <a:t>средний уровень угрозы со стороны товаров-заменителей</a:t>
                      </a:r>
                      <a:endParaRPr lang="ru-RU" sz="1400" b="0" i="0" u="none" strike="noStrike">
                        <a:effectLst/>
                        <a:latin typeface="Calibri" panose="020F0502020204030204" pitchFamily="34" charset="0"/>
                      </a:endParaRPr>
                    </a:p>
                  </a:txBody>
                  <a:tcPr marL="9199" marR="9199" marT="9199" marB="0" anchor="ct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108719712"/>
                  </a:ext>
                </a:extLst>
              </a:tr>
              <a:tr h="303551">
                <a:tc>
                  <a:txBody>
                    <a:bodyPr/>
                    <a:lstStyle/>
                    <a:p>
                      <a:pPr algn="ctr" fontAlgn="ctr"/>
                      <a:r>
                        <a:rPr lang="ru-RU" sz="1400" u="none" strike="noStrike">
                          <a:effectLst/>
                        </a:rPr>
                        <a:t>3 балла</a:t>
                      </a:r>
                      <a:endParaRPr lang="ru-RU" sz="1400" b="1" i="0" u="none" strike="noStrike">
                        <a:effectLst/>
                        <a:latin typeface="Calibri" panose="020F0502020204030204" pitchFamily="34" charset="0"/>
                      </a:endParaRPr>
                    </a:p>
                  </a:txBody>
                  <a:tcPr marL="9199" marR="9199" marT="9199" marB="0" anchor="ctr"/>
                </a:tc>
                <a:tc gridSpan="3">
                  <a:txBody>
                    <a:bodyPr/>
                    <a:lstStyle/>
                    <a:p>
                      <a:pPr algn="ctr" fontAlgn="ctr"/>
                      <a:r>
                        <a:rPr lang="ru-RU" sz="1400" u="none" strike="noStrike" dirty="0">
                          <a:effectLst/>
                        </a:rPr>
                        <a:t>высокий уровень угрозы со стороны товаров-заменителей</a:t>
                      </a:r>
                      <a:endParaRPr lang="ru-RU" sz="1400" b="0" i="0" u="none" strike="noStrike" dirty="0">
                        <a:effectLst/>
                        <a:latin typeface="Calibri" panose="020F0502020204030204" pitchFamily="34" charset="0"/>
                      </a:endParaRPr>
                    </a:p>
                  </a:txBody>
                  <a:tcPr marL="9199" marR="9199" marT="9199" marB="0" anchor="ct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2227339378"/>
                  </a:ext>
                </a:extLst>
              </a:tr>
            </a:tbl>
          </a:graphicData>
        </a:graphic>
      </p:graphicFrame>
    </p:spTree>
    <p:extLst>
      <p:ext uri="{BB962C8B-B14F-4D97-AF65-F5344CB8AC3E}">
        <p14:creationId xmlns:p14="http://schemas.microsoft.com/office/powerpoint/2010/main" val="2069411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D1830A8A-5CF6-E380-FE45-0161A9FD3FB9}"/>
              </a:ext>
            </a:extLst>
          </p:cNvPr>
          <p:cNvSpPr>
            <a:spLocks noGrp="1"/>
          </p:cNvSpPr>
          <p:nvPr>
            <p:ph type="sldNum" sz="quarter" idx="12"/>
          </p:nvPr>
        </p:nvSpPr>
        <p:spPr/>
        <p:txBody>
          <a:bodyPr/>
          <a:lstStyle/>
          <a:p>
            <a:fld id="{9DD0990C-240E-4F6D-96E9-50DBAF192F56}" type="slidenum">
              <a:rPr lang="ru-RU" smtClean="0"/>
              <a:t>8</a:t>
            </a:fld>
            <a:endParaRPr lang="ru-RU" dirty="0"/>
          </a:p>
        </p:txBody>
      </p:sp>
      <p:cxnSp>
        <p:nvCxnSpPr>
          <p:cNvPr id="5" name="Прямая соединительная линия 4">
            <a:extLst>
              <a:ext uri="{FF2B5EF4-FFF2-40B4-BE49-F238E27FC236}">
                <a16:creationId xmlns:a16="http://schemas.microsoft.com/office/drawing/2014/main" id="{6A063D83-07EA-1CCD-6AF6-AF3A95DCE881}"/>
              </a:ext>
            </a:extLst>
          </p:cNvPr>
          <p:cNvCxnSpPr/>
          <p:nvPr/>
        </p:nvCxnSpPr>
        <p:spPr>
          <a:xfrm>
            <a:off x="683568" y="980728"/>
            <a:ext cx="69950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5">
            <a:extLst>
              <a:ext uri="{FF2B5EF4-FFF2-40B4-BE49-F238E27FC236}">
                <a16:creationId xmlns:a16="http://schemas.microsoft.com/office/drawing/2014/main" id="{C4F58C88-211C-457E-9399-DFC50685CD88}"/>
              </a:ext>
            </a:extLst>
          </p:cNvPr>
          <p:cNvCxnSpPr/>
          <p:nvPr/>
        </p:nvCxnSpPr>
        <p:spPr>
          <a:xfrm flipV="1">
            <a:off x="899592" y="476672"/>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Заголовок 2">
            <a:extLst>
              <a:ext uri="{FF2B5EF4-FFF2-40B4-BE49-F238E27FC236}">
                <a16:creationId xmlns:a16="http://schemas.microsoft.com/office/drawing/2014/main" id="{2D83E3A5-C644-5570-084E-963DCBF4C536}"/>
              </a:ext>
            </a:extLst>
          </p:cNvPr>
          <p:cNvSpPr txBox="1">
            <a:spLocks/>
          </p:cNvSpPr>
          <p:nvPr/>
        </p:nvSpPr>
        <p:spPr>
          <a:xfrm>
            <a:off x="938675" y="474020"/>
            <a:ext cx="7725544" cy="504056"/>
          </a:xfrm>
          <a:prstGeom prst="rect">
            <a:avLst/>
          </a:prstGeom>
        </p:spPr>
        <p:txBody>
          <a:bodyPr vert="horz" lIns="91440" tIns="45720" rIns="91440" bIns="45720" rtlCol="0" anchor="ctr">
            <a:noAutofit/>
          </a:bodyPr>
          <a:lstStyle>
            <a:defPPr>
              <a:defRPr lang="ru-RU"/>
            </a:defPPr>
            <a:lvl1pPr>
              <a:spcBef>
                <a:spcPct val="0"/>
              </a:spcBef>
              <a:buNone/>
              <a:defRPr sz="2000" b="1">
                <a:solidFill>
                  <a:srgbClr val="000000"/>
                </a:solidFill>
                <a:latin typeface="Arial"/>
                <a:ea typeface="+mj-ea"/>
                <a:cs typeface="Arial"/>
              </a:defRPr>
            </a:lvl1pPr>
          </a:lstStyle>
          <a:p>
            <a:r>
              <a:rPr lang="ru-RU" dirty="0">
                <a:latin typeface="Gilroy Bold" pitchFamily="50" charset="-52"/>
              </a:rPr>
              <a:t>Полный анализ «5 сил М. Портера». </a:t>
            </a:r>
          </a:p>
        </p:txBody>
      </p:sp>
      <p:sp>
        <p:nvSpPr>
          <p:cNvPr id="9" name="TextBox 8">
            <a:extLst>
              <a:ext uri="{FF2B5EF4-FFF2-40B4-BE49-F238E27FC236}">
                <a16:creationId xmlns:a16="http://schemas.microsoft.com/office/drawing/2014/main" id="{B13E032D-08D7-D2EF-060E-045C0847D39D}"/>
              </a:ext>
            </a:extLst>
          </p:cNvPr>
          <p:cNvSpPr txBox="1"/>
          <p:nvPr/>
        </p:nvSpPr>
        <p:spPr>
          <a:xfrm>
            <a:off x="971600" y="980728"/>
            <a:ext cx="4572000" cy="369332"/>
          </a:xfrm>
          <a:prstGeom prst="rect">
            <a:avLst/>
          </a:prstGeom>
          <a:noFill/>
        </p:spPr>
        <p:txBody>
          <a:bodyPr wrap="square">
            <a:spAutoFit/>
          </a:bodyPr>
          <a:lstStyle/>
          <a:p>
            <a:r>
              <a:rPr lang="ru-RU" dirty="0"/>
              <a:t>Разбор силы новых конкурентов</a:t>
            </a:r>
          </a:p>
        </p:txBody>
      </p:sp>
      <p:graphicFrame>
        <p:nvGraphicFramePr>
          <p:cNvPr id="8" name="Таблица 7">
            <a:extLst>
              <a:ext uri="{FF2B5EF4-FFF2-40B4-BE49-F238E27FC236}">
                <a16:creationId xmlns:a16="http://schemas.microsoft.com/office/drawing/2014/main" id="{D69CCB6E-3463-B111-B9A9-03F6B8AF8D85}"/>
              </a:ext>
            </a:extLst>
          </p:cNvPr>
          <p:cNvGraphicFramePr>
            <a:graphicFrameLocks noGrp="1"/>
          </p:cNvGraphicFramePr>
          <p:nvPr>
            <p:extLst>
              <p:ext uri="{D42A27DB-BD31-4B8C-83A1-F6EECF244321}">
                <p14:modId xmlns:p14="http://schemas.microsoft.com/office/powerpoint/2010/main" val="3142905757"/>
              </p:ext>
            </p:extLst>
          </p:nvPr>
        </p:nvGraphicFramePr>
        <p:xfrm>
          <a:off x="899592" y="1328914"/>
          <a:ext cx="7416824" cy="5362398"/>
        </p:xfrm>
        <a:graphic>
          <a:graphicData uri="http://schemas.openxmlformats.org/drawingml/2006/table">
            <a:tbl>
              <a:tblPr>
                <a:tableStyleId>{C4B1156A-380E-4F78-BDF5-A606A8083BF9}</a:tableStyleId>
              </a:tblPr>
              <a:tblGrid>
                <a:gridCol w="2121140">
                  <a:extLst>
                    <a:ext uri="{9D8B030D-6E8A-4147-A177-3AD203B41FA5}">
                      <a16:colId xmlns:a16="http://schemas.microsoft.com/office/drawing/2014/main" val="3132097049"/>
                    </a:ext>
                  </a:extLst>
                </a:gridCol>
                <a:gridCol w="1767617">
                  <a:extLst>
                    <a:ext uri="{9D8B030D-6E8A-4147-A177-3AD203B41FA5}">
                      <a16:colId xmlns:a16="http://schemas.microsoft.com/office/drawing/2014/main" val="945386955"/>
                    </a:ext>
                  </a:extLst>
                </a:gridCol>
                <a:gridCol w="1770005">
                  <a:extLst>
                    <a:ext uri="{9D8B030D-6E8A-4147-A177-3AD203B41FA5}">
                      <a16:colId xmlns:a16="http://schemas.microsoft.com/office/drawing/2014/main" val="727226126"/>
                    </a:ext>
                  </a:extLst>
                </a:gridCol>
                <a:gridCol w="1758062">
                  <a:extLst>
                    <a:ext uri="{9D8B030D-6E8A-4147-A177-3AD203B41FA5}">
                      <a16:colId xmlns:a16="http://schemas.microsoft.com/office/drawing/2014/main" val="751886079"/>
                    </a:ext>
                  </a:extLst>
                </a:gridCol>
              </a:tblGrid>
              <a:tr h="176533">
                <a:tc rowSpan="2">
                  <a:txBody>
                    <a:bodyPr/>
                    <a:lstStyle/>
                    <a:p>
                      <a:pPr algn="ctr" fontAlgn="ctr"/>
                      <a:r>
                        <a:rPr lang="ru-RU" sz="1000" u="none" strike="noStrike" dirty="0">
                          <a:effectLst/>
                        </a:rPr>
                        <a:t>Параметр оценки</a:t>
                      </a:r>
                      <a:endParaRPr lang="ru-RU" sz="1000" b="1" i="0" u="none" strike="noStrike" dirty="0">
                        <a:effectLst/>
                        <a:latin typeface="Arial" panose="020B0604020202020204" pitchFamily="34" charset="0"/>
                      </a:endParaRPr>
                    </a:p>
                  </a:txBody>
                  <a:tcPr marL="4525" marR="4525" marT="4525" marB="0" anchor="ctr"/>
                </a:tc>
                <a:tc gridSpan="3">
                  <a:txBody>
                    <a:bodyPr/>
                    <a:lstStyle/>
                    <a:p>
                      <a:pPr algn="ctr" fontAlgn="ctr"/>
                      <a:r>
                        <a:rPr lang="ru-RU" sz="1000" u="none" strike="noStrike">
                          <a:effectLst/>
                        </a:rPr>
                        <a:t>Оценка параметра</a:t>
                      </a:r>
                      <a:endParaRPr lang="ru-RU" sz="1000" b="1" i="0" u="none" strike="noStrike">
                        <a:effectLst/>
                        <a:latin typeface="Arial" panose="020B0604020202020204" pitchFamily="34" charset="0"/>
                      </a:endParaRPr>
                    </a:p>
                  </a:txBody>
                  <a:tcPr marL="4525" marR="4525" marT="4525" marB="0" anchor="ct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2110942040"/>
                  </a:ext>
                </a:extLst>
              </a:tr>
              <a:tr h="176533">
                <a:tc vMerge="1">
                  <a:txBody>
                    <a:bodyPr/>
                    <a:lstStyle/>
                    <a:p>
                      <a:endParaRPr lang="ru-RU"/>
                    </a:p>
                  </a:txBody>
                  <a:tcPr/>
                </a:tc>
                <a:tc>
                  <a:txBody>
                    <a:bodyPr/>
                    <a:lstStyle/>
                    <a:p>
                      <a:pPr algn="ctr" fontAlgn="ctr"/>
                      <a:r>
                        <a:rPr lang="ru-RU" sz="1000" u="none" strike="noStrike">
                          <a:effectLst/>
                        </a:rPr>
                        <a:t>3</a:t>
                      </a:r>
                      <a:endParaRPr lang="ru-RU" sz="1000" b="1"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2</a:t>
                      </a:r>
                      <a:endParaRPr lang="ru-RU" sz="1000" b="1"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1</a:t>
                      </a:r>
                      <a:endParaRPr lang="ru-RU" sz="1000" b="1" i="0" u="none" strike="noStrike">
                        <a:effectLst/>
                        <a:latin typeface="Arial" panose="020B0604020202020204" pitchFamily="34" charset="0"/>
                      </a:endParaRPr>
                    </a:p>
                  </a:txBody>
                  <a:tcPr marL="4525" marR="4525" marT="4525" marB="0" anchor="ctr"/>
                </a:tc>
                <a:extLst>
                  <a:ext uri="{0D108BD9-81ED-4DB2-BD59-A6C34878D82A}">
                    <a16:rowId xmlns:a16="http://schemas.microsoft.com/office/drawing/2014/main" val="3381208115"/>
                  </a:ext>
                </a:extLst>
              </a:tr>
              <a:tr h="284220">
                <a:tc rowSpan="2">
                  <a:txBody>
                    <a:bodyPr/>
                    <a:lstStyle/>
                    <a:p>
                      <a:pPr algn="ctr" fontAlgn="ctr"/>
                      <a:r>
                        <a:rPr lang="ru-RU" sz="1000" u="none" strike="noStrike">
                          <a:effectLst/>
                        </a:rPr>
                        <a:t>Экономия на масштабе при производстве товара или услуги</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dirty="0">
                          <a:effectLst/>
                        </a:rPr>
                        <a:t>отсутствует</a:t>
                      </a:r>
                      <a:endParaRPr lang="ru-RU" sz="1000" b="0" i="0" u="none" strike="noStrike" dirty="0">
                        <a:effectLst/>
                        <a:latin typeface="Arial" panose="020B0604020202020204" pitchFamily="34" charset="0"/>
                      </a:endParaRPr>
                    </a:p>
                  </a:txBody>
                  <a:tcPr marL="4525" marR="4525" marT="4525" marB="0" anchor="ctr"/>
                </a:tc>
                <a:tc>
                  <a:txBody>
                    <a:bodyPr/>
                    <a:lstStyle/>
                    <a:p>
                      <a:pPr algn="ctr" fontAlgn="ctr"/>
                      <a:r>
                        <a:rPr lang="ru-RU" sz="1000" u="none" strike="noStrike" dirty="0">
                          <a:effectLst/>
                        </a:rPr>
                        <a:t>существует только у нескольких игроков рынка</a:t>
                      </a:r>
                      <a:endParaRPr lang="ru-RU" sz="1000" b="0" i="0" u="none" strike="noStrike" dirty="0">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значимая</a:t>
                      </a:r>
                      <a:endParaRPr lang="ru-RU" sz="1000" b="0" i="0" u="none" strike="noStrike">
                        <a:effectLst/>
                        <a:latin typeface="Arial" panose="020B0604020202020204" pitchFamily="34" charset="0"/>
                      </a:endParaRPr>
                    </a:p>
                  </a:txBody>
                  <a:tcPr marL="4525" marR="4525" marT="4525" marB="0" anchor="ctr"/>
                </a:tc>
                <a:extLst>
                  <a:ext uri="{0D108BD9-81ED-4DB2-BD59-A6C34878D82A}">
                    <a16:rowId xmlns:a16="http://schemas.microsoft.com/office/drawing/2014/main" val="2318707896"/>
                  </a:ext>
                </a:extLst>
              </a:tr>
              <a:tr h="127899">
                <a:tc vMerge="1">
                  <a:txBody>
                    <a:bodyPr/>
                    <a:lstStyle/>
                    <a:p>
                      <a:endParaRPr lang="ru-RU"/>
                    </a:p>
                  </a:txBody>
                  <a:tcPr/>
                </a:tc>
                <a:tc>
                  <a:txBody>
                    <a:bodyPr/>
                    <a:lstStyle/>
                    <a:p>
                      <a:pPr algn="l" fontAlgn="t"/>
                      <a:r>
                        <a:rPr lang="ru-RU" sz="1000" u="none" strike="noStrike" dirty="0">
                          <a:effectLst/>
                        </a:rPr>
                        <a:t> </a:t>
                      </a:r>
                      <a:endParaRPr lang="ru-RU" sz="1000" b="0" i="0" u="none" strike="noStrike" dirty="0">
                        <a:effectLst/>
                        <a:latin typeface="Arial" panose="020B0604020202020204" pitchFamily="34" charset="0"/>
                      </a:endParaRPr>
                    </a:p>
                  </a:txBody>
                  <a:tcPr marL="4525" marR="4525" marT="4525" marB="0"/>
                </a:tc>
                <a:tc>
                  <a:txBody>
                    <a:bodyPr/>
                    <a:lstStyle/>
                    <a:p>
                      <a:pPr algn="ctr" fontAlgn="ctr"/>
                      <a:r>
                        <a:rPr lang="ru-RU" sz="1000" u="none" strike="noStrike">
                          <a:effectLst/>
                        </a:rPr>
                        <a:t> </a:t>
                      </a:r>
                      <a:endParaRPr lang="ru-RU" sz="1000" b="0" i="0" u="none" strike="noStrike">
                        <a:effectLst/>
                        <a:latin typeface="Arial" panose="020B0604020202020204" pitchFamily="34" charset="0"/>
                      </a:endParaRPr>
                    </a:p>
                  </a:txBody>
                  <a:tcPr marL="4525" marR="4525" marT="4525" marB="0" anchor="ctr"/>
                </a:tc>
                <a:tc>
                  <a:txBody>
                    <a:bodyPr/>
                    <a:lstStyle/>
                    <a:p>
                      <a:pPr algn="l" fontAlgn="t"/>
                      <a:r>
                        <a:rPr lang="ru-RU" sz="1000" u="none" strike="noStrike">
                          <a:effectLst/>
                        </a:rPr>
                        <a:t> </a:t>
                      </a:r>
                      <a:endParaRPr lang="ru-RU" sz="1000" b="0" i="0" u="none" strike="noStrike">
                        <a:effectLst/>
                        <a:latin typeface="Arial" panose="020B0604020202020204" pitchFamily="34" charset="0"/>
                      </a:endParaRPr>
                    </a:p>
                  </a:txBody>
                  <a:tcPr marL="4525" marR="4525" marT="4525" marB="0"/>
                </a:tc>
                <a:extLst>
                  <a:ext uri="{0D108BD9-81ED-4DB2-BD59-A6C34878D82A}">
                    <a16:rowId xmlns:a16="http://schemas.microsoft.com/office/drawing/2014/main" val="3712689880"/>
                  </a:ext>
                </a:extLst>
              </a:tr>
              <a:tr h="279483">
                <a:tc rowSpan="2">
                  <a:txBody>
                    <a:bodyPr/>
                    <a:lstStyle/>
                    <a:p>
                      <a:pPr algn="ctr" fontAlgn="ctr"/>
                      <a:r>
                        <a:rPr lang="ru-RU" sz="1000" u="none" strike="noStrike">
                          <a:effectLst/>
                        </a:rPr>
                        <a:t>Сильные марки с высоким уровнем знания и лояльности</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отсутствуют крупные игроки</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2-3 крупных игрока держат около 50% рынка</a:t>
                      </a:r>
                      <a:endParaRPr lang="ru-RU" sz="1000" b="0" i="0" u="none" strike="noStrike">
                        <a:effectLst/>
                        <a:latin typeface="Calibri" panose="020F0502020204030204" pitchFamily="34" charset="0"/>
                      </a:endParaRPr>
                    </a:p>
                  </a:txBody>
                  <a:tcPr marL="4525" marR="4525" marT="4525" marB="0" anchor="ctr"/>
                </a:tc>
                <a:tc>
                  <a:txBody>
                    <a:bodyPr/>
                    <a:lstStyle/>
                    <a:p>
                      <a:pPr algn="ctr" fontAlgn="ctr"/>
                      <a:r>
                        <a:rPr lang="ru-RU" sz="1000" u="none" strike="noStrike">
                          <a:effectLst/>
                        </a:rPr>
                        <a:t>2-3 крупных игрока держат более 80% рынка</a:t>
                      </a:r>
                      <a:endParaRPr lang="ru-RU" sz="1000" b="0" i="0" u="none" strike="noStrike">
                        <a:effectLst/>
                        <a:latin typeface="Arial" panose="020B0604020202020204" pitchFamily="34" charset="0"/>
                      </a:endParaRPr>
                    </a:p>
                  </a:txBody>
                  <a:tcPr marL="4525" marR="4525" marT="4525" marB="0" anchor="ctr"/>
                </a:tc>
                <a:extLst>
                  <a:ext uri="{0D108BD9-81ED-4DB2-BD59-A6C34878D82A}">
                    <a16:rowId xmlns:a16="http://schemas.microsoft.com/office/drawing/2014/main" val="3060488711"/>
                  </a:ext>
                </a:extLst>
              </a:tr>
              <a:tr h="118425">
                <a:tc vMerge="1">
                  <a:txBody>
                    <a:bodyPr/>
                    <a:lstStyle/>
                    <a:p>
                      <a:endParaRPr lang="ru-RU"/>
                    </a:p>
                  </a:txBody>
                  <a:tcPr/>
                </a:tc>
                <a:tc>
                  <a:txBody>
                    <a:bodyPr/>
                    <a:lstStyle/>
                    <a:p>
                      <a:pPr algn="ctr" fontAlgn="b"/>
                      <a:r>
                        <a:rPr lang="ru-RU" sz="1000" u="none" strike="noStrike" dirty="0">
                          <a:effectLst/>
                        </a:rPr>
                        <a:t> </a:t>
                      </a:r>
                      <a:endParaRPr lang="ru-RU" sz="1000" b="0" i="0" u="none" strike="noStrike" dirty="0">
                        <a:effectLst/>
                        <a:latin typeface="Arial" panose="020B0604020202020204" pitchFamily="34" charset="0"/>
                      </a:endParaRPr>
                    </a:p>
                  </a:txBody>
                  <a:tcPr marL="4525" marR="4525" marT="4525" marB="0" anchor="b"/>
                </a:tc>
                <a:tc>
                  <a:txBody>
                    <a:bodyPr/>
                    <a:lstStyle/>
                    <a:p>
                      <a:pPr algn="l" fontAlgn="t"/>
                      <a:r>
                        <a:rPr lang="ru-RU" sz="1000" u="none" strike="noStrike">
                          <a:effectLst/>
                        </a:rPr>
                        <a:t> </a:t>
                      </a:r>
                      <a:endParaRPr lang="ru-RU" sz="1000" b="0" i="0" u="none" strike="noStrike">
                        <a:effectLst/>
                        <a:latin typeface="Arial" panose="020B0604020202020204" pitchFamily="34" charset="0"/>
                      </a:endParaRPr>
                    </a:p>
                  </a:txBody>
                  <a:tcPr marL="4525" marR="4525" marT="4525" marB="0"/>
                </a:tc>
                <a:tc>
                  <a:txBody>
                    <a:bodyPr/>
                    <a:lstStyle/>
                    <a:p>
                      <a:pPr algn="l" fontAlgn="t"/>
                      <a:r>
                        <a:rPr lang="ru-RU" sz="1000" u="none" strike="noStrike">
                          <a:effectLst/>
                        </a:rPr>
                        <a:t> </a:t>
                      </a:r>
                      <a:endParaRPr lang="ru-RU" sz="1000" b="0" i="0" u="none" strike="noStrike">
                        <a:effectLst/>
                        <a:latin typeface="Arial" panose="020B0604020202020204" pitchFamily="34" charset="0"/>
                      </a:endParaRPr>
                    </a:p>
                  </a:txBody>
                  <a:tcPr marL="4525" marR="4525" marT="4525" marB="0"/>
                </a:tc>
                <a:extLst>
                  <a:ext uri="{0D108BD9-81ED-4DB2-BD59-A6C34878D82A}">
                    <a16:rowId xmlns:a16="http://schemas.microsoft.com/office/drawing/2014/main" val="3998013443"/>
                  </a:ext>
                </a:extLst>
              </a:tr>
              <a:tr h="309168">
                <a:tc rowSpan="2">
                  <a:txBody>
                    <a:bodyPr/>
                    <a:lstStyle/>
                    <a:p>
                      <a:pPr algn="ctr" fontAlgn="ctr"/>
                      <a:r>
                        <a:rPr lang="ru-RU" sz="1000" u="none" strike="noStrike">
                          <a:effectLst/>
                        </a:rPr>
                        <a:t>Дифференциация продукта</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низкий уровень разнообразия товара</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существуют микро-ниши</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все возможные ниши заняты игроками</a:t>
                      </a:r>
                      <a:endParaRPr lang="ru-RU" sz="1000" b="0" i="0" u="none" strike="noStrike">
                        <a:effectLst/>
                        <a:latin typeface="Arial" panose="020B0604020202020204" pitchFamily="34" charset="0"/>
                      </a:endParaRPr>
                    </a:p>
                  </a:txBody>
                  <a:tcPr marL="4525" marR="4525" marT="4525" marB="0" anchor="ctr"/>
                </a:tc>
                <a:extLst>
                  <a:ext uri="{0D108BD9-81ED-4DB2-BD59-A6C34878D82A}">
                    <a16:rowId xmlns:a16="http://schemas.microsoft.com/office/drawing/2014/main" val="3159354638"/>
                  </a:ext>
                </a:extLst>
              </a:tr>
              <a:tr h="132636">
                <a:tc vMerge="1">
                  <a:txBody>
                    <a:bodyPr/>
                    <a:lstStyle/>
                    <a:p>
                      <a:endParaRPr lang="ru-RU"/>
                    </a:p>
                  </a:txBody>
                  <a:tcPr/>
                </a:tc>
                <a:tc>
                  <a:txBody>
                    <a:bodyPr/>
                    <a:lstStyle/>
                    <a:p>
                      <a:pPr algn="l" fontAlgn="t"/>
                      <a:r>
                        <a:rPr lang="ru-RU" sz="1000" u="none" strike="noStrike">
                          <a:effectLst/>
                        </a:rPr>
                        <a:t> </a:t>
                      </a:r>
                      <a:endParaRPr lang="ru-RU" sz="1000" b="0" i="0" u="none" strike="noStrike">
                        <a:effectLst/>
                        <a:latin typeface="Arial" panose="020B0604020202020204" pitchFamily="34" charset="0"/>
                      </a:endParaRPr>
                    </a:p>
                  </a:txBody>
                  <a:tcPr marL="4525" marR="4525" marT="4525" marB="0"/>
                </a:tc>
                <a:tc>
                  <a:txBody>
                    <a:bodyPr/>
                    <a:lstStyle/>
                    <a:p>
                      <a:pPr algn="ctr" fontAlgn="ctr"/>
                      <a:r>
                        <a:rPr lang="ru-RU" sz="1000" u="none" strike="noStrike" dirty="0">
                          <a:effectLst/>
                        </a:rPr>
                        <a:t> </a:t>
                      </a:r>
                      <a:endParaRPr lang="ru-RU" sz="1000" b="0" i="0" u="none" strike="noStrike" dirty="0">
                        <a:effectLst/>
                        <a:latin typeface="Arial" panose="020B0604020202020204" pitchFamily="34" charset="0"/>
                      </a:endParaRPr>
                    </a:p>
                  </a:txBody>
                  <a:tcPr marL="4525" marR="4525" marT="4525" marB="0" anchor="ctr"/>
                </a:tc>
                <a:tc>
                  <a:txBody>
                    <a:bodyPr/>
                    <a:lstStyle/>
                    <a:p>
                      <a:pPr algn="l" fontAlgn="t"/>
                      <a:r>
                        <a:rPr lang="ru-RU" sz="1000" u="none" strike="noStrike">
                          <a:effectLst/>
                        </a:rPr>
                        <a:t> </a:t>
                      </a:r>
                      <a:endParaRPr lang="ru-RU" sz="1000" b="0" i="0" u="none" strike="noStrike">
                        <a:effectLst/>
                        <a:latin typeface="Arial" panose="020B0604020202020204" pitchFamily="34" charset="0"/>
                      </a:endParaRPr>
                    </a:p>
                  </a:txBody>
                  <a:tcPr marL="4525" marR="4525" marT="4525" marB="0"/>
                </a:tc>
                <a:extLst>
                  <a:ext uri="{0D108BD9-81ED-4DB2-BD59-A6C34878D82A}">
                    <a16:rowId xmlns:a16="http://schemas.microsoft.com/office/drawing/2014/main" val="2418280955"/>
                  </a:ext>
                </a:extLst>
              </a:tr>
              <a:tr h="373276">
                <a:tc rowSpan="2">
                  <a:txBody>
                    <a:bodyPr/>
                    <a:lstStyle/>
                    <a:p>
                      <a:pPr algn="ctr" fontAlgn="ctr"/>
                      <a:r>
                        <a:rPr lang="ru-RU" sz="1000" u="none" strike="noStrike">
                          <a:effectLst/>
                        </a:rPr>
                        <a:t>Уровень инвестиций и затрат для входа в отрасль</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низкий(окупается за 1-3 месяца работы)</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средний (окупается за 6-12 месяцев работы)</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высокий (окупается более чем за 1 год работы)</a:t>
                      </a:r>
                      <a:endParaRPr lang="ru-RU" sz="1000" b="0" i="0" u="none" strike="noStrike">
                        <a:effectLst/>
                        <a:latin typeface="Arial" panose="020B0604020202020204" pitchFamily="34" charset="0"/>
                      </a:endParaRPr>
                    </a:p>
                  </a:txBody>
                  <a:tcPr marL="4525" marR="4525" marT="4525" marB="0" anchor="ctr"/>
                </a:tc>
                <a:extLst>
                  <a:ext uri="{0D108BD9-81ED-4DB2-BD59-A6C34878D82A}">
                    <a16:rowId xmlns:a16="http://schemas.microsoft.com/office/drawing/2014/main" val="2666965722"/>
                  </a:ext>
                </a:extLst>
              </a:tr>
              <a:tr h="146847">
                <a:tc vMerge="1">
                  <a:txBody>
                    <a:bodyPr/>
                    <a:lstStyle/>
                    <a:p>
                      <a:endParaRPr lang="ru-RU"/>
                    </a:p>
                  </a:txBody>
                  <a:tcPr/>
                </a:tc>
                <a:tc>
                  <a:txBody>
                    <a:bodyPr/>
                    <a:lstStyle/>
                    <a:p>
                      <a:pPr algn="ctr" fontAlgn="ctr"/>
                      <a:r>
                        <a:rPr lang="ru-RU" sz="1000" u="none" strike="noStrike">
                          <a:effectLst/>
                        </a:rPr>
                        <a:t> </a:t>
                      </a:r>
                      <a:endParaRPr lang="ru-RU" sz="1000" b="0" i="0" u="none" strike="noStrike">
                        <a:effectLst/>
                        <a:latin typeface="Arial" panose="020B0604020202020204" pitchFamily="34" charset="0"/>
                      </a:endParaRPr>
                    </a:p>
                  </a:txBody>
                  <a:tcPr marL="4525" marR="4525" marT="4525" marB="0" anchor="ctr"/>
                </a:tc>
                <a:tc>
                  <a:txBody>
                    <a:bodyPr/>
                    <a:lstStyle/>
                    <a:p>
                      <a:pPr algn="l" fontAlgn="t"/>
                      <a:r>
                        <a:rPr lang="ru-RU" sz="1000" u="none" strike="noStrike" dirty="0">
                          <a:effectLst/>
                        </a:rPr>
                        <a:t> </a:t>
                      </a:r>
                      <a:endParaRPr lang="ru-RU" sz="1000" b="0" i="0" u="none" strike="noStrike" dirty="0">
                        <a:effectLst/>
                        <a:latin typeface="Arial" panose="020B0604020202020204" pitchFamily="34" charset="0"/>
                      </a:endParaRPr>
                    </a:p>
                  </a:txBody>
                  <a:tcPr marL="4525" marR="4525" marT="4525" marB="0"/>
                </a:tc>
                <a:tc>
                  <a:txBody>
                    <a:bodyPr/>
                    <a:lstStyle/>
                    <a:p>
                      <a:pPr algn="l" fontAlgn="t"/>
                      <a:r>
                        <a:rPr lang="ru-RU" sz="1000" u="none" strike="noStrike">
                          <a:effectLst/>
                        </a:rPr>
                        <a:t> </a:t>
                      </a:r>
                      <a:endParaRPr lang="ru-RU" sz="1000" b="0" i="0" u="none" strike="noStrike">
                        <a:effectLst/>
                        <a:latin typeface="Arial" panose="020B0604020202020204" pitchFamily="34" charset="0"/>
                      </a:endParaRPr>
                    </a:p>
                  </a:txBody>
                  <a:tcPr marL="4525" marR="4525" marT="4525" marB="0"/>
                </a:tc>
                <a:extLst>
                  <a:ext uri="{0D108BD9-81ED-4DB2-BD59-A6C34878D82A}">
                    <a16:rowId xmlns:a16="http://schemas.microsoft.com/office/drawing/2014/main" val="198224287"/>
                  </a:ext>
                </a:extLst>
              </a:tr>
              <a:tr h="373276">
                <a:tc rowSpan="2">
                  <a:txBody>
                    <a:bodyPr/>
                    <a:lstStyle/>
                    <a:p>
                      <a:pPr algn="ctr" fontAlgn="ctr"/>
                      <a:r>
                        <a:rPr lang="ru-RU" sz="1000" u="none" strike="noStrike">
                          <a:effectLst/>
                        </a:rPr>
                        <a:t>Доступ к каналам распределения</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dirty="0">
                          <a:effectLst/>
                        </a:rPr>
                        <a:t>доступ к каналам распределения полностью открыт</a:t>
                      </a:r>
                      <a:endParaRPr lang="ru-RU" sz="1000" b="0" i="0" u="none" strike="noStrike" dirty="0">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доступ к каналам распределения требует умеренных инвестиций</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доступ к каналам распределения ограничен</a:t>
                      </a:r>
                      <a:endParaRPr lang="ru-RU" sz="1000" b="0" i="0" u="none" strike="noStrike">
                        <a:effectLst/>
                        <a:latin typeface="Arial" panose="020B0604020202020204" pitchFamily="34" charset="0"/>
                      </a:endParaRPr>
                    </a:p>
                  </a:txBody>
                  <a:tcPr marL="4525" marR="4525" marT="4525" marB="0" anchor="ctr"/>
                </a:tc>
                <a:extLst>
                  <a:ext uri="{0D108BD9-81ED-4DB2-BD59-A6C34878D82A}">
                    <a16:rowId xmlns:a16="http://schemas.microsoft.com/office/drawing/2014/main" val="704249873"/>
                  </a:ext>
                </a:extLst>
              </a:tr>
              <a:tr h="132636">
                <a:tc vMerge="1">
                  <a:txBody>
                    <a:bodyPr/>
                    <a:lstStyle/>
                    <a:p>
                      <a:endParaRPr lang="ru-RU"/>
                    </a:p>
                  </a:txBody>
                  <a:tcPr/>
                </a:tc>
                <a:tc>
                  <a:txBody>
                    <a:bodyPr/>
                    <a:lstStyle/>
                    <a:p>
                      <a:pPr algn="ctr" fontAlgn="ctr"/>
                      <a:r>
                        <a:rPr lang="ru-RU" sz="1000" u="none" strike="noStrike">
                          <a:effectLst/>
                        </a:rPr>
                        <a:t> </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dirty="0">
                          <a:effectLst/>
                        </a:rPr>
                        <a:t> </a:t>
                      </a:r>
                      <a:endParaRPr lang="ru-RU" sz="1000" b="0" i="0" u="none" strike="noStrike" dirty="0">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 </a:t>
                      </a:r>
                      <a:endParaRPr lang="ru-RU" sz="1000" b="0" i="0" u="none" strike="noStrike">
                        <a:effectLst/>
                        <a:latin typeface="Arial" panose="020B0604020202020204" pitchFamily="34" charset="0"/>
                      </a:endParaRPr>
                    </a:p>
                  </a:txBody>
                  <a:tcPr marL="4525" marR="4525" marT="4525" marB="0" anchor="ctr"/>
                </a:tc>
                <a:extLst>
                  <a:ext uri="{0D108BD9-81ED-4DB2-BD59-A6C34878D82A}">
                    <a16:rowId xmlns:a16="http://schemas.microsoft.com/office/drawing/2014/main" val="3220090435"/>
                  </a:ext>
                </a:extLst>
              </a:tr>
              <a:tr h="441804">
                <a:tc rowSpan="2">
                  <a:txBody>
                    <a:bodyPr/>
                    <a:lstStyle/>
                    <a:p>
                      <a:pPr algn="ctr" fontAlgn="ctr"/>
                      <a:r>
                        <a:rPr lang="ru-RU" sz="1000" u="none" strike="noStrike">
                          <a:effectLst/>
                        </a:rPr>
                        <a:t>Политика правительства</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нет ограничивающих актов со стороны государства</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государство вмешивается в деятельность отрасли, но на низком уровне</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dirty="0">
                          <a:effectLst/>
                        </a:rPr>
                        <a:t>государство полностью регламентирует отрасль и устанавливает ограничения</a:t>
                      </a:r>
                      <a:endParaRPr lang="ru-RU" sz="1000" b="0" i="0" u="none" strike="noStrike" dirty="0">
                        <a:effectLst/>
                        <a:latin typeface="Arial" panose="020B0604020202020204" pitchFamily="34" charset="0"/>
                      </a:endParaRPr>
                    </a:p>
                  </a:txBody>
                  <a:tcPr marL="4525" marR="4525" marT="4525" marB="0" anchor="ctr"/>
                </a:tc>
                <a:extLst>
                  <a:ext uri="{0D108BD9-81ED-4DB2-BD59-A6C34878D82A}">
                    <a16:rowId xmlns:a16="http://schemas.microsoft.com/office/drawing/2014/main" val="3311784079"/>
                  </a:ext>
                </a:extLst>
              </a:tr>
              <a:tr h="137373">
                <a:tc vMerge="1">
                  <a:txBody>
                    <a:bodyPr/>
                    <a:lstStyle/>
                    <a:p>
                      <a:endParaRPr lang="ru-RU"/>
                    </a:p>
                  </a:txBody>
                  <a:tcPr/>
                </a:tc>
                <a:tc>
                  <a:txBody>
                    <a:bodyPr/>
                    <a:lstStyle/>
                    <a:p>
                      <a:pPr algn="ctr" fontAlgn="ctr"/>
                      <a:r>
                        <a:rPr lang="ru-RU" sz="1000" u="none" strike="noStrike">
                          <a:effectLst/>
                        </a:rPr>
                        <a:t> </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 </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dirty="0">
                          <a:effectLst/>
                        </a:rPr>
                        <a:t> </a:t>
                      </a:r>
                      <a:endParaRPr lang="ru-RU" sz="1000" b="0" i="0" u="none" strike="noStrike" dirty="0">
                        <a:effectLst/>
                        <a:latin typeface="Arial" panose="020B0604020202020204" pitchFamily="34" charset="0"/>
                      </a:endParaRPr>
                    </a:p>
                  </a:txBody>
                  <a:tcPr marL="4525" marR="4525" marT="4525" marB="0" anchor="ctr"/>
                </a:tc>
                <a:extLst>
                  <a:ext uri="{0D108BD9-81ED-4DB2-BD59-A6C34878D82A}">
                    <a16:rowId xmlns:a16="http://schemas.microsoft.com/office/drawing/2014/main" val="1784728829"/>
                  </a:ext>
                </a:extLst>
              </a:tr>
              <a:tr h="451473">
                <a:tc rowSpan="2">
                  <a:txBody>
                    <a:bodyPr/>
                    <a:lstStyle/>
                    <a:p>
                      <a:pPr algn="ctr" fontAlgn="ctr"/>
                      <a:r>
                        <a:rPr lang="ru-RU" sz="1000" u="none" strike="noStrike">
                          <a:effectLst/>
                        </a:rPr>
                        <a:t>Готовность существующих игроков к снижению цен</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игроки не пойдут на снижение цен</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крупные игроки не пойдут на снижение цен</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dirty="0">
                          <a:effectLst/>
                        </a:rPr>
                        <a:t>при любой попытке ввода более дешевого предложения игроки снижают цены</a:t>
                      </a:r>
                      <a:endParaRPr lang="ru-RU" sz="1000" b="0" i="0" u="none" strike="noStrike" dirty="0">
                        <a:effectLst/>
                        <a:latin typeface="Calibri" panose="020F0502020204030204" pitchFamily="34" charset="0"/>
                      </a:endParaRPr>
                    </a:p>
                  </a:txBody>
                  <a:tcPr marL="4525" marR="4525" marT="4525" marB="0" anchor="ctr"/>
                </a:tc>
                <a:extLst>
                  <a:ext uri="{0D108BD9-81ED-4DB2-BD59-A6C34878D82A}">
                    <a16:rowId xmlns:a16="http://schemas.microsoft.com/office/drawing/2014/main" val="3849078035"/>
                  </a:ext>
                </a:extLst>
              </a:tr>
              <a:tr h="146847">
                <a:tc vMerge="1">
                  <a:txBody>
                    <a:bodyPr/>
                    <a:lstStyle/>
                    <a:p>
                      <a:endParaRPr lang="ru-RU"/>
                    </a:p>
                  </a:txBody>
                  <a:tcPr/>
                </a:tc>
                <a:tc>
                  <a:txBody>
                    <a:bodyPr/>
                    <a:lstStyle/>
                    <a:p>
                      <a:pPr algn="ctr" fontAlgn="ctr"/>
                      <a:r>
                        <a:rPr lang="ru-RU" sz="1000" u="none" strike="noStrike">
                          <a:effectLst/>
                        </a:rPr>
                        <a:t> </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 </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 </a:t>
                      </a:r>
                      <a:endParaRPr lang="ru-RU" sz="1000" b="0" i="0" u="none" strike="noStrike">
                        <a:effectLst/>
                        <a:latin typeface="Arial" panose="020B0604020202020204" pitchFamily="34" charset="0"/>
                      </a:endParaRPr>
                    </a:p>
                  </a:txBody>
                  <a:tcPr marL="4525" marR="4525" marT="4525" marB="0" anchor="ctr"/>
                </a:tc>
                <a:extLst>
                  <a:ext uri="{0D108BD9-81ED-4DB2-BD59-A6C34878D82A}">
                    <a16:rowId xmlns:a16="http://schemas.microsoft.com/office/drawing/2014/main" val="2660960245"/>
                  </a:ext>
                </a:extLst>
              </a:tr>
              <a:tr h="279483">
                <a:tc rowSpan="2">
                  <a:txBody>
                    <a:bodyPr/>
                    <a:lstStyle/>
                    <a:p>
                      <a:pPr algn="ctr" fontAlgn="ctr"/>
                      <a:r>
                        <a:rPr lang="ru-RU" sz="1000" u="none" strike="noStrike">
                          <a:effectLst/>
                        </a:rPr>
                        <a:t>Темп роста отрасли</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высокий и растущий</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a:effectLst/>
                        </a:rPr>
                        <a:t>замедляющийся</a:t>
                      </a:r>
                      <a:endParaRPr lang="ru-RU" sz="1000" b="0" i="0" u="none" strike="noStrike">
                        <a:effectLst/>
                        <a:latin typeface="Arial" panose="020B0604020202020204" pitchFamily="34" charset="0"/>
                      </a:endParaRPr>
                    </a:p>
                  </a:txBody>
                  <a:tcPr marL="4525" marR="4525" marT="4525" marB="0" anchor="ctr"/>
                </a:tc>
                <a:tc>
                  <a:txBody>
                    <a:bodyPr/>
                    <a:lstStyle/>
                    <a:p>
                      <a:pPr algn="ctr" fontAlgn="ctr"/>
                      <a:r>
                        <a:rPr lang="ru-RU" sz="1000" u="none" strike="noStrike" dirty="0">
                          <a:effectLst/>
                        </a:rPr>
                        <a:t>стагнация или падение</a:t>
                      </a:r>
                      <a:endParaRPr lang="ru-RU" sz="1000" b="0" i="0" u="none" strike="noStrike" dirty="0">
                        <a:effectLst/>
                        <a:latin typeface="Arial" panose="020B0604020202020204" pitchFamily="34" charset="0"/>
                      </a:endParaRPr>
                    </a:p>
                  </a:txBody>
                  <a:tcPr marL="4525" marR="4525" marT="4525" marB="0" anchor="ctr"/>
                </a:tc>
                <a:extLst>
                  <a:ext uri="{0D108BD9-81ED-4DB2-BD59-A6C34878D82A}">
                    <a16:rowId xmlns:a16="http://schemas.microsoft.com/office/drawing/2014/main" val="9951787"/>
                  </a:ext>
                </a:extLst>
              </a:tr>
              <a:tr h="164848">
                <a:tc vMerge="1">
                  <a:txBody>
                    <a:bodyPr/>
                    <a:lstStyle/>
                    <a:p>
                      <a:endParaRPr lang="ru-RU"/>
                    </a:p>
                  </a:txBody>
                  <a:tcPr/>
                </a:tc>
                <a:tc>
                  <a:txBody>
                    <a:bodyPr/>
                    <a:lstStyle/>
                    <a:p>
                      <a:pPr algn="ctr" fontAlgn="ctr"/>
                      <a:r>
                        <a:rPr lang="ru-RU" sz="1000" u="none" strike="noStrike">
                          <a:effectLst/>
                        </a:rPr>
                        <a:t> </a:t>
                      </a:r>
                      <a:endParaRPr lang="ru-RU" sz="1000" b="0" i="0" u="none" strike="noStrike">
                        <a:effectLst/>
                        <a:latin typeface="Arial" panose="020B0604020202020204" pitchFamily="34" charset="0"/>
                      </a:endParaRPr>
                    </a:p>
                  </a:txBody>
                  <a:tcPr marL="4525" marR="4525" marT="4525" marB="0" anchor="ctr"/>
                </a:tc>
                <a:tc>
                  <a:txBody>
                    <a:bodyPr/>
                    <a:lstStyle/>
                    <a:p>
                      <a:pPr algn="l" fontAlgn="t"/>
                      <a:r>
                        <a:rPr lang="ru-RU" sz="1000" u="none" strike="noStrike">
                          <a:effectLst/>
                        </a:rPr>
                        <a:t> </a:t>
                      </a:r>
                      <a:endParaRPr lang="ru-RU" sz="1000" b="0" i="0" u="none" strike="noStrike">
                        <a:effectLst/>
                        <a:latin typeface="Arial" panose="020B0604020202020204" pitchFamily="34" charset="0"/>
                      </a:endParaRPr>
                    </a:p>
                  </a:txBody>
                  <a:tcPr marL="4525" marR="4525" marT="4525" marB="0"/>
                </a:tc>
                <a:tc>
                  <a:txBody>
                    <a:bodyPr/>
                    <a:lstStyle/>
                    <a:p>
                      <a:pPr algn="l" fontAlgn="t"/>
                      <a:r>
                        <a:rPr lang="ru-RU" sz="1000" u="none" strike="noStrike" dirty="0">
                          <a:effectLst/>
                        </a:rPr>
                        <a:t> </a:t>
                      </a:r>
                      <a:endParaRPr lang="ru-RU" sz="1000" b="0" i="0" u="none" strike="noStrike" dirty="0">
                        <a:effectLst/>
                        <a:latin typeface="Arial" panose="020B0604020202020204" pitchFamily="34" charset="0"/>
                      </a:endParaRPr>
                    </a:p>
                  </a:txBody>
                  <a:tcPr marL="4525" marR="4525" marT="4525" marB="0"/>
                </a:tc>
                <a:extLst>
                  <a:ext uri="{0D108BD9-81ED-4DB2-BD59-A6C34878D82A}">
                    <a16:rowId xmlns:a16="http://schemas.microsoft.com/office/drawing/2014/main" val="2414284381"/>
                  </a:ext>
                </a:extLst>
              </a:tr>
              <a:tr h="137373">
                <a:tc>
                  <a:txBody>
                    <a:bodyPr/>
                    <a:lstStyle/>
                    <a:p>
                      <a:pPr algn="ctr" fontAlgn="ctr"/>
                      <a:r>
                        <a:rPr lang="ru-RU" sz="1000" u="none" strike="noStrike">
                          <a:effectLst/>
                        </a:rPr>
                        <a:t>ИТОГОВЫЙ БАЛЛ</a:t>
                      </a:r>
                      <a:endParaRPr lang="ru-RU" sz="1000" b="1" i="0" u="none" strike="noStrike">
                        <a:effectLst/>
                        <a:latin typeface="Arial" panose="020B0604020202020204" pitchFamily="34" charset="0"/>
                      </a:endParaRPr>
                    </a:p>
                  </a:txBody>
                  <a:tcPr marL="4525" marR="4525" marT="4525" marB="0" anchor="ctr"/>
                </a:tc>
                <a:tc gridSpan="3">
                  <a:txBody>
                    <a:bodyPr/>
                    <a:lstStyle/>
                    <a:p>
                      <a:pPr algn="ctr" fontAlgn="b"/>
                      <a:r>
                        <a:rPr lang="ru-RU" sz="1000" u="none" strike="noStrike" dirty="0">
                          <a:effectLst/>
                        </a:rPr>
                        <a:t> </a:t>
                      </a:r>
                      <a:endParaRPr lang="ru-RU" sz="1000" b="1" i="0" u="none" strike="noStrike" dirty="0">
                        <a:effectLst/>
                        <a:latin typeface="Arial" panose="020B0604020202020204" pitchFamily="34" charset="0"/>
                      </a:endParaRPr>
                    </a:p>
                  </a:txBody>
                  <a:tcPr marL="4525" marR="4525" marT="4525" marB="0" anchor="b"/>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3178839528"/>
                  </a:ext>
                </a:extLst>
              </a:tr>
              <a:tr h="123162">
                <a:tc>
                  <a:txBody>
                    <a:bodyPr/>
                    <a:lstStyle/>
                    <a:p>
                      <a:pPr algn="ctr" fontAlgn="ctr"/>
                      <a:r>
                        <a:rPr lang="ru-RU" sz="1000" u="none" strike="noStrike">
                          <a:effectLst/>
                        </a:rPr>
                        <a:t>8 баллов</a:t>
                      </a:r>
                      <a:endParaRPr lang="ru-RU" sz="1000" b="1" i="0" u="none" strike="noStrike">
                        <a:effectLst/>
                        <a:latin typeface="Arial" panose="020B0604020202020204" pitchFamily="34" charset="0"/>
                      </a:endParaRPr>
                    </a:p>
                  </a:txBody>
                  <a:tcPr marL="4525" marR="4525" marT="4525" marB="0" anchor="ctr"/>
                </a:tc>
                <a:tc gridSpan="3">
                  <a:txBody>
                    <a:bodyPr/>
                    <a:lstStyle/>
                    <a:p>
                      <a:pPr algn="ctr" fontAlgn="b"/>
                      <a:r>
                        <a:rPr lang="ru-RU" sz="1000" u="none" strike="noStrike" dirty="0">
                          <a:effectLst/>
                        </a:rPr>
                        <a:t>Низкий уровень угрозы входа новых игроков</a:t>
                      </a:r>
                      <a:endParaRPr lang="ru-RU" sz="1000" b="0" i="0" u="none" strike="noStrike" dirty="0">
                        <a:effectLst/>
                        <a:latin typeface="Arial" panose="020B0604020202020204" pitchFamily="34" charset="0"/>
                      </a:endParaRPr>
                    </a:p>
                  </a:txBody>
                  <a:tcPr marL="4525" marR="4525" marT="4525" marB="0" anchor="b"/>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479700744"/>
                  </a:ext>
                </a:extLst>
              </a:tr>
              <a:tr h="123162">
                <a:tc>
                  <a:txBody>
                    <a:bodyPr/>
                    <a:lstStyle/>
                    <a:p>
                      <a:pPr algn="ctr" fontAlgn="ctr"/>
                      <a:r>
                        <a:rPr lang="ru-RU" sz="1000" u="none" strike="noStrike">
                          <a:effectLst/>
                        </a:rPr>
                        <a:t>9-16 баллов</a:t>
                      </a:r>
                      <a:endParaRPr lang="ru-RU" sz="1000" b="1" i="0" u="none" strike="noStrike">
                        <a:effectLst/>
                        <a:latin typeface="Arial" panose="020B0604020202020204" pitchFamily="34" charset="0"/>
                      </a:endParaRPr>
                    </a:p>
                  </a:txBody>
                  <a:tcPr marL="4525" marR="4525" marT="4525" marB="0" anchor="ctr"/>
                </a:tc>
                <a:tc gridSpan="3">
                  <a:txBody>
                    <a:bodyPr/>
                    <a:lstStyle/>
                    <a:p>
                      <a:pPr algn="ctr" fontAlgn="b"/>
                      <a:r>
                        <a:rPr lang="ru-RU" sz="1000" u="none" strike="noStrike" dirty="0">
                          <a:effectLst/>
                        </a:rPr>
                        <a:t>Средний уровень угрозы входа новых игроков</a:t>
                      </a:r>
                      <a:endParaRPr lang="ru-RU" sz="1000" b="0" i="0" u="none" strike="noStrike" dirty="0">
                        <a:effectLst/>
                        <a:latin typeface="Arial" panose="020B0604020202020204" pitchFamily="34" charset="0"/>
                      </a:endParaRPr>
                    </a:p>
                  </a:txBody>
                  <a:tcPr marL="4525" marR="4525" marT="4525" marB="0" anchor="b"/>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3461558787"/>
                  </a:ext>
                </a:extLst>
              </a:tr>
              <a:tr h="123162">
                <a:tc>
                  <a:txBody>
                    <a:bodyPr/>
                    <a:lstStyle/>
                    <a:p>
                      <a:pPr algn="ctr" fontAlgn="ctr"/>
                      <a:r>
                        <a:rPr lang="ru-RU" sz="1000" u="none" strike="noStrike">
                          <a:effectLst/>
                        </a:rPr>
                        <a:t>17-24 балла</a:t>
                      </a:r>
                      <a:endParaRPr lang="ru-RU" sz="1000" b="1" i="0" u="none" strike="noStrike">
                        <a:effectLst/>
                        <a:latin typeface="Arial" panose="020B0604020202020204" pitchFamily="34" charset="0"/>
                      </a:endParaRPr>
                    </a:p>
                  </a:txBody>
                  <a:tcPr marL="4525" marR="4525" marT="4525" marB="0" anchor="ctr"/>
                </a:tc>
                <a:tc gridSpan="3">
                  <a:txBody>
                    <a:bodyPr/>
                    <a:lstStyle/>
                    <a:p>
                      <a:pPr algn="ctr" fontAlgn="b"/>
                      <a:r>
                        <a:rPr lang="ru-RU" sz="1000" u="none" strike="noStrike" dirty="0">
                          <a:effectLst/>
                        </a:rPr>
                        <a:t>Высокий уровень угрозы входа новых игроков</a:t>
                      </a:r>
                      <a:endParaRPr lang="ru-RU" sz="1000" b="0" i="0" u="none" strike="noStrike" dirty="0">
                        <a:effectLst/>
                        <a:latin typeface="Arial" panose="020B0604020202020204" pitchFamily="34" charset="0"/>
                      </a:endParaRPr>
                    </a:p>
                  </a:txBody>
                  <a:tcPr marL="4525" marR="4525" marT="4525" marB="0" anchor="b"/>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3235906863"/>
                  </a:ext>
                </a:extLst>
              </a:tr>
            </a:tbl>
          </a:graphicData>
        </a:graphic>
      </p:graphicFrame>
    </p:spTree>
    <p:extLst>
      <p:ext uri="{BB962C8B-B14F-4D97-AF65-F5344CB8AC3E}">
        <p14:creationId xmlns:p14="http://schemas.microsoft.com/office/powerpoint/2010/main" val="3546446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D1830A8A-5CF6-E380-FE45-0161A9FD3FB9}"/>
              </a:ext>
            </a:extLst>
          </p:cNvPr>
          <p:cNvSpPr>
            <a:spLocks noGrp="1"/>
          </p:cNvSpPr>
          <p:nvPr>
            <p:ph type="sldNum" sz="quarter" idx="12"/>
          </p:nvPr>
        </p:nvSpPr>
        <p:spPr/>
        <p:txBody>
          <a:bodyPr/>
          <a:lstStyle/>
          <a:p>
            <a:fld id="{9DD0990C-240E-4F6D-96E9-50DBAF192F56}" type="slidenum">
              <a:rPr lang="ru-RU" smtClean="0"/>
              <a:t>9</a:t>
            </a:fld>
            <a:endParaRPr lang="ru-RU" dirty="0"/>
          </a:p>
        </p:txBody>
      </p:sp>
      <p:cxnSp>
        <p:nvCxnSpPr>
          <p:cNvPr id="5" name="Прямая соединительная линия 4">
            <a:extLst>
              <a:ext uri="{FF2B5EF4-FFF2-40B4-BE49-F238E27FC236}">
                <a16:creationId xmlns:a16="http://schemas.microsoft.com/office/drawing/2014/main" id="{6A063D83-07EA-1CCD-6AF6-AF3A95DCE881}"/>
              </a:ext>
            </a:extLst>
          </p:cNvPr>
          <p:cNvCxnSpPr/>
          <p:nvPr/>
        </p:nvCxnSpPr>
        <p:spPr>
          <a:xfrm>
            <a:off x="683568" y="980728"/>
            <a:ext cx="69950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5">
            <a:extLst>
              <a:ext uri="{FF2B5EF4-FFF2-40B4-BE49-F238E27FC236}">
                <a16:creationId xmlns:a16="http://schemas.microsoft.com/office/drawing/2014/main" id="{C4F58C88-211C-457E-9399-DFC50685CD88}"/>
              </a:ext>
            </a:extLst>
          </p:cNvPr>
          <p:cNvCxnSpPr/>
          <p:nvPr/>
        </p:nvCxnSpPr>
        <p:spPr>
          <a:xfrm flipV="1">
            <a:off x="899592" y="476672"/>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Заголовок 2">
            <a:extLst>
              <a:ext uri="{FF2B5EF4-FFF2-40B4-BE49-F238E27FC236}">
                <a16:creationId xmlns:a16="http://schemas.microsoft.com/office/drawing/2014/main" id="{2D83E3A5-C644-5570-084E-963DCBF4C536}"/>
              </a:ext>
            </a:extLst>
          </p:cNvPr>
          <p:cNvSpPr txBox="1">
            <a:spLocks/>
          </p:cNvSpPr>
          <p:nvPr/>
        </p:nvSpPr>
        <p:spPr>
          <a:xfrm>
            <a:off x="938675" y="474020"/>
            <a:ext cx="7725544" cy="504056"/>
          </a:xfrm>
          <a:prstGeom prst="rect">
            <a:avLst/>
          </a:prstGeom>
        </p:spPr>
        <p:txBody>
          <a:bodyPr vert="horz" lIns="91440" tIns="45720" rIns="91440" bIns="45720" rtlCol="0" anchor="ctr">
            <a:noAutofit/>
          </a:bodyPr>
          <a:lstStyle>
            <a:defPPr>
              <a:defRPr lang="ru-RU"/>
            </a:defPPr>
            <a:lvl1pPr>
              <a:spcBef>
                <a:spcPct val="0"/>
              </a:spcBef>
              <a:buNone/>
              <a:defRPr sz="2000" b="1">
                <a:solidFill>
                  <a:srgbClr val="000000"/>
                </a:solidFill>
                <a:latin typeface="Arial"/>
                <a:ea typeface="+mj-ea"/>
                <a:cs typeface="Arial"/>
              </a:defRPr>
            </a:lvl1pPr>
          </a:lstStyle>
          <a:p>
            <a:r>
              <a:rPr lang="ru-RU" dirty="0">
                <a:latin typeface="Gilroy Bold" pitchFamily="50" charset="-52"/>
              </a:rPr>
              <a:t>Полный анализ «5 сил М. Портера». </a:t>
            </a:r>
          </a:p>
        </p:txBody>
      </p:sp>
      <p:sp>
        <p:nvSpPr>
          <p:cNvPr id="9" name="TextBox 8">
            <a:extLst>
              <a:ext uri="{FF2B5EF4-FFF2-40B4-BE49-F238E27FC236}">
                <a16:creationId xmlns:a16="http://schemas.microsoft.com/office/drawing/2014/main" id="{B13E032D-08D7-D2EF-060E-045C0847D39D}"/>
              </a:ext>
            </a:extLst>
          </p:cNvPr>
          <p:cNvSpPr txBox="1"/>
          <p:nvPr/>
        </p:nvSpPr>
        <p:spPr>
          <a:xfrm>
            <a:off x="971600" y="980728"/>
            <a:ext cx="4572000" cy="369332"/>
          </a:xfrm>
          <a:prstGeom prst="rect">
            <a:avLst/>
          </a:prstGeom>
          <a:noFill/>
        </p:spPr>
        <p:txBody>
          <a:bodyPr wrap="square">
            <a:spAutoFit/>
          </a:bodyPr>
          <a:lstStyle/>
          <a:p>
            <a:r>
              <a:rPr lang="ru-RU" dirty="0"/>
              <a:t>Разбор силы покупателей</a:t>
            </a:r>
          </a:p>
        </p:txBody>
      </p:sp>
      <p:graphicFrame>
        <p:nvGraphicFramePr>
          <p:cNvPr id="2" name="Таблица 1">
            <a:extLst>
              <a:ext uri="{FF2B5EF4-FFF2-40B4-BE49-F238E27FC236}">
                <a16:creationId xmlns:a16="http://schemas.microsoft.com/office/drawing/2014/main" id="{BC536D11-8103-4C79-69BC-87DF4F4B7B74}"/>
              </a:ext>
            </a:extLst>
          </p:cNvPr>
          <p:cNvGraphicFramePr>
            <a:graphicFrameLocks noGrp="1"/>
          </p:cNvGraphicFramePr>
          <p:nvPr>
            <p:extLst>
              <p:ext uri="{D42A27DB-BD31-4B8C-83A1-F6EECF244321}">
                <p14:modId xmlns:p14="http://schemas.microsoft.com/office/powerpoint/2010/main" val="136968511"/>
              </p:ext>
            </p:extLst>
          </p:nvPr>
        </p:nvGraphicFramePr>
        <p:xfrm>
          <a:off x="907151" y="1528510"/>
          <a:ext cx="6771481" cy="4564785"/>
        </p:xfrm>
        <a:graphic>
          <a:graphicData uri="http://schemas.openxmlformats.org/drawingml/2006/table">
            <a:tbl>
              <a:tblPr>
                <a:tableStyleId>{C4B1156A-380E-4F78-BDF5-A606A8083BF9}</a:tableStyleId>
              </a:tblPr>
              <a:tblGrid>
                <a:gridCol w="1658688">
                  <a:extLst>
                    <a:ext uri="{9D8B030D-6E8A-4147-A177-3AD203B41FA5}">
                      <a16:colId xmlns:a16="http://schemas.microsoft.com/office/drawing/2014/main" val="2577015614"/>
                    </a:ext>
                  </a:extLst>
                </a:gridCol>
                <a:gridCol w="1712483">
                  <a:extLst>
                    <a:ext uri="{9D8B030D-6E8A-4147-A177-3AD203B41FA5}">
                      <a16:colId xmlns:a16="http://schemas.microsoft.com/office/drawing/2014/main" val="622833881"/>
                    </a:ext>
                  </a:extLst>
                </a:gridCol>
                <a:gridCol w="1712483">
                  <a:extLst>
                    <a:ext uri="{9D8B030D-6E8A-4147-A177-3AD203B41FA5}">
                      <a16:colId xmlns:a16="http://schemas.microsoft.com/office/drawing/2014/main" val="3364658967"/>
                    </a:ext>
                  </a:extLst>
                </a:gridCol>
                <a:gridCol w="1687827">
                  <a:extLst>
                    <a:ext uri="{9D8B030D-6E8A-4147-A177-3AD203B41FA5}">
                      <a16:colId xmlns:a16="http://schemas.microsoft.com/office/drawing/2014/main" val="205851579"/>
                    </a:ext>
                  </a:extLst>
                </a:gridCol>
              </a:tblGrid>
              <a:tr h="160465">
                <a:tc rowSpan="2">
                  <a:txBody>
                    <a:bodyPr/>
                    <a:lstStyle/>
                    <a:p>
                      <a:pPr algn="ctr" fontAlgn="ctr"/>
                      <a:r>
                        <a:rPr lang="ru-RU" sz="1000" u="none" strike="noStrike" dirty="0">
                          <a:effectLst/>
                        </a:rPr>
                        <a:t>Параметр оценки</a:t>
                      </a:r>
                      <a:endParaRPr lang="ru-RU" sz="1000" b="1" i="0" u="none" strike="noStrike" dirty="0">
                        <a:effectLst/>
                        <a:latin typeface="Calibri" panose="020F0502020204030204" pitchFamily="34" charset="0"/>
                      </a:endParaRPr>
                    </a:p>
                  </a:txBody>
                  <a:tcPr marL="6746" marR="6746" marT="6746" marB="0" anchor="ctr"/>
                </a:tc>
                <a:tc gridSpan="3">
                  <a:txBody>
                    <a:bodyPr/>
                    <a:lstStyle/>
                    <a:p>
                      <a:pPr algn="ctr" fontAlgn="ctr"/>
                      <a:r>
                        <a:rPr lang="ru-RU" sz="1000" u="none" strike="noStrike">
                          <a:effectLst/>
                        </a:rPr>
                        <a:t>Оценка параметра</a:t>
                      </a:r>
                      <a:endParaRPr lang="ru-RU" sz="1000" b="1" i="0" u="none" strike="noStrike">
                        <a:effectLst/>
                        <a:latin typeface="Calibri" panose="020F0502020204030204" pitchFamily="34" charset="0"/>
                      </a:endParaRPr>
                    </a:p>
                  </a:txBody>
                  <a:tcPr marL="6746" marR="6746" marT="6746" marB="0" anchor="ct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3021259483"/>
                  </a:ext>
                </a:extLst>
              </a:tr>
              <a:tr h="401299">
                <a:tc vMerge="1">
                  <a:txBody>
                    <a:bodyPr/>
                    <a:lstStyle/>
                    <a:p>
                      <a:endParaRPr lang="ru-RU"/>
                    </a:p>
                  </a:txBody>
                  <a:tcPr/>
                </a:tc>
                <a:tc>
                  <a:txBody>
                    <a:bodyPr/>
                    <a:lstStyle/>
                    <a:p>
                      <a:pPr algn="ctr" fontAlgn="ctr"/>
                      <a:r>
                        <a:rPr lang="ru-RU" sz="1000" u="none" strike="noStrike">
                          <a:effectLst/>
                        </a:rPr>
                        <a:t>3</a:t>
                      </a:r>
                      <a:endParaRPr lang="ru-RU" sz="1000" b="1"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2</a:t>
                      </a:r>
                      <a:endParaRPr lang="ru-RU" sz="1000" b="1"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1</a:t>
                      </a:r>
                      <a:endParaRPr lang="ru-RU" sz="1000" b="1" i="0" u="none" strike="noStrike">
                        <a:effectLst/>
                        <a:latin typeface="Calibri" panose="020F0502020204030204" pitchFamily="34" charset="0"/>
                      </a:endParaRPr>
                    </a:p>
                  </a:txBody>
                  <a:tcPr marL="6746" marR="6746" marT="6746" marB="0" anchor="ctr"/>
                </a:tc>
                <a:extLst>
                  <a:ext uri="{0D108BD9-81ED-4DB2-BD59-A6C34878D82A}">
                    <a16:rowId xmlns:a16="http://schemas.microsoft.com/office/drawing/2014/main" val="2529786999"/>
                  </a:ext>
                </a:extLst>
              </a:tr>
              <a:tr h="579957">
                <a:tc rowSpan="2">
                  <a:txBody>
                    <a:bodyPr/>
                    <a:lstStyle/>
                    <a:p>
                      <a:pPr algn="ctr" fontAlgn="ctr"/>
                      <a:r>
                        <a:rPr lang="ru-RU" sz="1000" u="none" strike="noStrike">
                          <a:effectLst/>
                        </a:rPr>
                        <a:t>Доля покупателей с большим объемом продаж</a:t>
                      </a:r>
                      <a:endParaRPr lang="ru-RU" sz="1000" b="0"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Более 80% продаж приходится на нескольких клиентов</a:t>
                      </a:r>
                      <a:endParaRPr lang="ru-RU" sz="1000" b="0"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Незначительная часть клиентов держит около 50% продаж</a:t>
                      </a:r>
                      <a:endParaRPr lang="ru-RU" sz="1000" b="0"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Объем продаж равномерно распределен между всеми клиентами</a:t>
                      </a:r>
                      <a:endParaRPr lang="ru-RU" sz="1000" b="0" i="0" u="none" strike="noStrike">
                        <a:effectLst/>
                        <a:latin typeface="Calibri" panose="020F0502020204030204" pitchFamily="34" charset="0"/>
                      </a:endParaRPr>
                    </a:p>
                  </a:txBody>
                  <a:tcPr marL="6746" marR="6746" marT="6746" marB="0" anchor="ctr"/>
                </a:tc>
                <a:extLst>
                  <a:ext uri="{0D108BD9-81ED-4DB2-BD59-A6C34878D82A}">
                    <a16:rowId xmlns:a16="http://schemas.microsoft.com/office/drawing/2014/main" val="2607879019"/>
                  </a:ext>
                </a:extLst>
              </a:tr>
              <a:tr h="197249">
                <a:tc vMerge="1">
                  <a:txBody>
                    <a:bodyPr/>
                    <a:lstStyle/>
                    <a:p>
                      <a:endParaRPr lang="ru-RU"/>
                    </a:p>
                  </a:txBody>
                  <a:tcPr/>
                </a:tc>
                <a:tc>
                  <a:txBody>
                    <a:bodyPr/>
                    <a:lstStyle/>
                    <a:p>
                      <a:pPr algn="ctr" fontAlgn="ctr"/>
                      <a:r>
                        <a:rPr lang="ru-RU" sz="1000" u="none" strike="noStrike">
                          <a:effectLst/>
                        </a:rPr>
                        <a:t> </a:t>
                      </a:r>
                      <a:endParaRPr lang="ru-RU" sz="1000" b="0"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 </a:t>
                      </a:r>
                      <a:endParaRPr lang="ru-RU" sz="1000" b="0"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 </a:t>
                      </a:r>
                      <a:endParaRPr lang="ru-RU" sz="1000" b="0" i="0" u="none" strike="noStrike">
                        <a:effectLst/>
                        <a:latin typeface="Calibri" panose="020F0502020204030204" pitchFamily="34" charset="0"/>
                      </a:endParaRPr>
                    </a:p>
                  </a:txBody>
                  <a:tcPr marL="6746" marR="6746" marT="6746" marB="0" anchor="ctr"/>
                </a:tc>
                <a:extLst>
                  <a:ext uri="{0D108BD9-81ED-4DB2-BD59-A6C34878D82A}">
                    <a16:rowId xmlns:a16="http://schemas.microsoft.com/office/drawing/2014/main" val="1893298957"/>
                  </a:ext>
                </a:extLst>
              </a:tr>
              <a:tr h="625756">
                <a:tc rowSpan="2">
                  <a:txBody>
                    <a:bodyPr/>
                    <a:lstStyle/>
                    <a:p>
                      <a:pPr algn="ctr" fontAlgn="ctr"/>
                      <a:r>
                        <a:rPr lang="ru-RU" sz="1000" u="none" strike="noStrike">
                          <a:effectLst/>
                        </a:rPr>
                        <a:t>Склонность к переключению на товары субституты</a:t>
                      </a:r>
                      <a:endParaRPr lang="ru-RU" sz="1000" b="0"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Товар компании не уникален, существуют полные аналоги</a:t>
                      </a:r>
                      <a:endParaRPr lang="ru-RU" sz="1000" b="0"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Товар компании частично уникален, есть отличительные хар-ки, важные для клиентов</a:t>
                      </a:r>
                      <a:endParaRPr lang="ru-RU" sz="1000" b="0"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Товар компании полностью уникален, аналогов нет</a:t>
                      </a:r>
                      <a:endParaRPr lang="ru-RU" sz="1000" b="0" i="0" u="none" strike="noStrike">
                        <a:effectLst/>
                        <a:latin typeface="Calibri" panose="020F0502020204030204" pitchFamily="34" charset="0"/>
                      </a:endParaRPr>
                    </a:p>
                  </a:txBody>
                  <a:tcPr marL="6746" marR="6746" marT="6746" marB="0" anchor="ctr"/>
                </a:tc>
                <a:extLst>
                  <a:ext uri="{0D108BD9-81ED-4DB2-BD59-A6C34878D82A}">
                    <a16:rowId xmlns:a16="http://schemas.microsoft.com/office/drawing/2014/main" val="3838768878"/>
                  </a:ext>
                </a:extLst>
              </a:tr>
              <a:tr h="258464">
                <a:tc vMerge="1">
                  <a:txBody>
                    <a:bodyPr/>
                    <a:lstStyle/>
                    <a:p>
                      <a:endParaRPr lang="ru-RU"/>
                    </a:p>
                  </a:txBody>
                  <a:tcPr/>
                </a:tc>
                <a:tc>
                  <a:txBody>
                    <a:bodyPr/>
                    <a:lstStyle/>
                    <a:p>
                      <a:pPr algn="ctr" fontAlgn="ctr"/>
                      <a:r>
                        <a:rPr lang="ru-RU" sz="1000" u="none" strike="noStrike">
                          <a:effectLst/>
                        </a:rPr>
                        <a:t> </a:t>
                      </a:r>
                      <a:endParaRPr lang="ru-RU" sz="1000" b="0"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 </a:t>
                      </a:r>
                      <a:endParaRPr lang="ru-RU" sz="1000" b="0"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 </a:t>
                      </a:r>
                      <a:endParaRPr lang="ru-RU" sz="1000" b="0" i="0" u="none" strike="noStrike">
                        <a:effectLst/>
                        <a:latin typeface="Calibri" panose="020F0502020204030204" pitchFamily="34" charset="0"/>
                      </a:endParaRPr>
                    </a:p>
                  </a:txBody>
                  <a:tcPr marL="6746" marR="6746" marT="6746" marB="0" anchor="ctr"/>
                </a:tc>
                <a:extLst>
                  <a:ext uri="{0D108BD9-81ED-4DB2-BD59-A6C34878D82A}">
                    <a16:rowId xmlns:a16="http://schemas.microsoft.com/office/drawing/2014/main" val="4224831941"/>
                  </a:ext>
                </a:extLst>
              </a:tr>
              <a:tr h="571342">
                <a:tc rowSpan="2">
                  <a:txBody>
                    <a:bodyPr/>
                    <a:lstStyle/>
                    <a:p>
                      <a:pPr algn="ctr" fontAlgn="ctr"/>
                      <a:r>
                        <a:rPr lang="ru-RU" sz="1000" u="none" strike="noStrike" dirty="0">
                          <a:effectLst/>
                        </a:rPr>
                        <a:t>Чувствительность к цене</a:t>
                      </a:r>
                      <a:endParaRPr lang="ru-RU" sz="1000" b="0" i="0" u="none" strike="noStrike" dirty="0">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Покупатель всегда будет переключаться на товар с более низкой ценой</a:t>
                      </a:r>
                      <a:endParaRPr lang="ru-RU" sz="1000" b="0"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Покупатель будет переключаться только при значимой разнице в цене</a:t>
                      </a:r>
                      <a:endParaRPr lang="ru-RU" sz="1000" b="0"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Покупатель абсолютно не чувствителен к цене</a:t>
                      </a:r>
                      <a:endParaRPr lang="ru-RU" sz="1000" b="0" i="0" u="none" strike="noStrike">
                        <a:effectLst/>
                        <a:latin typeface="Calibri" panose="020F0502020204030204" pitchFamily="34" charset="0"/>
                      </a:endParaRPr>
                    </a:p>
                  </a:txBody>
                  <a:tcPr marL="6746" marR="6746" marT="6746" marB="0" anchor="ctr"/>
                </a:tc>
                <a:extLst>
                  <a:ext uri="{0D108BD9-81ED-4DB2-BD59-A6C34878D82A}">
                    <a16:rowId xmlns:a16="http://schemas.microsoft.com/office/drawing/2014/main" val="1166443692"/>
                  </a:ext>
                </a:extLst>
              </a:tr>
              <a:tr h="204051">
                <a:tc vMerge="1">
                  <a:txBody>
                    <a:bodyPr/>
                    <a:lstStyle/>
                    <a:p>
                      <a:endParaRPr lang="ru-RU"/>
                    </a:p>
                  </a:txBody>
                  <a:tcPr/>
                </a:tc>
                <a:tc>
                  <a:txBody>
                    <a:bodyPr/>
                    <a:lstStyle/>
                    <a:p>
                      <a:pPr algn="ctr" fontAlgn="ctr"/>
                      <a:r>
                        <a:rPr lang="ru-RU" sz="1000" u="none" strike="noStrike">
                          <a:effectLst/>
                        </a:rPr>
                        <a:t> </a:t>
                      </a:r>
                      <a:endParaRPr lang="ru-RU" sz="1000" b="0"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 </a:t>
                      </a:r>
                      <a:endParaRPr lang="ru-RU" sz="1000" b="0"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 </a:t>
                      </a:r>
                      <a:endParaRPr lang="ru-RU" sz="1000" b="0" i="0" u="none" strike="noStrike">
                        <a:effectLst/>
                        <a:latin typeface="Calibri" panose="020F0502020204030204" pitchFamily="34" charset="0"/>
                      </a:endParaRPr>
                    </a:p>
                  </a:txBody>
                  <a:tcPr marL="6746" marR="6746" marT="6746" marB="0" anchor="ctr"/>
                </a:tc>
                <a:extLst>
                  <a:ext uri="{0D108BD9-81ED-4DB2-BD59-A6C34878D82A}">
                    <a16:rowId xmlns:a16="http://schemas.microsoft.com/office/drawing/2014/main" val="2458756899"/>
                  </a:ext>
                </a:extLst>
              </a:tr>
              <a:tr h="525544">
                <a:tc rowSpan="2">
                  <a:txBody>
                    <a:bodyPr/>
                    <a:lstStyle/>
                    <a:p>
                      <a:pPr algn="ctr" fontAlgn="ctr"/>
                      <a:r>
                        <a:rPr lang="ru-RU" sz="1000" u="none" strike="noStrike">
                          <a:effectLst/>
                        </a:rPr>
                        <a:t>Потребители не удовлетворены качеством существующего на рынке</a:t>
                      </a:r>
                      <a:endParaRPr lang="ru-RU" sz="1000" b="0"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Неудовлетворенность ключевыми характеристиками товара</a:t>
                      </a:r>
                      <a:endParaRPr lang="ru-RU" sz="1000" b="0"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Неудовлетворенность второстепенными характеристиками товара</a:t>
                      </a:r>
                      <a:endParaRPr lang="ru-RU" sz="1000" b="0"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Полная удовлетворенность качеством</a:t>
                      </a:r>
                      <a:endParaRPr lang="ru-RU" sz="1000" b="0" i="0" u="none" strike="noStrike">
                        <a:effectLst/>
                        <a:latin typeface="Calibri" panose="020F0502020204030204" pitchFamily="34" charset="0"/>
                      </a:endParaRPr>
                    </a:p>
                  </a:txBody>
                  <a:tcPr marL="6746" marR="6746" marT="6746" marB="0" anchor="ctr"/>
                </a:tc>
                <a:extLst>
                  <a:ext uri="{0D108BD9-81ED-4DB2-BD59-A6C34878D82A}">
                    <a16:rowId xmlns:a16="http://schemas.microsoft.com/office/drawing/2014/main" val="1223284814"/>
                  </a:ext>
                </a:extLst>
              </a:tr>
              <a:tr h="197249">
                <a:tc vMerge="1">
                  <a:txBody>
                    <a:bodyPr/>
                    <a:lstStyle/>
                    <a:p>
                      <a:endParaRPr lang="ru-RU"/>
                    </a:p>
                  </a:txBody>
                  <a:tcPr/>
                </a:tc>
                <a:tc>
                  <a:txBody>
                    <a:bodyPr/>
                    <a:lstStyle/>
                    <a:p>
                      <a:pPr algn="ctr" fontAlgn="ctr"/>
                      <a:r>
                        <a:rPr lang="ru-RU" sz="1000" u="none" strike="noStrike">
                          <a:effectLst/>
                        </a:rPr>
                        <a:t> </a:t>
                      </a:r>
                      <a:endParaRPr lang="ru-RU" sz="1000" b="0"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 </a:t>
                      </a:r>
                      <a:endParaRPr lang="ru-RU" sz="1000" b="0" i="0" u="none" strike="noStrike">
                        <a:effectLst/>
                        <a:latin typeface="Calibri" panose="020F0502020204030204" pitchFamily="34" charset="0"/>
                      </a:endParaRPr>
                    </a:p>
                  </a:txBody>
                  <a:tcPr marL="6746" marR="6746" marT="6746" marB="0" anchor="ctr"/>
                </a:tc>
                <a:tc>
                  <a:txBody>
                    <a:bodyPr/>
                    <a:lstStyle/>
                    <a:p>
                      <a:pPr algn="ctr" fontAlgn="ctr"/>
                      <a:r>
                        <a:rPr lang="ru-RU" sz="1000" u="none" strike="noStrike">
                          <a:effectLst/>
                        </a:rPr>
                        <a:t> </a:t>
                      </a:r>
                      <a:endParaRPr lang="ru-RU" sz="1000" b="0" i="0" u="none" strike="noStrike">
                        <a:effectLst/>
                        <a:latin typeface="Calibri" panose="020F0502020204030204" pitchFamily="34" charset="0"/>
                      </a:endParaRPr>
                    </a:p>
                  </a:txBody>
                  <a:tcPr marL="6746" marR="6746" marT="6746" marB="0" anchor="ctr"/>
                </a:tc>
                <a:extLst>
                  <a:ext uri="{0D108BD9-81ED-4DB2-BD59-A6C34878D82A}">
                    <a16:rowId xmlns:a16="http://schemas.microsoft.com/office/drawing/2014/main" val="890091222"/>
                  </a:ext>
                </a:extLst>
              </a:tr>
              <a:tr h="258464">
                <a:tc>
                  <a:txBody>
                    <a:bodyPr/>
                    <a:lstStyle/>
                    <a:p>
                      <a:pPr algn="ctr" fontAlgn="ctr"/>
                      <a:r>
                        <a:rPr lang="ru-RU" sz="1000" u="none" strike="noStrike">
                          <a:effectLst/>
                        </a:rPr>
                        <a:t>ИТОГОВЫЙ БАЛЛ</a:t>
                      </a:r>
                      <a:endParaRPr lang="ru-RU" sz="1000" b="1" i="0" u="none" strike="noStrike">
                        <a:effectLst/>
                        <a:latin typeface="Calibri" panose="020F0502020204030204" pitchFamily="34" charset="0"/>
                      </a:endParaRPr>
                    </a:p>
                  </a:txBody>
                  <a:tcPr marL="6746" marR="6746" marT="6746" marB="0" anchor="ctr"/>
                </a:tc>
                <a:tc gridSpan="3">
                  <a:txBody>
                    <a:bodyPr/>
                    <a:lstStyle/>
                    <a:p>
                      <a:pPr algn="ctr" fontAlgn="ctr"/>
                      <a:r>
                        <a:rPr lang="ru-RU" sz="1000" u="none" strike="noStrike">
                          <a:effectLst/>
                        </a:rPr>
                        <a:t> </a:t>
                      </a:r>
                      <a:endParaRPr lang="ru-RU" sz="1000" b="1" i="0" u="none" strike="noStrike">
                        <a:effectLst/>
                        <a:latin typeface="Calibri" panose="020F0502020204030204" pitchFamily="34" charset="0"/>
                      </a:endParaRPr>
                    </a:p>
                  </a:txBody>
                  <a:tcPr marL="6746" marR="6746" marT="6746" marB="0" anchor="ct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694434303"/>
                  </a:ext>
                </a:extLst>
              </a:tr>
              <a:tr h="231257">
                <a:tc>
                  <a:txBody>
                    <a:bodyPr/>
                    <a:lstStyle/>
                    <a:p>
                      <a:pPr algn="ctr" fontAlgn="ctr"/>
                      <a:r>
                        <a:rPr lang="ru-RU" sz="1000" u="none" strike="noStrike">
                          <a:effectLst/>
                        </a:rPr>
                        <a:t>4 балла</a:t>
                      </a:r>
                      <a:endParaRPr lang="ru-RU" sz="1000" b="1" i="0" u="none" strike="noStrike">
                        <a:effectLst/>
                        <a:latin typeface="Calibri" panose="020F0502020204030204" pitchFamily="34" charset="0"/>
                      </a:endParaRPr>
                    </a:p>
                  </a:txBody>
                  <a:tcPr marL="6746" marR="6746" marT="6746" marB="0" anchor="ctr"/>
                </a:tc>
                <a:tc gridSpan="3">
                  <a:txBody>
                    <a:bodyPr/>
                    <a:lstStyle/>
                    <a:p>
                      <a:pPr algn="ctr" fontAlgn="ctr"/>
                      <a:r>
                        <a:rPr lang="ru-RU" sz="1000" u="none" strike="noStrike">
                          <a:effectLst/>
                        </a:rPr>
                        <a:t>Низкий уровень угрозы ухода клиентов</a:t>
                      </a:r>
                      <a:endParaRPr lang="ru-RU" sz="1000" b="0" i="0" u="none" strike="noStrike">
                        <a:effectLst/>
                        <a:latin typeface="Calibri" panose="020F0502020204030204" pitchFamily="34" charset="0"/>
                      </a:endParaRPr>
                    </a:p>
                  </a:txBody>
                  <a:tcPr marL="6746" marR="6746" marT="6746" marB="0" anchor="ct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2088201719"/>
                  </a:ext>
                </a:extLst>
              </a:tr>
              <a:tr h="176844">
                <a:tc>
                  <a:txBody>
                    <a:bodyPr/>
                    <a:lstStyle/>
                    <a:p>
                      <a:pPr algn="ctr" fontAlgn="ctr"/>
                      <a:r>
                        <a:rPr lang="ru-RU" sz="1000" u="none" strike="noStrike">
                          <a:effectLst/>
                        </a:rPr>
                        <a:t>5-8 баллов</a:t>
                      </a:r>
                      <a:endParaRPr lang="ru-RU" sz="1000" b="1" i="0" u="none" strike="noStrike">
                        <a:effectLst/>
                        <a:latin typeface="Calibri" panose="020F0502020204030204" pitchFamily="34" charset="0"/>
                      </a:endParaRPr>
                    </a:p>
                  </a:txBody>
                  <a:tcPr marL="6746" marR="6746" marT="6746" marB="0" anchor="ctr"/>
                </a:tc>
                <a:tc gridSpan="3">
                  <a:txBody>
                    <a:bodyPr/>
                    <a:lstStyle/>
                    <a:p>
                      <a:pPr algn="ctr" fontAlgn="ctr"/>
                      <a:r>
                        <a:rPr lang="ru-RU" sz="1000" u="none" strike="noStrike">
                          <a:effectLst/>
                        </a:rPr>
                        <a:t>Средний уровень угрозы ухода клиентов</a:t>
                      </a:r>
                      <a:endParaRPr lang="ru-RU" sz="1000" b="0" i="0" u="none" strike="noStrike">
                        <a:effectLst/>
                        <a:latin typeface="Calibri" panose="020F0502020204030204" pitchFamily="34" charset="0"/>
                      </a:endParaRPr>
                    </a:p>
                  </a:txBody>
                  <a:tcPr marL="6746" marR="6746" marT="6746" marB="0" anchor="ct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927064461"/>
                  </a:ext>
                </a:extLst>
              </a:tr>
              <a:tr h="176844">
                <a:tc>
                  <a:txBody>
                    <a:bodyPr/>
                    <a:lstStyle/>
                    <a:p>
                      <a:pPr algn="ctr" fontAlgn="ctr"/>
                      <a:r>
                        <a:rPr lang="ru-RU" sz="1000" u="none" strike="noStrike">
                          <a:effectLst/>
                        </a:rPr>
                        <a:t>9-12 баллов</a:t>
                      </a:r>
                      <a:endParaRPr lang="ru-RU" sz="1000" b="1" i="0" u="none" strike="noStrike">
                        <a:effectLst/>
                        <a:latin typeface="Calibri" panose="020F0502020204030204" pitchFamily="34" charset="0"/>
                      </a:endParaRPr>
                    </a:p>
                  </a:txBody>
                  <a:tcPr marL="6746" marR="6746" marT="6746" marB="0" anchor="ctr"/>
                </a:tc>
                <a:tc gridSpan="3">
                  <a:txBody>
                    <a:bodyPr/>
                    <a:lstStyle/>
                    <a:p>
                      <a:pPr algn="ctr" fontAlgn="ctr"/>
                      <a:r>
                        <a:rPr lang="ru-RU" sz="1000" u="none" strike="noStrike" dirty="0">
                          <a:effectLst/>
                        </a:rPr>
                        <a:t>Высокий уровень угрозы потери клиентов</a:t>
                      </a:r>
                      <a:endParaRPr lang="ru-RU" sz="1000" b="0" i="0" u="none" strike="noStrike" dirty="0">
                        <a:effectLst/>
                        <a:latin typeface="Calibri" panose="020F0502020204030204" pitchFamily="34" charset="0"/>
                      </a:endParaRPr>
                    </a:p>
                  </a:txBody>
                  <a:tcPr marL="6746" marR="6746" marT="6746" marB="0" anchor="ct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886228347"/>
                  </a:ext>
                </a:extLst>
              </a:tr>
            </a:tbl>
          </a:graphicData>
        </a:graphic>
      </p:graphicFrame>
    </p:spTree>
    <p:extLst>
      <p:ext uri="{BB962C8B-B14F-4D97-AF65-F5344CB8AC3E}">
        <p14:creationId xmlns:p14="http://schemas.microsoft.com/office/powerpoint/2010/main" val="2713142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D1830A8A-5CF6-E380-FE45-0161A9FD3FB9}"/>
              </a:ext>
            </a:extLst>
          </p:cNvPr>
          <p:cNvSpPr>
            <a:spLocks noGrp="1"/>
          </p:cNvSpPr>
          <p:nvPr>
            <p:ph type="sldNum" sz="quarter" idx="12"/>
          </p:nvPr>
        </p:nvSpPr>
        <p:spPr/>
        <p:txBody>
          <a:bodyPr/>
          <a:lstStyle/>
          <a:p>
            <a:fld id="{9DD0990C-240E-4F6D-96E9-50DBAF192F56}" type="slidenum">
              <a:rPr lang="ru-RU" smtClean="0"/>
              <a:t>10</a:t>
            </a:fld>
            <a:endParaRPr lang="ru-RU" dirty="0"/>
          </a:p>
        </p:txBody>
      </p:sp>
      <p:cxnSp>
        <p:nvCxnSpPr>
          <p:cNvPr id="5" name="Прямая соединительная линия 4">
            <a:extLst>
              <a:ext uri="{FF2B5EF4-FFF2-40B4-BE49-F238E27FC236}">
                <a16:creationId xmlns:a16="http://schemas.microsoft.com/office/drawing/2014/main" id="{6A063D83-07EA-1CCD-6AF6-AF3A95DCE881}"/>
              </a:ext>
            </a:extLst>
          </p:cNvPr>
          <p:cNvCxnSpPr/>
          <p:nvPr/>
        </p:nvCxnSpPr>
        <p:spPr>
          <a:xfrm>
            <a:off x="683568" y="980728"/>
            <a:ext cx="69950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5">
            <a:extLst>
              <a:ext uri="{FF2B5EF4-FFF2-40B4-BE49-F238E27FC236}">
                <a16:creationId xmlns:a16="http://schemas.microsoft.com/office/drawing/2014/main" id="{C4F58C88-211C-457E-9399-DFC50685CD88}"/>
              </a:ext>
            </a:extLst>
          </p:cNvPr>
          <p:cNvCxnSpPr/>
          <p:nvPr/>
        </p:nvCxnSpPr>
        <p:spPr>
          <a:xfrm flipV="1">
            <a:off x="899592" y="476672"/>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Заголовок 2">
            <a:extLst>
              <a:ext uri="{FF2B5EF4-FFF2-40B4-BE49-F238E27FC236}">
                <a16:creationId xmlns:a16="http://schemas.microsoft.com/office/drawing/2014/main" id="{2D83E3A5-C644-5570-084E-963DCBF4C536}"/>
              </a:ext>
            </a:extLst>
          </p:cNvPr>
          <p:cNvSpPr txBox="1">
            <a:spLocks/>
          </p:cNvSpPr>
          <p:nvPr/>
        </p:nvSpPr>
        <p:spPr>
          <a:xfrm>
            <a:off x="938675" y="474020"/>
            <a:ext cx="7725544" cy="504056"/>
          </a:xfrm>
          <a:prstGeom prst="rect">
            <a:avLst/>
          </a:prstGeom>
        </p:spPr>
        <p:txBody>
          <a:bodyPr vert="horz" lIns="91440" tIns="45720" rIns="91440" bIns="45720" rtlCol="0" anchor="ctr">
            <a:noAutofit/>
          </a:bodyPr>
          <a:lstStyle>
            <a:defPPr>
              <a:defRPr lang="ru-RU"/>
            </a:defPPr>
            <a:lvl1pPr>
              <a:spcBef>
                <a:spcPct val="0"/>
              </a:spcBef>
              <a:buNone/>
              <a:defRPr sz="2000" b="1">
                <a:solidFill>
                  <a:srgbClr val="000000"/>
                </a:solidFill>
                <a:latin typeface="Arial"/>
                <a:ea typeface="+mj-ea"/>
                <a:cs typeface="Arial"/>
              </a:defRPr>
            </a:lvl1pPr>
          </a:lstStyle>
          <a:p>
            <a:r>
              <a:rPr lang="ru-RU" dirty="0">
                <a:latin typeface="Gilroy Bold" pitchFamily="50" charset="-52"/>
              </a:rPr>
              <a:t>Полный анализ «5 сил М. Портера». </a:t>
            </a:r>
          </a:p>
        </p:txBody>
      </p:sp>
      <p:sp>
        <p:nvSpPr>
          <p:cNvPr id="9" name="TextBox 8">
            <a:extLst>
              <a:ext uri="{FF2B5EF4-FFF2-40B4-BE49-F238E27FC236}">
                <a16:creationId xmlns:a16="http://schemas.microsoft.com/office/drawing/2014/main" id="{B13E032D-08D7-D2EF-060E-045C0847D39D}"/>
              </a:ext>
            </a:extLst>
          </p:cNvPr>
          <p:cNvSpPr txBox="1"/>
          <p:nvPr/>
        </p:nvSpPr>
        <p:spPr>
          <a:xfrm>
            <a:off x="971600" y="980728"/>
            <a:ext cx="4572000" cy="369332"/>
          </a:xfrm>
          <a:prstGeom prst="rect">
            <a:avLst/>
          </a:prstGeom>
          <a:noFill/>
        </p:spPr>
        <p:txBody>
          <a:bodyPr wrap="square">
            <a:spAutoFit/>
          </a:bodyPr>
          <a:lstStyle/>
          <a:p>
            <a:r>
              <a:rPr lang="ru-RU" dirty="0"/>
              <a:t>Разбор силы поставщиков</a:t>
            </a:r>
          </a:p>
        </p:txBody>
      </p:sp>
      <p:graphicFrame>
        <p:nvGraphicFramePr>
          <p:cNvPr id="3" name="Таблица 2">
            <a:extLst>
              <a:ext uri="{FF2B5EF4-FFF2-40B4-BE49-F238E27FC236}">
                <a16:creationId xmlns:a16="http://schemas.microsoft.com/office/drawing/2014/main" id="{F9A9B9E4-70E6-E837-137E-4A19FE8AA17A}"/>
              </a:ext>
            </a:extLst>
          </p:cNvPr>
          <p:cNvGraphicFramePr>
            <a:graphicFrameLocks noGrp="1"/>
          </p:cNvGraphicFramePr>
          <p:nvPr>
            <p:extLst>
              <p:ext uri="{D42A27DB-BD31-4B8C-83A1-F6EECF244321}">
                <p14:modId xmlns:p14="http://schemas.microsoft.com/office/powerpoint/2010/main" val="3153561998"/>
              </p:ext>
            </p:extLst>
          </p:nvPr>
        </p:nvGraphicFramePr>
        <p:xfrm>
          <a:off x="899593" y="1628800"/>
          <a:ext cx="6779038" cy="4525961"/>
        </p:xfrm>
        <a:graphic>
          <a:graphicData uri="http://schemas.openxmlformats.org/drawingml/2006/table">
            <a:tbl>
              <a:tblPr>
                <a:tableStyleId>{C4B1156A-380E-4F78-BDF5-A606A8083BF9}</a:tableStyleId>
              </a:tblPr>
              <a:tblGrid>
                <a:gridCol w="2090732">
                  <a:extLst>
                    <a:ext uri="{9D8B030D-6E8A-4147-A177-3AD203B41FA5}">
                      <a16:colId xmlns:a16="http://schemas.microsoft.com/office/drawing/2014/main" val="1197491825"/>
                    </a:ext>
                  </a:extLst>
                </a:gridCol>
                <a:gridCol w="2344153">
                  <a:extLst>
                    <a:ext uri="{9D8B030D-6E8A-4147-A177-3AD203B41FA5}">
                      <a16:colId xmlns:a16="http://schemas.microsoft.com/office/drawing/2014/main" val="99583242"/>
                    </a:ext>
                  </a:extLst>
                </a:gridCol>
                <a:gridCol w="2344153">
                  <a:extLst>
                    <a:ext uri="{9D8B030D-6E8A-4147-A177-3AD203B41FA5}">
                      <a16:colId xmlns:a16="http://schemas.microsoft.com/office/drawing/2014/main" val="3422391294"/>
                    </a:ext>
                  </a:extLst>
                </a:gridCol>
              </a:tblGrid>
              <a:tr h="197597">
                <a:tc rowSpan="2">
                  <a:txBody>
                    <a:bodyPr/>
                    <a:lstStyle/>
                    <a:p>
                      <a:pPr algn="ctr" fontAlgn="ctr"/>
                      <a:r>
                        <a:rPr lang="ru-RU" sz="1100" u="none" strike="noStrike">
                          <a:effectLst/>
                        </a:rPr>
                        <a:t>Параметр оценки</a:t>
                      </a:r>
                      <a:endParaRPr lang="ru-RU" sz="1100" b="1" i="0" u="none" strike="noStrike">
                        <a:effectLst/>
                        <a:latin typeface="Calibri" panose="020F0502020204030204" pitchFamily="34" charset="0"/>
                      </a:endParaRPr>
                    </a:p>
                  </a:txBody>
                  <a:tcPr marL="7820" marR="7820" marT="7820" marB="0" anchor="ctr"/>
                </a:tc>
                <a:tc gridSpan="2">
                  <a:txBody>
                    <a:bodyPr/>
                    <a:lstStyle/>
                    <a:p>
                      <a:pPr algn="ctr" fontAlgn="ctr"/>
                      <a:r>
                        <a:rPr lang="ru-RU" sz="1100" u="none" strike="noStrike">
                          <a:effectLst/>
                        </a:rPr>
                        <a:t>Оценка параметра</a:t>
                      </a:r>
                      <a:endParaRPr lang="ru-RU" sz="1100" b="1" i="0" u="none" strike="noStrike">
                        <a:effectLst/>
                        <a:latin typeface="Calibri" panose="020F0502020204030204" pitchFamily="34" charset="0"/>
                      </a:endParaRPr>
                    </a:p>
                  </a:txBody>
                  <a:tcPr marL="7820" marR="7820" marT="7820" marB="0" anchor="ctr"/>
                </a:tc>
                <a:tc hMerge="1">
                  <a:txBody>
                    <a:bodyPr/>
                    <a:lstStyle/>
                    <a:p>
                      <a:endParaRPr lang="ru-RU"/>
                    </a:p>
                  </a:txBody>
                  <a:tcPr/>
                </a:tc>
                <a:extLst>
                  <a:ext uri="{0D108BD9-81ED-4DB2-BD59-A6C34878D82A}">
                    <a16:rowId xmlns:a16="http://schemas.microsoft.com/office/drawing/2014/main" val="1275769619"/>
                  </a:ext>
                </a:extLst>
              </a:tr>
              <a:tr h="445766">
                <a:tc vMerge="1">
                  <a:txBody>
                    <a:bodyPr/>
                    <a:lstStyle/>
                    <a:p>
                      <a:endParaRPr lang="ru-RU"/>
                    </a:p>
                  </a:txBody>
                  <a:tcPr/>
                </a:tc>
                <a:tc>
                  <a:txBody>
                    <a:bodyPr/>
                    <a:lstStyle/>
                    <a:p>
                      <a:pPr algn="ctr" fontAlgn="ctr"/>
                      <a:r>
                        <a:rPr lang="ru-RU" sz="1100" u="none" strike="noStrike">
                          <a:effectLst/>
                        </a:rPr>
                        <a:t>2</a:t>
                      </a:r>
                      <a:endParaRPr lang="ru-RU" sz="1100" b="1" i="0" u="none" strike="noStrike">
                        <a:effectLst/>
                        <a:latin typeface="Calibri" panose="020F0502020204030204" pitchFamily="34" charset="0"/>
                      </a:endParaRPr>
                    </a:p>
                  </a:txBody>
                  <a:tcPr marL="7820" marR="7820" marT="7820" marB="0" anchor="ctr"/>
                </a:tc>
                <a:tc>
                  <a:txBody>
                    <a:bodyPr/>
                    <a:lstStyle/>
                    <a:p>
                      <a:pPr algn="ctr" fontAlgn="ctr"/>
                      <a:r>
                        <a:rPr lang="ru-RU" sz="1100" u="none" strike="noStrike">
                          <a:effectLst/>
                        </a:rPr>
                        <a:t>1</a:t>
                      </a:r>
                      <a:endParaRPr lang="ru-RU" sz="1100" b="1" i="0" u="none" strike="noStrike">
                        <a:effectLst/>
                        <a:latin typeface="Calibri" panose="020F0502020204030204" pitchFamily="34" charset="0"/>
                      </a:endParaRPr>
                    </a:p>
                  </a:txBody>
                  <a:tcPr marL="7820" marR="7820" marT="7820" marB="0" anchor="ctr"/>
                </a:tc>
                <a:extLst>
                  <a:ext uri="{0D108BD9-81ED-4DB2-BD59-A6C34878D82A}">
                    <a16:rowId xmlns:a16="http://schemas.microsoft.com/office/drawing/2014/main" val="2816541616"/>
                  </a:ext>
                </a:extLst>
              </a:tr>
              <a:tr h="422305">
                <a:tc rowSpan="2">
                  <a:txBody>
                    <a:bodyPr/>
                    <a:lstStyle/>
                    <a:p>
                      <a:pPr algn="ctr" fontAlgn="ctr"/>
                      <a:r>
                        <a:rPr lang="ru-RU" sz="1100" u="none" strike="noStrike">
                          <a:effectLst/>
                        </a:rPr>
                        <a:t>Количество поставщиков</a:t>
                      </a:r>
                      <a:endParaRPr lang="ru-RU" sz="1100" b="0" i="0" u="none" strike="noStrike">
                        <a:effectLst/>
                        <a:latin typeface="Calibri" panose="020F0502020204030204" pitchFamily="34" charset="0"/>
                      </a:endParaRPr>
                    </a:p>
                  </a:txBody>
                  <a:tcPr marL="7820" marR="7820" marT="7820" marB="0" anchor="ctr"/>
                </a:tc>
                <a:tc>
                  <a:txBody>
                    <a:bodyPr/>
                    <a:lstStyle/>
                    <a:p>
                      <a:pPr algn="ctr" fontAlgn="ctr"/>
                      <a:r>
                        <a:rPr lang="ru-RU" sz="1100" u="none" strike="noStrike">
                          <a:effectLst/>
                        </a:rPr>
                        <a:t>Незначительное количество поставщиков или монополия</a:t>
                      </a:r>
                      <a:endParaRPr lang="ru-RU" sz="1100" b="0" i="0" u="none" strike="noStrike">
                        <a:effectLst/>
                        <a:latin typeface="Calibri" panose="020F0502020204030204" pitchFamily="34" charset="0"/>
                      </a:endParaRPr>
                    </a:p>
                  </a:txBody>
                  <a:tcPr marL="7820" marR="7820" marT="7820" marB="0" anchor="ctr"/>
                </a:tc>
                <a:tc>
                  <a:txBody>
                    <a:bodyPr/>
                    <a:lstStyle/>
                    <a:p>
                      <a:pPr algn="ctr" fontAlgn="ctr"/>
                      <a:r>
                        <a:rPr lang="ru-RU" sz="1100" u="none" strike="noStrike">
                          <a:effectLst/>
                        </a:rPr>
                        <a:t>Широкий выбор поставщиков</a:t>
                      </a:r>
                      <a:endParaRPr lang="ru-RU" sz="1100" b="0" i="0" u="none" strike="noStrike">
                        <a:effectLst/>
                        <a:latin typeface="Calibri" panose="020F0502020204030204" pitchFamily="34" charset="0"/>
                      </a:endParaRPr>
                    </a:p>
                  </a:txBody>
                  <a:tcPr marL="7820" marR="7820" marT="7820" marB="0" anchor="ctr"/>
                </a:tc>
                <a:extLst>
                  <a:ext uri="{0D108BD9-81ED-4DB2-BD59-A6C34878D82A}">
                    <a16:rowId xmlns:a16="http://schemas.microsoft.com/office/drawing/2014/main" val="3677815841"/>
                  </a:ext>
                </a:extLst>
              </a:tr>
              <a:tr h="272152">
                <a:tc vMerge="1">
                  <a:txBody>
                    <a:bodyPr/>
                    <a:lstStyle/>
                    <a:p>
                      <a:endParaRPr lang="ru-RU"/>
                    </a:p>
                  </a:txBody>
                  <a:tcPr/>
                </a:tc>
                <a:tc>
                  <a:txBody>
                    <a:bodyPr/>
                    <a:lstStyle/>
                    <a:p>
                      <a:pPr algn="ctr" fontAlgn="ctr"/>
                      <a:r>
                        <a:rPr lang="ru-RU" sz="1100" u="none" strike="noStrike">
                          <a:effectLst/>
                        </a:rPr>
                        <a:t> </a:t>
                      </a:r>
                      <a:endParaRPr lang="ru-RU" sz="1100" b="0" i="0" u="none" strike="noStrike">
                        <a:effectLst/>
                        <a:latin typeface="Calibri" panose="020F0502020204030204" pitchFamily="34" charset="0"/>
                      </a:endParaRPr>
                    </a:p>
                  </a:txBody>
                  <a:tcPr marL="7820" marR="7820" marT="7820" marB="0" anchor="ctr"/>
                </a:tc>
                <a:tc>
                  <a:txBody>
                    <a:bodyPr/>
                    <a:lstStyle/>
                    <a:p>
                      <a:pPr algn="ctr" fontAlgn="ctr"/>
                      <a:r>
                        <a:rPr lang="ru-RU" sz="1100" u="none" strike="noStrike">
                          <a:effectLst/>
                        </a:rPr>
                        <a:t> </a:t>
                      </a:r>
                      <a:endParaRPr lang="ru-RU" sz="1100" b="0" i="0" u="none" strike="noStrike">
                        <a:effectLst/>
                        <a:latin typeface="Calibri" panose="020F0502020204030204" pitchFamily="34" charset="0"/>
                      </a:endParaRPr>
                    </a:p>
                  </a:txBody>
                  <a:tcPr marL="7820" marR="7820" marT="7820" marB="0" anchor="ctr"/>
                </a:tc>
                <a:extLst>
                  <a:ext uri="{0D108BD9-81ED-4DB2-BD59-A6C34878D82A}">
                    <a16:rowId xmlns:a16="http://schemas.microsoft.com/office/drawing/2014/main" val="3134483516"/>
                  </a:ext>
                </a:extLst>
              </a:tr>
              <a:tr h="477048">
                <a:tc rowSpan="2">
                  <a:txBody>
                    <a:bodyPr/>
                    <a:lstStyle/>
                    <a:p>
                      <a:pPr algn="ctr" fontAlgn="ctr"/>
                      <a:r>
                        <a:rPr lang="ru-RU" sz="1100" u="none" strike="noStrike">
                          <a:effectLst/>
                        </a:rPr>
                        <a:t>Ограниченность ресурсов поставщиков</a:t>
                      </a:r>
                      <a:endParaRPr lang="ru-RU" sz="1100" b="0" i="0" u="none" strike="noStrike">
                        <a:effectLst/>
                        <a:latin typeface="Calibri" panose="020F0502020204030204" pitchFamily="34" charset="0"/>
                      </a:endParaRPr>
                    </a:p>
                  </a:txBody>
                  <a:tcPr marL="7820" marR="7820" marT="7820" marB="0" anchor="ctr"/>
                </a:tc>
                <a:tc>
                  <a:txBody>
                    <a:bodyPr/>
                    <a:lstStyle/>
                    <a:p>
                      <a:pPr algn="ctr" fontAlgn="ctr"/>
                      <a:r>
                        <a:rPr lang="ru-RU" sz="1100" u="none" strike="noStrike">
                          <a:effectLst/>
                        </a:rPr>
                        <a:t>Ограниченность в объемах</a:t>
                      </a:r>
                      <a:endParaRPr lang="ru-RU" sz="1100" b="0" i="0" u="none" strike="noStrike">
                        <a:effectLst/>
                        <a:latin typeface="Calibri" panose="020F0502020204030204" pitchFamily="34" charset="0"/>
                      </a:endParaRPr>
                    </a:p>
                  </a:txBody>
                  <a:tcPr marL="7820" marR="7820" marT="7820" marB="0" anchor="ctr"/>
                </a:tc>
                <a:tc>
                  <a:txBody>
                    <a:bodyPr/>
                    <a:lstStyle/>
                    <a:p>
                      <a:pPr algn="ctr" fontAlgn="ctr"/>
                      <a:r>
                        <a:rPr lang="ru-RU" sz="1100" u="none" strike="noStrike" dirty="0">
                          <a:effectLst/>
                        </a:rPr>
                        <a:t>Неограниченность в объемах</a:t>
                      </a:r>
                      <a:endParaRPr lang="ru-RU" sz="1100" b="0" i="0" u="none" strike="noStrike" dirty="0">
                        <a:effectLst/>
                        <a:latin typeface="Calibri" panose="020F0502020204030204" pitchFamily="34" charset="0"/>
                      </a:endParaRPr>
                    </a:p>
                  </a:txBody>
                  <a:tcPr marL="7820" marR="7820" marT="7820" marB="0" anchor="ctr"/>
                </a:tc>
                <a:extLst>
                  <a:ext uri="{0D108BD9-81ED-4DB2-BD59-A6C34878D82A}">
                    <a16:rowId xmlns:a16="http://schemas.microsoft.com/office/drawing/2014/main" val="1953460457"/>
                  </a:ext>
                </a:extLst>
              </a:tr>
              <a:tr h="272152">
                <a:tc vMerge="1">
                  <a:txBody>
                    <a:bodyPr/>
                    <a:lstStyle/>
                    <a:p>
                      <a:endParaRPr lang="ru-RU"/>
                    </a:p>
                  </a:txBody>
                  <a:tcPr/>
                </a:tc>
                <a:tc>
                  <a:txBody>
                    <a:bodyPr/>
                    <a:lstStyle/>
                    <a:p>
                      <a:pPr algn="ctr" fontAlgn="ctr"/>
                      <a:r>
                        <a:rPr lang="ru-RU" sz="1100" u="none" strike="noStrike">
                          <a:effectLst/>
                        </a:rPr>
                        <a:t> </a:t>
                      </a:r>
                      <a:endParaRPr lang="ru-RU" sz="1100" b="0" i="0" u="none" strike="noStrike">
                        <a:effectLst/>
                        <a:latin typeface="Calibri" panose="020F0502020204030204" pitchFamily="34" charset="0"/>
                      </a:endParaRPr>
                    </a:p>
                  </a:txBody>
                  <a:tcPr marL="7820" marR="7820" marT="7820" marB="0" anchor="ctr"/>
                </a:tc>
                <a:tc>
                  <a:txBody>
                    <a:bodyPr/>
                    <a:lstStyle/>
                    <a:p>
                      <a:pPr algn="ctr" fontAlgn="ctr"/>
                      <a:r>
                        <a:rPr lang="ru-RU" sz="1100" u="none" strike="noStrike">
                          <a:effectLst/>
                        </a:rPr>
                        <a:t> </a:t>
                      </a:r>
                      <a:endParaRPr lang="ru-RU" sz="1100" b="0" i="0" u="none" strike="noStrike">
                        <a:effectLst/>
                        <a:latin typeface="Calibri" panose="020F0502020204030204" pitchFamily="34" charset="0"/>
                      </a:endParaRPr>
                    </a:p>
                  </a:txBody>
                  <a:tcPr marL="7820" marR="7820" marT="7820" marB="0" anchor="ctr"/>
                </a:tc>
                <a:extLst>
                  <a:ext uri="{0D108BD9-81ED-4DB2-BD59-A6C34878D82A}">
                    <a16:rowId xmlns:a16="http://schemas.microsoft.com/office/drawing/2014/main" val="1325301107"/>
                  </a:ext>
                </a:extLst>
              </a:tr>
              <a:tr h="584971">
                <a:tc rowSpan="2">
                  <a:txBody>
                    <a:bodyPr/>
                    <a:lstStyle/>
                    <a:p>
                      <a:pPr algn="ctr" fontAlgn="ctr"/>
                      <a:r>
                        <a:rPr lang="ru-RU" sz="1100" u="none" strike="noStrike">
                          <a:effectLst/>
                        </a:rPr>
                        <a:t>Издержки переключения</a:t>
                      </a:r>
                      <a:endParaRPr lang="ru-RU" sz="1100" b="0" i="0" u="none" strike="noStrike">
                        <a:effectLst/>
                        <a:latin typeface="Calibri" panose="020F0502020204030204" pitchFamily="34" charset="0"/>
                      </a:endParaRPr>
                    </a:p>
                  </a:txBody>
                  <a:tcPr marL="7820" marR="7820" marT="7820" marB="0" anchor="ctr"/>
                </a:tc>
                <a:tc>
                  <a:txBody>
                    <a:bodyPr/>
                    <a:lstStyle/>
                    <a:p>
                      <a:pPr algn="ctr" fontAlgn="ctr"/>
                      <a:r>
                        <a:rPr lang="ru-RU" sz="1100" u="none" strike="noStrike">
                          <a:effectLst/>
                        </a:rPr>
                        <a:t>Высокие издержки к переключению на других поставщиков</a:t>
                      </a:r>
                      <a:endParaRPr lang="ru-RU" sz="1100" b="0" i="0" u="none" strike="noStrike">
                        <a:effectLst/>
                        <a:latin typeface="Calibri" panose="020F0502020204030204" pitchFamily="34" charset="0"/>
                      </a:endParaRPr>
                    </a:p>
                  </a:txBody>
                  <a:tcPr marL="7820" marR="7820" marT="7820" marB="0" anchor="ctr"/>
                </a:tc>
                <a:tc>
                  <a:txBody>
                    <a:bodyPr/>
                    <a:lstStyle/>
                    <a:p>
                      <a:pPr algn="ctr" fontAlgn="ctr"/>
                      <a:r>
                        <a:rPr lang="ru-RU" sz="1100" u="none" strike="noStrike">
                          <a:effectLst/>
                        </a:rPr>
                        <a:t>Низкие издержки к переключению на других поставщиков</a:t>
                      </a:r>
                      <a:endParaRPr lang="ru-RU" sz="1100" b="0" i="0" u="none" strike="noStrike">
                        <a:effectLst/>
                        <a:latin typeface="Calibri" panose="020F0502020204030204" pitchFamily="34" charset="0"/>
                      </a:endParaRPr>
                    </a:p>
                  </a:txBody>
                  <a:tcPr marL="7820" marR="7820" marT="7820" marB="0" anchor="ctr"/>
                </a:tc>
                <a:extLst>
                  <a:ext uri="{0D108BD9-81ED-4DB2-BD59-A6C34878D82A}">
                    <a16:rowId xmlns:a16="http://schemas.microsoft.com/office/drawing/2014/main" val="3149359723"/>
                  </a:ext>
                </a:extLst>
              </a:tr>
              <a:tr h="228879">
                <a:tc vMerge="1">
                  <a:txBody>
                    <a:bodyPr/>
                    <a:lstStyle/>
                    <a:p>
                      <a:endParaRPr lang="ru-RU"/>
                    </a:p>
                  </a:txBody>
                  <a:tcPr/>
                </a:tc>
                <a:tc>
                  <a:txBody>
                    <a:bodyPr/>
                    <a:lstStyle/>
                    <a:p>
                      <a:pPr algn="ctr" fontAlgn="ctr"/>
                      <a:r>
                        <a:rPr lang="ru-RU" sz="1100" u="none" strike="noStrike">
                          <a:effectLst/>
                        </a:rPr>
                        <a:t> </a:t>
                      </a:r>
                      <a:endParaRPr lang="ru-RU" sz="1100" b="0" i="0" u="none" strike="noStrike">
                        <a:effectLst/>
                        <a:latin typeface="Calibri" panose="020F0502020204030204" pitchFamily="34" charset="0"/>
                      </a:endParaRPr>
                    </a:p>
                  </a:txBody>
                  <a:tcPr marL="7820" marR="7820" marT="7820" marB="0" anchor="ctr"/>
                </a:tc>
                <a:tc>
                  <a:txBody>
                    <a:bodyPr/>
                    <a:lstStyle/>
                    <a:p>
                      <a:pPr algn="ctr" fontAlgn="ctr"/>
                      <a:r>
                        <a:rPr lang="ru-RU" sz="1100" u="none" strike="noStrike">
                          <a:effectLst/>
                        </a:rPr>
                        <a:t> </a:t>
                      </a:r>
                      <a:endParaRPr lang="ru-RU" sz="1100" b="0" i="0" u="none" strike="noStrike">
                        <a:effectLst/>
                        <a:latin typeface="Calibri" panose="020F0502020204030204" pitchFamily="34" charset="0"/>
                      </a:endParaRPr>
                    </a:p>
                  </a:txBody>
                  <a:tcPr marL="7820" marR="7820" marT="7820" marB="0" anchor="ctr"/>
                </a:tc>
                <a:extLst>
                  <a:ext uri="{0D108BD9-81ED-4DB2-BD59-A6C34878D82A}">
                    <a16:rowId xmlns:a16="http://schemas.microsoft.com/office/drawing/2014/main" val="1902921580"/>
                  </a:ext>
                </a:extLst>
              </a:tr>
              <a:tr h="461407">
                <a:tc rowSpan="2">
                  <a:txBody>
                    <a:bodyPr/>
                    <a:lstStyle/>
                    <a:p>
                      <a:pPr algn="ctr" fontAlgn="ctr"/>
                      <a:r>
                        <a:rPr lang="ru-RU" sz="1100" u="none" strike="noStrike">
                          <a:effectLst/>
                        </a:rPr>
                        <a:t>Приоритетность направления для поставщика</a:t>
                      </a:r>
                      <a:endParaRPr lang="ru-RU" sz="1100" b="0" i="0" u="none" strike="noStrike">
                        <a:effectLst/>
                        <a:latin typeface="Calibri" panose="020F0502020204030204" pitchFamily="34" charset="0"/>
                      </a:endParaRPr>
                    </a:p>
                  </a:txBody>
                  <a:tcPr marL="7820" marR="7820" marT="7820" marB="0" anchor="ctr"/>
                </a:tc>
                <a:tc>
                  <a:txBody>
                    <a:bodyPr/>
                    <a:lstStyle/>
                    <a:p>
                      <a:pPr algn="ctr" fontAlgn="ctr"/>
                      <a:r>
                        <a:rPr lang="ru-RU" sz="1100" u="none" strike="noStrike">
                          <a:effectLst/>
                        </a:rPr>
                        <a:t>Низкая приоритетность отрасли для поставщика</a:t>
                      </a:r>
                      <a:endParaRPr lang="ru-RU" sz="1100" b="0" i="0" u="none" strike="noStrike">
                        <a:effectLst/>
                        <a:latin typeface="Calibri" panose="020F0502020204030204" pitchFamily="34" charset="0"/>
                      </a:endParaRPr>
                    </a:p>
                  </a:txBody>
                  <a:tcPr marL="7820" marR="7820" marT="7820" marB="0" anchor="ctr"/>
                </a:tc>
                <a:tc>
                  <a:txBody>
                    <a:bodyPr/>
                    <a:lstStyle/>
                    <a:p>
                      <a:pPr algn="ctr" fontAlgn="ctr"/>
                      <a:r>
                        <a:rPr lang="ru-RU" sz="1100" u="none" strike="noStrike">
                          <a:effectLst/>
                        </a:rPr>
                        <a:t>Высокая приоритетность отрасли для поставщика</a:t>
                      </a:r>
                      <a:endParaRPr lang="ru-RU" sz="1100" b="0" i="0" u="none" strike="noStrike">
                        <a:effectLst/>
                        <a:latin typeface="Calibri" panose="020F0502020204030204" pitchFamily="34" charset="0"/>
                      </a:endParaRPr>
                    </a:p>
                  </a:txBody>
                  <a:tcPr marL="7820" marR="7820" marT="7820" marB="0" anchor="ctr"/>
                </a:tc>
                <a:extLst>
                  <a:ext uri="{0D108BD9-81ED-4DB2-BD59-A6C34878D82A}">
                    <a16:rowId xmlns:a16="http://schemas.microsoft.com/office/drawing/2014/main" val="1797591934"/>
                  </a:ext>
                </a:extLst>
              </a:tr>
              <a:tr h="303434">
                <a:tc vMerge="1">
                  <a:txBody>
                    <a:bodyPr/>
                    <a:lstStyle/>
                    <a:p>
                      <a:endParaRPr lang="ru-RU"/>
                    </a:p>
                  </a:txBody>
                  <a:tcPr/>
                </a:tc>
                <a:tc>
                  <a:txBody>
                    <a:bodyPr/>
                    <a:lstStyle/>
                    <a:p>
                      <a:pPr algn="ctr" fontAlgn="ctr"/>
                      <a:r>
                        <a:rPr lang="ru-RU" sz="1100" u="none" strike="noStrike">
                          <a:effectLst/>
                        </a:rPr>
                        <a:t> </a:t>
                      </a:r>
                      <a:endParaRPr lang="ru-RU" sz="1100" b="0" i="0" u="none" strike="noStrike">
                        <a:effectLst/>
                        <a:latin typeface="Calibri" panose="020F0502020204030204" pitchFamily="34" charset="0"/>
                      </a:endParaRPr>
                    </a:p>
                  </a:txBody>
                  <a:tcPr marL="7820" marR="7820" marT="7820" marB="0" anchor="ctr"/>
                </a:tc>
                <a:tc>
                  <a:txBody>
                    <a:bodyPr/>
                    <a:lstStyle/>
                    <a:p>
                      <a:pPr algn="ctr" fontAlgn="ctr"/>
                      <a:r>
                        <a:rPr lang="ru-RU" sz="1100" u="none" strike="noStrike">
                          <a:effectLst/>
                        </a:rPr>
                        <a:t> </a:t>
                      </a:r>
                      <a:endParaRPr lang="ru-RU" sz="1100" b="0" i="0" u="none" strike="noStrike">
                        <a:effectLst/>
                        <a:latin typeface="Calibri" panose="020F0502020204030204" pitchFamily="34" charset="0"/>
                      </a:endParaRPr>
                    </a:p>
                  </a:txBody>
                  <a:tcPr marL="7820" marR="7820" marT="7820" marB="0" anchor="ctr"/>
                </a:tc>
                <a:extLst>
                  <a:ext uri="{0D108BD9-81ED-4DB2-BD59-A6C34878D82A}">
                    <a16:rowId xmlns:a16="http://schemas.microsoft.com/office/drawing/2014/main" val="1833598318"/>
                  </a:ext>
                </a:extLst>
              </a:tr>
              <a:tr h="242434">
                <a:tc>
                  <a:txBody>
                    <a:bodyPr/>
                    <a:lstStyle/>
                    <a:p>
                      <a:pPr algn="ctr" fontAlgn="ctr"/>
                      <a:r>
                        <a:rPr lang="ru-RU" sz="1100" u="none" strike="noStrike">
                          <a:effectLst/>
                        </a:rPr>
                        <a:t>ИТОГОВЫЙ БАЛЛ</a:t>
                      </a:r>
                      <a:endParaRPr lang="ru-RU" sz="1100" b="1" i="0" u="none" strike="noStrike">
                        <a:effectLst/>
                        <a:latin typeface="Calibri" panose="020F0502020204030204" pitchFamily="34" charset="0"/>
                      </a:endParaRPr>
                    </a:p>
                  </a:txBody>
                  <a:tcPr marL="7820" marR="7820" marT="7820" marB="0" anchor="ctr"/>
                </a:tc>
                <a:tc gridSpan="2">
                  <a:txBody>
                    <a:bodyPr/>
                    <a:lstStyle/>
                    <a:p>
                      <a:pPr algn="ctr" fontAlgn="ctr"/>
                      <a:r>
                        <a:rPr lang="ru-RU" sz="1100" u="none" strike="noStrike">
                          <a:effectLst/>
                        </a:rPr>
                        <a:t> </a:t>
                      </a:r>
                      <a:endParaRPr lang="ru-RU" sz="1100" b="1" i="0" u="none" strike="noStrike">
                        <a:effectLst/>
                        <a:latin typeface="Calibri" panose="020F0502020204030204" pitchFamily="34" charset="0"/>
                      </a:endParaRPr>
                    </a:p>
                  </a:txBody>
                  <a:tcPr marL="7820" marR="7820" marT="7820" marB="0" anchor="ctr"/>
                </a:tc>
                <a:tc hMerge="1">
                  <a:txBody>
                    <a:bodyPr/>
                    <a:lstStyle/>
                    <a:p>
                      <a:endParaRPr lang="ru-RU"/>
                    </a:p>
                  </a:txBody>
                  <a:tcPr/>
                </a:tc>
                <a:extLst>
                  <a:ext uri="{0D108BD9-81ED-4DB2-BD59-A6C34878D82A}">
                    <a16:rowId xmlns:a16="http://schemas.microsoft.com/office/drawing/2014/main" val="2568723983"/>
                  </a:ext>
                </a:extLst>
              </a:tr>
              <a:tr h="203332">
                <a:tc>
                  <a:txBody>
                    <a:bodyPr/>
                    <a:lstStyle/>
                    <a:p>
                      <a:pPr algn="ctr" fontAlgn="ctr"/>
                      <a:r>
                        <a:rPr lang="ru-RU" sz="1100" u="none" strike="noStrike">
                          <a:effectLst/>
                        </a:rPr>
                        <a:t>4 балла</a:t>
                      </a:r>
                      <a:endParaRPr lang="ru-RU" sz="1100" b="1" i="0" u="none" strike="noStrike">
                        <a:effectLst/>
                        <a:latin typeface="Calibri" panose="020F0502020204030204" pitchFamily="34" charset="0"/>
                      </a:endParaRPr>
                    </a:p>
                  </a:txBody>
                  <a:tcPr marL="7820" marR="7820" marT="7820" marB="0" anchor="ctr"/>
                </a:tc>
                <a:tc gridSpan="2">
                  <a:txBody>
                    <a:bodyPr/>
                    <a:lstStyle/>
                    <a:p>
                      <a:pPr algn="ctr" fontAlgn="ctr"/>
                      <a:r>
                        <a:rPr lang="ru-RU" sz="1100" u="none" strike="noStrike">
                          <a:effectLst/>
                        </a:rPr>
                        <a:t>Низкий уровень влияния поставщиков</a:t>
                      </a:r>
                      <a:endParaRPr lang="ru-RU" sz="1100" b="0" i="0" u="none" strike="noStrike">
                        <a:effectLst/>
                        <a:latin typeface="Calibri" panose="020F0502020204030204" pitchFamily="34" charset="0"/>
                      </a:endParaRPr>
                    </a:p>
                  </a:txBody>
                  <a:tcPr marL="7820" marR="7820" marT="7820" marB="0" anchor="ctr"/>
                </a:tc>
                <a:tc hMerge="1">
                  <a:txBody>
                    <a:bodyPr/>
                    <a:lstStyle/>
                    <a:p>
                      <a:endParaRPr lang="ru-RU"/>
                    </a:p>
                  </a:txBody>
                  <a:tcPr/>
                </a:tc>
                <a:extLst>
                  <a:ext uri="{0D108BD9-81ED-4DB2-BD59-A6C34878D82A}">
                    <a16:rowId xmlns:a16="http://schemas.microsoft.com/office/drawing/2014/main" val="3384902908"/>
                  </a:ext>
                </a:extLst>
              </a:tr>
              <a:tr h="203332">
                <a:tc>
                  <a:txBody>
                    <a:bodyPr/>
                    <a:lstStyle/>
                    <a:p>
                      <a:pPr algn="ctr" fontAlgn="ctr"/>
                      <a:r>
                        <a:rPr lang="ru-RU" sz="1100" u="none" strike="noStrike">
                          <a:effectLst/>
                        </a:rPr>
                        <a:t>5-6 баллов</a:t>
                      </a:r>
                      <a:endParaRPr lang="ru-RU" sz="1100" b="1" i="0" u="none" strike="noStrike">
                        <a:effectLst/>
                        <a:latin typeface="Calibri" panose="020F0502020204030204" pitchFamily="34" charset="0"/>
                      </a:endParaRPr>
                    </a:p>
                  </a:txBody>
                  <a:tcPr marL="7820" marR="7820" marT="7820" marB="0" anchor="ctr"/>
                </a:tc>
                <a:tc gridSpan="2">
                  <a:txBody>
                    <a:bodyPr/>
                    <a:lstStyle/>
                    <a:p>
                      <a:pPr algn="ctr" fontAlgn="ctr"/>
                      <a:r>
                        <a:rPr lang="ru-RU" sz="1100" u="none" strike="noStrike">
                          <a:effectLst/>
                        </a:rPr>
                        <a:t>Средний уровень влияния поставщиков</a:t>
                      </a:r>
                      <a:endParaRPr lang="ru-RU" sz="1100" b="0" i="0" u="none" strike="noStrike">
                        <a:effectLst/>
                        <a:latin typeface="Calibri" panose="020F0502020204030204" pitchFamily="34" charset="0"/>
                      </a:endParaRPr>
                    </a:p>
                  </a:txBody>
                  <a:tcPr marL="7820" marR="7820" marT="7820" marB="0" anchor="ctr"/>
                </a:tc>
                <a:tc hMerge="1">
                  <a:txBody>
                    <a:bodyPr/>
                    <a:lstStyle/>
                    <a:p>
                      <a:endParaRPr lang="ru-RU"/>
                    </a:p>
                  </a:txBody>
                  <a:tcPr/>
                </a:tc>
                <a:extLst>
                  <a:ext uri="{0D108BD9-81ED-4DB2-BD59-A6C34878D82A}">
                    <a16:rowId xmlns:a16="http://schemas.microsoft.com/office/drawing/2014/main" val="3273999365"/>
                  </a:ext>
                </a:extLst>
              </a:tr>
              <a:tr h="211152">
                <a:tc>
                  <a:txBody>
                    <a:bodyPr/>
                    <a:lstStyle/>
                    <a:p>
                      <a:pPr algn="ctr" fontAlgn="ctr"/>
                      <a:r>
                        <a:rPr lang="ru-RU" sz="1100" u="none" strike="noStrike">
                          <a:effectLst/>
                        </a:rPr>
                        <a:t>7-8 баллов</a:t>
                      </a:r>
                      <a:endParaRPr lang="ru-RU" sz="1100" b="1" i="0" u="none" strike="noStrike">
                        <a:effectLst/>
                        <a:latin typeface="Calibri" panose="020F0502020204030204" pitchFamily="34" charset="0"/>
                      </a:endParaRPr>
                    </a:p>
                  </a:txBody>
                  <a:tcPr marL="7820" marR="7820" marT="7820" marB="0" anchor="ctr"/>
                </a:tc>
                <a:tc gridSpan="2">
                  <a:txBody>
                    <a:bodyPr/>
                    <a:lstStyle/>
                    <a:p>
                      <a:pPr algn="ctr" fontAlgn="ctr"/>
                      <a:r>
                        <a:rPr lang="ru-RU" sz="1100" u="none" strike="noStrike" dirty="0">
                          <a:effectLst/>
                        </a:rPr>
                        <a:t>Высокий уровень влияния поставщиков</a:t>
                      </a:r>
                      <a:endParaRPr lang="ru-RU" sz="1100" b="0" i="0" u="none" strike="noStrike" dirty="0">
                        <a:effectLst/>
                        <a:latin typeface="Calibri" panose="020F0502020204030204" pitchFamily="34" charset="0"/>
                      </a:endParaRPr>
                    </a:p>
                  </a:txBody>
                  <a:tcPr marL="7820" marR="7820" marT="7820" marB="0" anchor="ctr"/>
                </a:tc>
                <a:tc hMerge="1">
                  <a:txBody>
                    <a:bodyPr/>
                    <a:lstStyle/>
                    <a:p>
                      <a:endParaRPr lang="ru-RU"/>
                    </a:p>
                  </a:txBody>
                  <a:tcPr/>
                </a:tc>
                <a:extLst>
                  <a:ext uri="{0D108BD9-81ED-4DB2-BD59-A6C34878D82A}">
                    <a16:rowId xmlns:a16="http://schemas.microsoft.com/office/drawing/2014/main" val="4253590538"/>
                  </a:ext>
                </a:extLst>
              </a:tr>
            </a:tbl>
          </a:graphicData>
        </a:graphic>
      </p:graphicFrame>
    </p:spTree>
    <p:extLst>
      <p:ext uri="{BB962C8B-B14F-4D97-AF65-F5344CB8AC3E}">
        <p14:creationId xmlns:p14="http://schemas.microsoft.com/office/powerpoint/2010/main" val="885439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D1830A8A-5CF6-E380-FE45-0161A9FD3FB9}"/>
              </a:ext>
            </a:extLst>
          </p:cNvPr>
          <p:cNvSpPr>
            <a:spLocks noGrp="1"/>
          </p:cNvSpPr>
          <p:nvPr>
            <p:ph type="sldNum" sz="quarter" idx="12"/>
          </p:nvPr>
        </p:nvSpPr>
        <p:spPr/>
        <p:txBody>
          <a:bodyPr/>
          <a:lstStyle/>
          <a:p>
            <a:fld id="{9DD0990C-240E-4F6D-96E9-50DBAF192F56}" type="slidenum">
              <a:rPr lang="ru-RU" smtClean="0"/>
              <a:t>11</a:t>
            </a:fld>
            <a:endParaRPr lang="ru-RU" dirty="0"/>
          </a:p>
        </p:txBody>
      </p:sp>
      <p:cxnSp>
        <p:nvCxnSpPr>
          <p:cNvPr id="5" name="Прямая соединительная линия 4">
            <a:extLst>
              <a:ext uri="{FF2B5EF4-FFF2-40B4-BE49-F238E27FC236}">
                <a16:creationId xmlns:a16="http://schemas.microsoft.com/office/drawing/2014/main" id="{6A063D83-07EA-1CCD-6AF6-AF3A95DCE881}"/>
              </a:ext>
            </a:extLst>
          </p:cNvPr>
          <p:cNvCxnSpPr/>
          <p:nvPr/>
        </p:nvCxnSpPr>
        <p:spPr>
          <a:xfrm>
            <a:off x="683568" y="980728"/>
            <a:ext cx="69950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5">
            <a:extLst>
              <a:ext uri="{FF2B5EF4-FFF2-40B4-BE49-F238E27FC236}">
                <a16:creationId xmlns:a16="http://schemas.microsoft.com/office/drawing/2014/main" id="{C4F58C88-211C-457E-9399-DFC50685CD88}"/>
              </a:ext>
            </a:extLst>
          </p:cNvPr>
          <p:cNvCxnSpPr/>
          <p:nvPr/>
        </p:nvCxnSpPr>
        <p:spPr>
          <a:xfrm flipV="1">
            <a:off x="899592" y="476672"/>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Заголовок 2">
            <a:extLst>
              <a:ext uri="{FF2B5EF4-FFF2-40B4-BE49-F238E27FC236}">
                <a16:creationId xmlns:a16="http://schemas.microsoft.com/office/drawing/2014/main" id="{2D83E3A5-C644-5570-084E-963DCBF4C536}"/>
              </a:ext>
            </a:extLst>
          </p:cNvPr>
          <p:cNvSpPr txBox="1">
            <a:spLocks/>
          </p:cNvSpPr>
          <p:nvPr/>
        </p:nvSpPr>
        <p:spPr>
          <a:xfrm>
            <a:off x="938675" y="474020"/>
            <a:ext cx="7725544" cy="504056"/>
          </a:xfrm>
          <a:prstGeom prst="rect">
            <a:avLst/>
          </a:prstGeom>
        </p:spPr>
        <p:txBody>
          <a:bodyPr vert="horz" lIns="91440" tIns="45720" rIns="91440" bIns="45720" rtlCol="0" anchor="ctr">
            <a:noAutofit/>
          </a:bodyPr>
          <a:lstStyle>
            <a:defPPr>
              <a:defRPr lang="ru-RU"/>
            </a:defPPr>
            <a:lvl1pPr>
              <a:spcBef>
                <a:spcPct val="0"/>
              </a:spcBef>
              <a:buNone/>
              <a:defRPr sz="2000" b="1">
                <a:solidFill>
                  <a:srgbClr val="000000"/>
                </a:solidFill>
                <a:latin typeface="Arial"/>
                <a:ea typeface="+mj-ea"/>
                <a:cs typeface="Arial"/>
              </a:defRPr>
            </a:lvl1pPr>
          </a:lstStyle>
          <a:p>
            <a:r>
              <a:rPr lang="ru-RU" dirty="0">
                <a:latin typeface="Gilroy Bold" pitchFamily="50" charset="-52"/>
              </a:rPr>
              <a:t>Полный анализ «5 сил М. Портера». </a:t>
            </a:r>
          </a:p>
        </p:txBody>
      </p:sp>
      <p:sp>
        <p:nvSpPr>
          <p:cNvPr id="9" name="TextBox 8">
            <a:extLst>
              <a:ext uri="{FF2B5EF4-FFF2-40B4-BE49-F238E27FC236}">
                <a16:creationId xmlns:a16="http://schemas.microsoft.com/office/drawing/2014/main" id="{B13E032D-08D7-D2EF-060E-045C0847D39D}"/>
              </a:ext>
            </a:extLst>
          </p:cNvPr>
          <p:cNvSpPr txBox="1"/>
          <p:nvPr/>
        </p:nvSpPr>
        <p:spPr>
          <a:xfrm>
            <a:off x="971600" y="980728"/>
            <a:ext cx="4572000" cy="369332"/>
          </a:xfrm>
          <a:prstGeom prst="rect">
            <a:avLst/>
          </a:prstGeom>
          <a:noFill/>
        </p:spPr>
        <p:txBody>
          <a:bodyPr wrap="square">
            <a:spAutoFit/>
          </a:bodyPr>
          <a:lstStyle/>
          <a:p>
            <a:r>
              <a:rPr lang="ru-RU" dirty="0"/>
              <a:t>Результат анализа «5 сил М. Портера»</a:t>
            </a:r>
          </a:p>
        </p:txBody>
      </p:sp>
      <p:graphicFrame>
        <p:nvGraphicFramePr>
          <p:cNvPr id="2" name="Таблица 1">
            <a:extLst>
              <a:ext uri="{FF2B5EF4-FFF2-40B4-BE49-F238E27FC236}">
                <a16:creationId xmlns:a16="http://schemas.microsoft.com/office/drawing/2014/main" id="{E330089B-6969-EFB0-9975-F35597FDB605}"/>
              </a:ext>
            </a:extLst>
          </p:cNvPr>
          <p:cNvGraphicFramePr>
            <a:graphicFrameLocks noGrp="1"/>
          </p:cNvGraphicFramePr>
          <p:nvPr>
            <p:extLst>
              <p:ext uri="{D42A27DB-BD31-4B8C-83A1-F6EECF244321}">
                <p14:modId xmlns:p14="http://schemas.microsoft.com/office/powerpoint/2010/main" val="2048398751"/>
              </p:ext>
            </p:extLst>
          </p:nvPr>
        </p:nvGraphicFramePr>
        <p:xfrm>
          <a:off x="488412" y="1594728"/>
          <a:ext cx="8229599" cy="4317595"/>
        </p:xfrm>
        <a:graphic>
          <a:graphicData uri="http://schemas.openxmlformats.org/drawingml/2006/table">
            <a:tbl>
              <a:tblPr>
                <a:tableStyleId>{C4B1156A-380E-4F78-BDF5-A606A8083BF9}</a:tableStyleId>
              </a:tblPr>
              <a:tblGrid>
                <a:gridCol w="1537372">
                  <a:extLst>
                    <a:ext uri="{9D8B030D-6E8A-4147-A177-3AD203B41FA5}">
                      <a16:colId xmlns:a16="http://schemas.microsoft.com/office/drawing/2014/main" val="2929648829"/>
                    </a:ext>
                  </a:extLst>
                </a:gridCol>
                <a:gridCol w="691817">
                  <a:extLst>
                    <a:ext uri="{9D8B030D-6E8A-4147-A177-3AD203B41FA5}">
                      <a16:colId xmlns:a16="http://schemas.microsoft.com/office/drawing/2014/main" val="580182541"/>
                    </a:ext>
                  </a:extLst>
                </a:gridCol>
                <a:gridCol w="2879079">
                  <a:extLst>
                    <a:ext uri="{9D8B030D-6E8A-4147-A177-3AD203B41FA5}">
                      <a16:colId xmlns:a16="http://schemas.microsoft.com/office/drawing/2014/main" val="1649164910"/>
                    </a:ext>
                  </a:extLst>
                </a:gridCol>
                <a:gridCol w="3121331">
                  <a:extLst>
                    <a:ext uri="{9D8B030D-6E8A-4147-A177-3AD203B41FA5}">
                      <a16:colId xmlns:a16="http://schemas.microsoft.com/office/drawing/2014/main" val="848596716"/>
                    </a:ext>
                  </a:extLst>
                </a:gridCol>
              </a:tblGrid>
              <a:tr h="299173">
                <a:tc>
                  <a:txBody>
                    <a:bodyPr/>
                    <a:lstStyle/>
                    <a:p>
                      <a:pPr algn="ctr" fontAlgn="ctr"/>
                      <a:r>
                        <a:rPr lang="ru-RU" sz="1000" u="none" strike="noStrike">
                          <a:effectLst/>
                        </a:rPr>
                        <a:t>Параметр</a:t>
                      </a:r>
                      <a:endParaRPr lang="ru-RU" sz="1000" b="1" i="0" u="none" strike="noStrike">
                        <a:effectLst/>
                        <a:latin typeface="Calibri" panose="020F0502020204030204" pitchFamily="34" charset="0"/>
                      </a:endParaRPr>
                    </a:p>
                  </a:txBody>
                  <a:tcPr marL="6990" marR="6990" marT="6990" marB="0" anchor="ctr"/>
                </a:tc>
                <a:tc>
                  <a:txBody>
                    <a:bodyPr/>
                    <a:lstStyle/>
                    <a:p>
                      <a:pPr algn="ctr" fontAlgn="ctr"/>
                      <a:r>
                        <a:rPr lang="ru-RU" sz="1000" u="none" strike="noStrike">
                          <a:effectLst/>
                        </a:rPr>
                        <a:t>Значение</a:t>
                      </a:r>
                      <a:endParaRPr lang="ru-RU" sz="1000" b="1" i="0" u="none" strike="noStrike">
                        <a:effectLst/>
                        <a:latin typeface="Calibri" panose="020F0502020204030204" pitchFamily="34" charset="0"/>
                      </a:endParaRPr>
                    </a:p>
                  </a:txBody>
                  <a:tcPr marL="6990" marR="6990" marT="6990" marB="0" anchor="ctr"/>
                </a:tc>
                <a:tc>
                  <a:txBody>
                    <a:bodyPr/>
                    <a:lstStyle/>
                    <a:p>
                      <a:pPr algn="ctr" fontAlgn="ctr"/>
                      <a:r>
                        <a:rPr lang="ru-RU" sz="1000" u="none" strike="noStrike">
                          <a:effectLst/>
                        </a:rPr>
                        <a:t>Описание</a:t>
                      </a:r>
                      <a:endParaRPr lang="ru-RU" sz="1000" b="1" i="0" u="none" strike="noStrike">
                        <a:effectLst/>
                        <a:latin typeface="Calibri" panose="020F0502020204030204" pitchFamily="34" charset="0"/>
                      </a:endParaRPr>
                    </a:p>
                  </a:txBody>
                  <a:tcPr marL="6990" marR="6990" marT="6990" marB="0" anchor="ctr"/>
                </a:tc>
                <a:tc>
                  <a:txBody>
                    <a:bodyPr/>
                    <a:lstStyle/>
                    <a:p>
                      <a:pPr algn="ctr" fontAlgn="ctr"/>
                      <a:r>
                        <a:rPr lang="ru-RU" sz="1000" u="none" strike="noStrike">
                          <a:effectLst/>
                        </a:rPr>
                        <a:t>Направления работ</a:t>
                      </a:r>
                      <a:endParaRPr lang="ru-RU" sz="1000" b="1" i="0" u="none" strike="noStrike">
                        <a:effectLst/>
                        <a:latin typeface="Calibri" panose="020F0502020204030204" pitchFamily="34" charset="0"/>
                      </a:endParaRPr>
                    </a:p>
                  </a:txBody>
                  <a:tcPr marL="6990" marR="6990" marT="6990" marB="0" anchor="ctr"/>
                </a:tc>
                <a:extLst>
                  <a:ext uri="{0D108BD9-81ED-4DB2-BD59-A6C34878D82A}">
                    <a16:rowId xmlns:a16="http://schemas.microsoft.com/office/drawing/2014/main" val="1393088224"/>
                  </a:ext>
                </a:extLst>
              </a:tr>
              <a:tr h="690615">
                <a:tc>
                  <a:txBody>
                    <a:bodyPr/>
                    <a:lstStyle/>
                    <a:p>
                      <a:pPr algn="ctr" fontAlgn="ctr"/>
                      <a:r>
                        <a:rPr lang="ru-RU" sz="1000" u="none" strike="noStrike">
                          <a:effectLst/>
                        </a:rPr>
                        <a:t>Угроза со стороны товаров-заменителей</a:t>
                      </a:r>
                      <a:endParaRPr lang="ru-RU" sz="1000" b="0" i="0" u="none" strike="noStrike">
                        <a:effectLst/>
                        <a:latin typeface="Calibri" panose="020F0502020204030204" pitchFamily="34" charset="0"/>
                      </a:endParaRPr>
                    </a:p>
                  </a:txBody>
                  <a:tcPr marL="6990" marR="6990" marT="6990" marB="0" anchor="ctr"/>
                </a:tc>
                <a:tc>
                  <a:txBody>
                    <a:bodyPr/>
                    <a:lstStyle/>
                    <a:p>
                      <a:pPr algn="ctr" fontAlgn="ctr"/>
                      <a:r>
                        <a:rPr lang="ru-RU" sz="1000" u="none" strike="noStrike">
                          <a:effectLst/>
                        </a:rPr>
                        <a:t>Низкий</a:t>
                      </a:r>
                      <a:endParaRPr lang="ru-RU" sz="1000" b="0" i="0" u="none" strike="noStrike">
                        <a:effectLst/>
                        <a:latin typeface="Calibri" panose="020F0502020204030204" pitchFamily="34" charset="0"/>
                      </a:endParaRPr>
                    </a:p>
                  </a:txBody>
                  <a:tcPr marL="6990" marR="6990" marT="6990" marB="0" anchor="ctr"/>
                </a:tc>
                <a:tc>
                  <a:txBody>
                    <a:bodyPr/>
                    <a:lstStyle/>
                    <a:p>
                      <a:pPr algn="ctr" fontAlgn="ctr"/>
                      <a:r>
                        <a:rPr lang="ru-RU" sz="1000" u="none" strike="noStrike">
                          <a:effectLst/>
                        </a:rPr>
                        <a:t>Компания обладает уникальным предложением на рынке, аналогов которому не существует</a:t>
                      </a:r>
                      <a:endParaRPr lang="ru-RU" sz="1000" b="0" i="0" u="none" strike="noStrike">
                        <a:effectLst/>
                        <a:latin typeface="Calibri" panose="020F0502020204030204" pitchFamily="34" charset="0"/>
                      </a:endParaRPr>
                    </a:p>
                  </a:txBody>
                  <a:tcPr marL="6990" marR="6990" marT="6990" marB="0" anchor="ctr"/>
                </a:tc>
                <a:tc>
                  <a:txBody>
                    <a:bodyPr/>
                    <a:lstStyle/>
                    <a:p>
                      <a:pPr algn="ctr" fontAlgn="ctr"/>
                      <a:r>
                        <a:rPr lang="ru-RU" sz="1000" u="none" strike="noStrike">
                          <a:effectLst/>
                        </a:rPr>
                        <a:t>Поддерживать и совершенствовать уникальность товара. Концентрировать все усилия на построении осведомленности об уникальном предложении.</a:t>
                      </a:r>
                      <a:endParaRPr lang="ru-RU" sz="1000" b="0" i="0" u="none" strike="noStrike">
                        <a:effectLst/>
                        <a:latin typeface="Calibri" panose="020F0502020204030204" pitchFamily="34" charset="0"/>
                      </a:endParaRPr>
                    </a:p>
                  </a:txBody>
                  <a:tcPr marL="6990" marR="6990" marT="6990" marB="0" anchor="ctr"/>
                </a:tc>
                <a:extLst>
                  <a:ext uri="{0D108BD9-81ED-4DB2-BD59-A6C34878D82A}">
                    <a16:rowId xmlns:a16="http://schemas.microsoft.com/office/drawing/2014/main" val="3230273295"/>
                  </a:ext>
                </a:extLst>
              </a:tr>
              <a:tr h="903578">
                <a:tc>
                  <a:txBody>
                    <a:bodyPr/>
                    <a:lstStyle/>
                    <a:p>
                      <a:pPr algn="ctr" fontAlgn="ctr"/>
                      <a:r>
                        <a:rPr lang="ru-RU" sz="1000" u="none" strike="noStrike">
                          <a:effectLst/>
                        </a:rPr>
                        <a:t>Угрозы внутриотраслевой конкуренции</a:t>
                      </a:r>
                      <a:endParaRPr lang="ru-RU" sz="1000" b="0" i="0" u="none" strike="noStrike">
                        <a:effectLst/>
                        <a:latin typeface="Calibri" panose="020F0502020204030204" pitchFamily="34" charset="0"/>
                      </a:endParaRPr>
                    </a:p>
                  </a:txBody>
                  <a:tcPr marL="6990" marR="6990" marT="6990" marB="0" anchor="ctr"/>
                </a:tc>
                <a:tc>
                  <a:txBody>
                    <a:bodyPr/>
                    <a:lstStyle/>
                    <a:p>
                      <a:pPr algn="ctr" fontAlgn="ctr"/>
                      <a:r>
                        <a:rPr lang="ru-RU" sz="1000" u="none" strike="noStrike">
                          <a:effectLst/>
                        </a:rPr>
                        <a:t>Средний</a:t>
                      </a:r>
                      <a:endParaRPr lang="ru-RU" sz="1000" b="0" i="0" u="none" strike="noStrike">
                        <a:effectLst/>
                        <a:latin typeface="Calibri" panose="020F0502020204030204" pitchFamily="34" charset="0"/>
                      </a:endParaRPr>
                    </a:p>
                  </a:txBody>
                  <a:tcPr marL="6990" marR="6990" marT="6990" marB="0" anchor="ctr"/>
                </a:tc>
                <a:tc>
                  <a:txBody>
                    <a:bodyPr/>
                    <a:lstStyle/>
                    <a:p>
                      <a:pPr algn="ctr" fontAlgn="ctr"/>
                      <a:r>
                        <a:rPr lang="ru-RU" sz="1000" u="none" strike="noStrike">
                          <a:effectLst/>
                        </a:rPr>
                        <a:t>Рынок компании является высоко конкурентным и перспективным. Отсутствует возможность полного сравнения товаров разных фирм. Есть ограничения в повышении цен.</a:t>
                      </a:r>
                      <a:endParaRPr lang="ru-RU" sz="1000" b="0" i="0" u="none" strike="noStrike">
                        <a:effectLst/>
                        <a:latin typeface="Calibri" panose="020F0502020204030204" pitchFamily="34" charset="0"/>
                      </a:endParaRPr>
                    </a:p>
                  </a:txBody>
                  <a:tcPr marL="6990" marR="6990" marT="6990" marB="0" anchor="ctr"/>
                </a:tc>
                <a:tc>
                  <a:txBody>
                    <a:bodyPr/>
                    <a:lstStyle/>
                    <a:p>
                      <a:pPr algn="ctr" fontAlgn="ctr"/>
                      <a:r>
                        <a:rPr lang="ru-RU" sz="1000" u="none" strike="noStrike">
                          <a:effectLst/>
                        </a:rPr>
                        <a:t>Проводить постоянный мониторинг предложений конкурентов. Развивать уникальность продукта и повышать воспринимаемую ценность товара. Снижать влияние ценовой конкуренции на продажи. Повышать уровень знания о товаре.</a:t>
                      </a:r>
                      <a:endParaRPr lang="ru-RU" sz="1000" b="0" i="0" u="none" strike="noStrike">
                        <a:effectLst/>
                        <a:latin typeface="Calibri" panose="020F0502020204030204" pitchFamily="34" charset="0"/>
                      </a:endParaRPr>
                    </a:p>
                  </a:txBody>
                  <a:tcPr marL="6990" marR="6990" marT="6990" marB="0" anchor="ctr"/>
                </a:tc>
                <a:extLst>
                  <a:ext uri="{0D108BD9-81ED-4DB2-BD59-A6C34878D82A}">
                    <a16:rowId xmlns:a16="http://schemas.microsoft.com/office/drawing/2014/main" val="1041992765"/>
                  </a:ext>
                </a:extLst>
              </a:tr>
              <a:tr h="726964">
                <a:tc>
                  <a:txBody>
                    <a:bodyPr/>
                    <a:lstStyle/>
                    <a:p>
                      <a:pPr algn="ctr" fontAlgn="ctr"/>
                      <a:r>
                        <a:rPr lang="ru-RU" sz="1000" u="none" strike="noStrike">
                          <a:effectLst/>
                        </a:rPr>
                        <a:t>Угроза со стороны новых игроков</a:t>
                      </a:r>
                      <a:endParaRPr lang="ru-RU" sz="1000" b="0" i="0" u="none" strike="noStrike">
                        <a:effectLst/>
                        <a:latin typeface="Calibri" panose="020F0502020204030204" pitchFamily="34" charset="0"/>
                      </a:endParaRPr>
                    </a:p>
                  </a:txBody>
                  <a:tcPr marL="6990" marR="6990" marT="6990" marB="0" anchor="ctr"/>
                </a:tc>
                <a:tc>
                  <a:txBody>
                    <a:bodyPr/>
                    <a:lstStyle/>
                    <a:p>
                      <a:pPr algn="ctr" fontAlgn="ctr"/>
                      <a:r>
                        <a:rPr lang="ru-RU" sz="1000" u="none" strike="noStrike">
                          <a:effectLst/>
                        </a:rPr>
                        <a:t>Высокий</a:t>
                      </a:r>
                      <a:endParaRPr lang="ru-RU" sz="1000" b="0" i="0" u="none" strike="noStrike">
                        <a:effectLst/>
                        <a:latin typeface="Calibri" panose="020F0502020204030204" pitchFamily="34" charset="0"/>
                      </a:endParaRPr>
                    </a:p>
                  </a:txBody>
                  <a:tcPr marL="6990" marR="6990" marT="6990" marB="0" anchor="ctr"/>
                </a:tc>
                <a:tc>
                  <a:txBody>
                    <a:bodyPr/>
                    <a:lstStyle/>
                    <a:p>
                      <a:pPr algn="ctr" fontAlgn="ctr"/>
                      <a:r>
                        <a:rPr lang="ru-RU" sz="1000" u="none" strike="noStrike">
                          <a:effectLst/>
                        </a:rPr>
                        <a:t>Высок риск входа новых игроков. Новые компании появляются постоянно из-за низких барьеров входа и низкого уровня первоначальных инвестиций.</a:t>
                      </a:r>
                      <a:endParaRPr lang="ru-RU" sz="1000" b="0" i="0" u="none" strike="noStrike">
                        <a:effectLst/>
                        <a:latin typeface="Calibri" panose="020F0502020204030204" pitchFamily="34" charset="0"/>
                      </a:endParaRPr>
                    </a:p>
                  </a:txBody>
                  <a:tcPr marL="6990" marR="6990" marT="6990" marB="0" anchor="ctr"/>
                </a:tc>
                <a:tc>
                  <a:txBody>
                    <a:bodyPr/>
                    <a:lstStyle/>
                    <a:p>
                      <a:pPr algn="ctr" fontAlgn="ctr"/>
                      <a:r>
                        <a:rPr lang="ru-RU" sz="1000" u="none" strike="noStrike">
                          <a:effectLst/>
                        </a:rPr>
                        <a:t>Проводить постоянный мониторинг появления новых компаний. Проведение акций, направленных на длительность контакта потребителя с компанией. Повышать уровень знания о товаре.</a:t>
                      </a:r>
                      <a:endParaRPr lang="ru-RU" sz="1000" b="0" i="0" u="none" strike="noStrike">
                        <a:effectLst/>
                        <a:latin typeface="Calibri" panose="020F0502020204030204" pitchFamily="34" charset="0"/>
                      </a:endParaRPr>
                    </a:p>
                  </a:txBody>
                  <a:tcPr marL="6990" marR="6990" marT="6990" marB="0" anchor="ctr"/>
                </a:tc>
                <a:extLst>
                  <a:ext uri="{0D108BD9-81ED-4DB2-BD59-A6C34878D82A}">
                    <a16:rowId xmlns:a16="http://schemas.microsoft.com/office/drawing/2014/main" val="3627433890"/>
                  </a:ext>
                </a:extLst>
              </a:tr>
              <a:tr h="1137977">
                <a:tc>
                  <a:txBody>
                    <a:bodyPr/>
                    <a:lstStyle/>
                    <a:p>
                      <a:pPr algn="ctr" fontAlgn="ctr"/>
                      <a:r>
                        <a:rPr lang="ru-RU" sz="1000" u="none" strike="noStrike">
                          <a:effectLst/>
                        </a:rPr>
                        <a:t>Угроза потери текущих клиентов</a:t>
                      </a:r>
                      <a:endParaRPr lang="ru-RU" sz="1000" b="0" i="0" u="none" strike="noStrike">
                        <a:effectLst/>
                        <a:latin typeface="Calibri" panose="020F0502020204030204" pitchFamily="34" charset="0"/>
                      </a:endParaRPr>
                    </a:p>
                  </a:txBody>
                  <a:tcPr marL="6990" marR="6990" marT="6990" marB="0" anchor="ctr"/>
                </a:tc>
                <a:tc>
                  <a:txBody>
                    <a:bodyPr/>
                    <a:lstStyle/>
                    <a:p>
                      <a:pPr algn="ctr" fontAlgn="ctr"/>
                      <a:r>
                        <a:rPr lang="ru-RU" sz="1000" u="none" strike="noStrike">
                          <a:effectLst/>
                        </a:rPr>
                        <a:t>Высокий</a:t>
                      </a:r>
                      <a:endParaRPr lang="ru-RU" sz="1000" b="0" i="0" u="none" strike="noStrike">
                        <a:effectLst/>
                        <a:latin typeface="Calibri" panose="020F0502020204030204" pitchFamily="34" charset="0"/>
                      </a:endParaRPr>
                    </a:p>
                  </a:txBody>
                  <a:tcPr marL="6990" marR="6990" marT="6990" marB="0" anchor="ctr"/>
                </a:tc>
                <a:tc>
                  <a:txBody>
                    <a:bodyPr/>
                    <a:lstStyle/>
                    <a:p>
                      <a:pPr algn="ctr" fontAlgn="ctr"/>
                      <a:r>
                        <a:rPr lang="ru-RU" sz="1000" u="none" strike="noStrike">
                          <a:effectLst/>
                        </a:rPr>
                        <a:t>Портфель клиентов обладает высокими рисками (при уходе ключевых клиентов - значимое падение продаж). Существование менее качественных, но экономичных предложений. Неудовлетворенность текущим уровнем работ по отдельным направлениям.</a:t>
                      </a:r>
                      <a:endParaRPr lang="ru-RU" sz="1000" b="0" i="0" u="none" strike="noStrike">
                        <a:effectLst/>
                        <a:latin typeface="Calibri" panose="020F0502020204030204" pitchFamily="34" charset="0"/>
                      </a:endParaRPr>
                    </a:p>
                  </a:txBody>
                  <a:tcPr marL="6990" marR="6990" marT="6990" marB="0" anchor="ctr"/>
                </a:tc>
                <a:tc>
                  <a:txBody>
                    <a:bodyPr/>
                    <a:lstStyle/>
                    <a:p>
                      <a:pPr algn="ctr" fontAlgn="ctr"/>
                      <a:r>
                        <a:rPr lang="ru-RU" sz="1000" u="none" strike="noStrike">
                          <a:effectLst/>
                        </a:rPr>
                        <a:t>Диверсифицировать портфель клиентов. Разработать программы для VIP - клиентов. Разработать эконом-программы для потребителей, чувствительных к цене. Повышение качества товара по отстающим параметрам и т.д.</a:t>
                      </a:r>
                      <a:endParaRPr lang="ru-RU" sz="1000" b="0" i="0" u="none" strike="noStrike">
                        <a:effectLst/>
                        <a:latin typeface="Calibri" panose="020F0502020204030204" pitchFamily="34" charset="0"/>
                      </a:endParaRPr>
                    </a:p>
                  </a:txBody>
                  <a:tcPr marL="6990" marR="6990" marT="6990" marB="0" anchor="ctr"/>
                </a:tc>
                <a:extLst>
                  <a:ext uri="{0D108BD9-81ED-4DB2-BD59-A6C34878D82A}">
                    <a16:rowId xmlns:a16="http://schemas.microsoft.com/office/drawing/2014/main" val="170048252"/>
                  </a:ext>
                </a:extLst>
              </a:tr>
              <a:tr h="517262">
                <a:tc>
                  <a:txBody>
                    <a:bodyPr/>
                    <a:lstStyle/>
                    <a:p>
                      <a:pPr algn="ctr" fontAlgn="ctr"/>
                      <a:r>
                        <a:rPr lang="ru-RU" sz="1000" u="none" strike="noStrike">
                          <a:effectLst/>
                        </a:rPr>
                        <a:t>Угроза нестабильности поставщиков</a:t>
                      </a:r>
                      <a:endParaRPr lang="ru-RU" sz="1000" b="0" i="0" u="none" strike="noStrike">
                        <a:effectLst/>
                        <a:latin typeface="Calibri" panose="020F0502020204030204" pitchFamily="34" charset="0"/>
                      </a:endParaRPr>
                    </a:p>
                  </a:txBody>
                  <a:tcPr marL="6990" marR="6990" marT="6990" marB="0" anchor="ctr"/>
                </a:tc>
                <a:tc>
                  <a:txBody>
                    <a:bodyPr/>
                    <a:lstStyle/>
                    <a:p>
                      <a:pPr algn="ctr" fontAlgn="ctr"/>
                      <a:r>
                        <a:rPr lang="ru-RU" sz="1000" u="none" strike="noStrike">
                          <a:effectLst/>
                        </a:rPr>
                        <a:t>Низкий</a:t>
                      </a:r>
                      <a:endParaRPr lang="ru-RU" sz="1000" b="0" i="0" u="none" strike="noStrike">
                        <a:effectLst/>
                        <a:latin typeface="Calibri" panose="020F0502020204030204" pitchFamily="34" charset="0"/>
                      </a:endParaRPr>
                    </a:p>
                  </a:txBody>
                  <a:tcPr marL="6990" marR="6990" marT="6990" marB="0" anchor="ctr"/>
                </a:tc>
                <a:tc>
                  <a:txBody>
                    <a:bodyPr/>
                    <a:lstStyle/>
                    <a:p>
                      <a:pPr algn="ctr" fontAlgn="ctr"/>
                      <a:r>
                        <a:rPr lang="ru-RU" sz="1000" u="none" strike="noStrike">
                          <a:effectLst/>
                        </a:rPr>
                        <a:t>Стабильность со стороны поставщиков</a:t>
                      </a:r>
                      <a:endParaRPr lang="ru-RU" sz="1000" b="0" i="0" u="none" strike="noStrike">
                        <a:effectLst/>
                        <a:latin typeface="Calibri" panose="020F0502020204030204" pitchFamily="34" charset="0"/>
                      </a:endParaRPr>
                    </a:p>
                  </a:txBody>
                  <a:tcPr marL="6990" marR="6990" marT="6990" marB="0" anchor="ctr"/>
                </a:tc>
                <a:tc>
                  <a:txBody>
                    <a:bodyPr/>
                    <a:lstStyle/>
                    <a:p>
                      <a:pPr algn="ctr" fontAlgn="ctr"/>
                      <a:r>
                        <a:rPr lang="ru-RU" sz="1000" u="none" strike="noStrike" dirty="0">
                          <a:effectLst/>
                        </a:rPr>
                        <a:t>Проведение переговоров о снижении цен</a:t>
                      </a:r>
                      <a:endParaRPr lang="ru-RU" sz="1000" b="0" i="0" u="none" strike="noStrike" dirty="0">
                        <a:effectLst/>
                        <a:latin typeface="Calibri" panose="020F0502020204030204" pitchFamily="34" charset="0"/>
                      </a:endParaRPr>
                    </a:p>
                  </a:txBody>
                  <a:tcPr marL="6990" marR="6990" marT="6990" marB="0" anchor="ctr"/>
                </a:tc>
                <a:extLst>
                  <a:ext uri="{0D108BD9-81ED-4DB2-BD59-A6C34878D82A}">
                    <a16:rowId xmlns:a16="http://schemas.microsoft.com/office/drawing/2014/main" val="2416464018"/>
                  </a:ext>
                </a:extLst>
              </a:tr>
            </a:tbl>
          </a:graphicData>
        </a:graphic>
      </p:graphicFrame>
    </p:spTree>
    <p:extLst>
      <p:ext uri="{BB962C8B-B14F-4D97-AF65-F5344CB8AC3E}">
        <p14:creationId xmlns:p14="http://schemas.microsoft.com/office/powerpoint/2010/main" val="2730087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p:txBody>
          <a:bodyPr/>
          <a:lstStyle/>
          <a:p>
            <a:fld id="{9DD0990C-240E-4F6D-96E9-50DBAF192F56}" type="slidenum">
              <a:rPr lang="ru-RU" smtClean="0"/>
              <a:t>12</a:t>
            </a:fld>
            <a:endParaRPr lang="ru-RU" dirty="0"/>
          </a:p>
        </p:txBody>
      </p:sp>
      <p:cxnSp>
        <p:nvCxnSpPr>
          <p:cNvPr id="9" name="Прямая соединительная линия 8">
            <a:extLst>
              <a:ext uri="{FF2B5EF4-FFF2-40B4-BE49-F238E27FC236}">
                <a16:creationId xmlns:a16="http://schemas.microsoft.com/office/drawing/2014/main" id="{90903EA7-06CC-6449-8C08-49C6220A9BEB}"/>
              </a:ext>
            </a:extLst>
          </p:cNvPr>
          <p:cNvCxnSpPr/>
          <p:nvPr/>
        </p:nvCxnSpPr>
        <p:spPr>
          <a:xfrm>
            <a:off x="683568" y="980728"/>
            <a:ext cx="69950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59F6138E-7D9F-EAEB-61CF-B433B772DE60}"/>
              </a:ext>
            </a:extLst>
          </p:cNvPr>
          <p:cNvCxnSpPr/>
          <p:nvPr/>
        </p:nvCxnSpPr>
        <p:spPr>
          <a:xfrm flipV="1">
            <a:off x="899592" y="476672"/>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Заголовок 2">
            <a:extLst>
              <a:ext uri="{FF2B5EF4-FFF2-40B4-BE49-F238E27FC236}">
                <a16:creationId xmlns:a16="http://schemas.microsoft.com/office/drawing/2014/main" id="{E65D82C4-E56C-E89E-3E6D-8BFB3D4CD84A}"/>
              </a:ext>
            </a:extLst>
          </p:cNvPr>
          <p:cNvSpPr txBox="1">
            <a:spLocks/>
          </p:cNvSpPr>
          <p:nvPr/>
        </p:nvSpPr>
        <p:spPr>
          <a:xfrm>
            <a:off x="971600" y="476672"/>
            <a:ext cx="7725544" cy="504056"/>
          </a:xfrm>
          <a:prstGeom prst="rect">
            <a:avLst/>
          </a:prstGeom>
        </p:spPr>
        <p:txBody>
          <a:bodyPr vert="horz" lIns="91440" tIns="45720" rIns="91440" bIns="45720" rtlCol="0" anchor="ctr">
            <a:noAutofit/>
          </a:bodyPr>
          <a:lstStyle>
            <a:defPPr>
              <a:defRPr lang="ru-RU"/>
            </a:defPPr>
            <a:lvl1pPr>
              <a:spcBef>
                <a:spcPct val="0"/>
              </a:spcBef>
              <a:buNone/>
              <a:defRPr sz="2000" b="1">
                <a:solidFill>
                  <a:srgbClr val="000000"/>
                </a:solidFill>
                <a:latin typeface="Arial"/>
                <a:ea typeface="+mj-ea"/>
                <a:cs typeface="Arial"/>
              </a:defRPr>
            </a:lvl1pPr>
          </a:lstStyle>
          <a:p>
            <a:r>
              <a:rPr lang="ru-RU" dirty="0">
                <a:latin typeface="Gilroy Bold" pitchFamily="50" charset="-52"/>
              </a:rPr>
              <a:t>Основные стратегии организации </a:t>
            </a:r>
            <a:r>
              <a:rPr lang="ru-RU" dirty="0" err="1">
                <a:latin typeface="Gilroy Bold" pitchFamily="50" charset="-52"/>
              </a:rPr>
              <a:t>М.Портера</a:t>
            </a:r>
            <a:endParaRPr lang="ru-RU" dirty="0">
              <a:latin typeface="Gilroy Bold" pitchFamily="50" charset="-52"/>
            </a:endParaRPr>
          </a:p>
        </p:txBody>
      </p:sp>
      <p:graphicFrame>
        <p:nvGraphicFramePr>
          <p:cNvPr id="2" name="Схема 1">
            <a:extLst>
              <a:ext uri="{FF2B5EF4-FFF2-40B4-BE49-F238E27FC236}">
                <a16:creationId xmlns:a16="http://schemas.microsoft.com/office/drawing/2014/main" id="{E4D2672B-3BFF-BA34-6D74-BC541A262C9B}"/>
              </a:ext>
            </a:extLst>
          </p:cNvPr>
          <p:cNvGraphicFramePr/>
          <p:nvPr>
            <p:extLst>
              <p:ext uri="{D42A27DB-BD31-4B8C-83A1-F6EECF244321}">
                <p14:modId xmlns:p14="http://schemas.microsoft.com/office/powerpoint/2010/main" val="1571084464"/>
              </p:ext>
            </p:extLst>
          </p:nvPr>
        </p:nvGraphicFramePr>
        <p:xfrm>
          <a:off x="971600" y="1680430"/>
          <a:ext cx="6840760" cy="39762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89306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p:txBody>
          <a:bodyPr/>
          <a:lstStyle/>
          <a:p>
            <a:fld id="{9DD0990C-240E-4F6D-96E9-50DBAF192F56}" type="slidenum">
              <a:rPr lang="ru-RU" smtClean="0"/>
              <a:t>13</a:t>
            </a:fld>
            <a:endParaRPr lang="ru-RU" dirty="0"/>
          </a:p>
        </p:txBody>
      </p:sp>
      <p:cxnSp>
        <p:nvCxnSpPr>
          <p:cNvPr id="9" name="Прямая соединительная линия 8">
            <a:extLst>
              <a:ext uri="{FF2B5EF4-FFF2-40B4-BE49-F238E27FC236}">
                <a16:creationId xmlns:a16="http://schemas.microsoft.com/office/drawing/2014/main" id="{90903EA7-06CC-6449-8C08-49C6220A9BEB}"/>
              </a:ext>
            </a:extLst>
          </p:cNvPr>
          <p:cNvCxnSpPr/>
          <p:nvPr/>
        </p:nvCxnSpPr>
        <p:spPr>
          <a:xfrm>
            <a:off x="683568" y="980728"/>
            <a:ext cx="69950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59F6138E-7D9F-EAEB-61CF-B433B772DE60}"/>
              </a:ext>
            </a:extLst>
          </p:cNvPr>
          <p:cNvCxnSpPr/>
          <p:nvPr/>
        </p:nvCxnSpPr>
        <p:spPr>
          <a:xfrm flipV="1">
            <a:off x="899592" y="476672"/>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Заголовок 2">
            <a:extLst>
              <a:ext uri="{FF2B5EF4-FFF2-40B4-BE49-F238E27FC236}">
                <a16:creationId xmlns:a16="http://schemas.microsoft.com/office/drawing/2014/main" id="{E65D82C4-E56C-E89E-3E6D-8BFB3D4CD84A}"/>
              </a:ext>
            </a:extLst>
          </p:cNvPr>
          <p:cNvSpPr txBox="1">
            <a:spLocks/>
          </p:cNvSpPr>
          <p:nvPr/>
        </p:nvSpPr>
        <p:spPr>
          <a:xfrm>
            <a:off x="971600" y="476672"/>
            <a:ext cx="7725544" cy="504056"/>
          </a:xfrm>
          <a:prstGeom prst="rect">
            <a:avLst/>
          </a:prstGeom>
        </p:spPr>
        <p:txBody>
          <a:bodyPr vert="horz" lIns="91440" tIns="45720" rIns="91440" bIns="45720" rtlCol="0" anchor="ctr">
            <a:noAutofit/>
          </a:bodyPr>
          <a:lstStyle>
            <a:defPPr>
              <a:defRPr lang="ru-RU"/>
            </a:defPPr>
            <a:lvl1pPr>
              <a:spcBef>
                <a:spcPct val="0"/>
              </a:spcBef>
              <a:buNone/>
              <a:defRPr sz="2000" b="1">
                <a:solidFill>
                  <a:srgbClr val="000000"/>
                </a:solidFill>
                <a:latin typeface="Arial"/>
                <a:ea typeface="+mj-ea"/>
                <a:cs typeface="Arial"/>
              </a:defRPr>
            </a:lvl1pPr>
          </a:lstStyle>
          <a:p>
            <a:r>
              <a:rPr lang="ru-RU" dirty="0">
                <a:latin typeface="Gilroy Bold" pitchFamily="50" charset="-52"/>
              </a:rPr>
              <a:t>Ценовое лидерство</a:t>
            </a:r>
          </a:p>
        </p:txBody>
      </p:sp>
      <p:sp>
        <p:nvSpPr>
          <p:cNvPr id="2" name="TextBox 1">
            <a:extLst>
              <a:ext uri="{FF2B5EF4-FFF2-40B4-BE49-F238E27FC236}">
                <a16:creationId xmlns:a16="http://schemas.microsoft.com/office/drawing/2014/main" id="{CB61A42A-123F-A339-0611-2C3D4417AA5C}"/>
              </a:ext>
            </a:extLst>
          </p:cNvPr>
          <p:cNvSpPr txBox="1"/>
          <p:nvPr/>
        </p:nvSpPr>
        <p:spPr>
          <a:xfrm>
            <a:off x="892065" y="1277800"/>
            <a:ext cx="7064309" cy="95410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ru-RU" sz="1400" b="1" dirty="0">
                <a:effectLst>
                  <a:outerShdw blurRad="38100" dist="38100" dir="2700000" algn="tl">
                    <a:srgbClr val="000000">
                      <a:alpha val="43137"/>
                    </a:srgbClr>
                  </a:outerShdw>
                </a:effectLst>
              </a:rPr>
              <a:t>Ценовое лидерство - </a:t>
            </a:r>
            <a:r>
              <a:rPr lang="ru-RU" sz="1400" dirty="0"/>
              <a:t>это стратегия, основанная на достижении низких издержек производства и предложении товаров или услуг по самым низким ценам на рынке. Целью такой стратегии является привлечение ценовых потребителей и конкурирование за долю рынка на основе ценовых преимуществ.</a:t>
            </a:r>
          </a:p>
        </p:txBody>
      </p:sp>
      <p:sp>
        <p:nvSpPr>
          <p:cNvPr id="7" name="TextBox 6">
            <a:extLst>
              <a:ext uri="{FF2B5EF4-FFF2-40B4-BE49-F238E27FC236}">
                <a16:creationId xmlns:a16="http://schemas.microsoft.com/office/drawing/2014/main" id="{D1ECED26-FBA1-6955-3984-72CC0E9A3B2B}"/>
              </a:ext>
            </a:extLst>
          </p:cNvPr>
          <p:cNvSpPr txBox="1"/>
          <p:nvPr/>
        </p:nvSpPr>
        <p:spPr>
          <a:xfrm>
            <a:off x="892065" y="2423693"/>
            <a:ext cx="3240360" cy="1200329"/>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ru-RU" sz="1200" b="1" dirty="0"/>
              <a:t>Снижение издержек</a:t>
            </a:r>
          </a:p>
          <a:p>
            <a:r>
              <a:rPr lang="ru-RU" sz="1200" dirty="0"/>
              <a:t>Снижение стоимости</a:t>
            </a:r>
          </a:p>
          <a:p>
            <a:r>
              <a:rPr lang="ru-RU" sz="1200" dirty="0"/>
              <a:t>Материалов</a:t>
            </a:r>
          </a:p>
          <a:p>
            <a:r>
              <a:rPr lang="ru-RU" sz="1200" dirty="0"/>
              <a:t>Оптимизация логистики</a:t>
            </a:r>
          </a:p>
          <a:p>
            <a:r>
              <a:rPr lang="ru-RU" sz="1200" dirty="0"/>
              <a:t>Эффективное производство</a:t>
            </a:r>
          </a:p>
          <a:p>
            <a:r>
              <a:rPr lang="ru-RU" sz="1200" dirty="0"/>
              <a:t>Готовые решения</a:t>
            </a:r>
          </a:p>
        </p:txBody>
      </p:sp>
      <p:sp>
        <p:nvSpPr>
          <p:cNvPr id="12" name="TextBox 11">
            <a:extLst>
              <a:ext uri="{FF2B5EF4-FFF2-40B4-BE49-F238E27FC236}">
                <a16:creationId xmlns:a16="http://schemas.microsoft.com/office/drawing/2014/main" id="{C7950C52-D00B-F37F-73CC-4E164148088B}"/>
              </a:ext>
            </a:extLst>
          </p:cNvPr>
          <p:cNvSpPr txBox="1"/>
          <p:nvPr/>
        </p:nvSpPr>
        <p:spPr>
          <a:xfrm>
            <a:off x="892064" y="4887702"/>
            <a:ext cx="3240361" cy="1384995"/>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r>
              <a:rPr lang="ru-RU" sz="1200" b="1" dirty="0"/>
              <a:t>Недостатки стратегии</a:t>
            </a:r>
          </a:p>
          <a:p>
            <a:pPr marL="171450" indent="-171450">
              <a:buFont typeface="Arial" panose="020B0604020202020204" pitchFamily="34" charset="0"/>
              <a:buChar char="•"/>
            </a:pPr>
            <a:r>
              <a:rPr lang="ru-RU" sz="1200" dirty="0"/>
              <a:t>снижение цен может привести к уменьшению доходов</a:t>
            </a:r>
          </a:p>
          <a:p>
            <a:pPr marL="171450" indent="-171450">
              <a:buFont typeface="Arial" panose="020B0604020202020204" pitchFamily="34" charset="0"/>
              <a:buChar char="•"/>
            </a:pPr>
            <a:r>
              <a:rPr lang="ru-RU" sz="1200" dirty="0"/>
              <a:t>борьба за ценовое лидерство может создать </a:t>
            </a:r>
            <a:r>
              <a:rPr lang="ru-RU" sz="1200" b="1" dirty="0"/>
              <a:t>высокий уровень конкуренции</a:t>
            </a:r>
            <a:r>
              <a:rPr lang="ru-RU" sz="1200" dirty="0"/>
              <a:t> и давление на цены, что может негативно сказаться на прибыли организации.</a:t>
            </a:r>
          </a:p>
        </p:txBody>
      </p:sp>
      <p:sp>
        <p:nvSpPr>
          <p:cNvPr id="13" name="TextBox 12">
            <a:extLst>
              <a:ext uri="{FF2B5EF4-FFF2-40B4-BE49-F238E27FC236}">
                <a16:creationId xmlns:a16="http://schemas.microsoft.com/office/drawing/2014/main" id="{B45BA3A7-2973-2FAD-0E44-500E7F2DA560}"/>
              </a:ext>
            </a:extLst>
          </p:cNvPr>
          <p:cNvSpPr txBox="1"/>
          <p:nvPr/>
        </p:nvSpPr>
        <p:spPr>
          <a:xfrm>
            <a:off x="5004049" y="4682842"/>
            <a:ext cx="3150095" cy="1954381"/>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ru-RU" sz="1100" dirty="0"/>
              <a:t>Компания ПЯТЕРОЧКА – отличный пример успешной стратегии ценового лидерства. ПЯТЕРОЧКА предлагает широкий ассортимент товаров по низким ценам, чем привлекает множество потребителей. Они минимизируют издержки за счет масштабов, оптимизации логистики и снижения операционных расходов. Благодаря этому ПЯТЕРОЧКА может предложить потребителям низкие цены и оставаться конкурентоспособным на рынке розничной торговли.</a:t>
            </a:r>
          </a:p>
        </p:txBody>
      </p:sp>
      <p:pic>
        <p:nvPicPr>
          <p:cNvPr id="15" name="Рисунок 14">
            <a:extLst>
              <a:ext uri="{FF2B5EF4-FFF2-40B4-BE49-F238E27FC236}">
                <a16:creationId xmlns:a16="http://schemas.microsoft.com/office/drawing/2014/main" id="{CBFA635F-DF1E-2CCE-622D-EDF29EAE789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04050" y="2485436"/>
            <a:ext cx="2915816" cy="1943877"/>
          </a:xfrm>
          <a:prstGeom prst="rect">
            <a:avLst/>
          </a:prstGeom>
        </p:spPr>
      </p:pic>
      <p:sp>
        <p:nvSpPr>
          <p:cNvPr id="3" name="TextBox 2">
            <a:extLst>
              <a:ext uri="{FF2B5EF4-FFF2-40B4-BE49-F238E27FC236}">
                <a16:creationId xmlns:a16="http://schemas.microsoft.com/office/drawing/2014/main" id="{8104C5AE-29BF-4327-A754-D874FB5A77F0}"/>
              </a:ext>
            </a:extLst>
          </p:cNvPr>
          <p:cNvSpPr txBox="1"/>
          <p:nvPr/>
        </p:nvSpPr>
        <p:spPr>
          <a:xfrm>
            <a:off x="892998" y="3815808"/>
            <a:ext cx="3456384" cy="830997"/>
          </a:xfrm>
          <a:prstGeom prst="rect">
            <a:avLst/>
          </a:prstGeom>
          <a:noFill/>
        </p:spPr>
        <p:txBody>
          <a:bodyPr wrap="square" rtlCol="0">
            <a:spAutoFit/>
          </a:bodyPr>
          <a:lstStyle/>
          <a:p>
            <a:r>
              <a:rPr lang="ru-RU" sz="1200" dirty="0"/>
              <a:t>Ключевым элементом ценового лидерства является способность организации предлагать товары или услуги по более </a:t>
            </a:r>
            <a:r>
              <a:rPr lang="ru-RU" sz="1200" b="1" dirty="0"/>
              <a:t>низким ценам, чем их конкуренты</a:t>
            </a:r>
            <a:r>
              <a:rPr lang="ru-RU" sz="1200" dirty="0"/>
              <a:t>, при этом оставаясь прибыльной. </a:t>
            </a:r>
          </a:p>
        </p:txBody>
      </p:sp>
    </p:spTree>
    <p:extLst>
      <p:ext uri="{BB962C8B-B14F-4D97-AF65-F5344CB8AC3E}">
        <p14:creationId xmlns:p14="http://schemas.microsoft.com/office/powerpoint/2010/main" val="2639330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p:txBody>
          <a:bodyPr/>
          <a:lstStyle/>
          <a:p>
            <a:fld id="{9DD0990C-240E-4F6D-96E9-50DBAF192F56}" type="slidenum">
              <a:rPr lang="ru-RU" smtClean="0"/>
              <a:t>14</a:t>
            </a:fld>
            <a:endParaRPr lang="ru-RU" dirty="0"/>
          </a:p>
        </p:txBody>
      </p:sp>
      <p:cxnSp>
        <p:nvCxnSpPr>
          <p:cNvPr id="9" name="Прямая соединительная линия 8">
            <a:extLst>
              <a:ext uri="{FF2B5EF4-FFF2-40B4-BE49-F238E27FC236}">
                <a16:creationId xmlns:a16="http://schemas.microsoft.com/office/drawing/2014/main" id="{90903EA7-06CC-6449-8C08-49C6220A9BEB}"/>
              </a:ext>
            </a:extLst>
          </p:cNvPr>
          <p:cNvCxnSpPr/>
          <p:nvPr/>
        </p:nvCxnSpPr>
        <p:spPr>
          <a:xfrm>
            <a:off x="683568" y="980728"/>
            <a:ext cx="69950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59F6138E-7D9F-EAEB-61CF-B433B772DE60}"/>
              </a:ext>
            </a:extLst>
          </p:cNvPr>
          <p:cNvCxnSpPr/>
          <p:nvPr/>
        </p:nvCxnSpPr>
        <p:spPr>
          <a:xfrm flipV="1">
            <a:off x="899592" y="476672"/>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Заголовок 2">
            <a:extLst>
              <a:ext uri="{FF2B5EF4-FFF2-40B4-BE49-F238E27FC236}">
                <a16:creationId xmlns:a16="http://schemas.microsoft.com/office/drawing/2014/main" id="{E65D82C4-E56C-E89E-3E6D-8BFB3D4CD84A}"/>
              </a:ext>
            </a:extLst>
          </p:cNvPr>
          <p:cNvSpPr txBox="1">
            <a:spLocks/>
          </p:cNvSpPr>
          <p:nvPr/>
        </p:nvSpPr>
        <p:spPr>
          <a:xfrm>
            <a:off x="971600" y="476672"/>
            <a:ext cx="7725544" cy="504056"/>
          </a:xfrm>
          <a:prstGeom prst="rect">
            <a:avLst/>
          </a:prstGeom>
        </p:spPr>
        <p:txBody>
          <a:bodyPr vert="horz" lIns="91440" tIns="45720" rIns="91440" bIns="45720" rtlCol="0" anchor="ctr">
            <a:noAutofit/>
          </a:bodyPr>
          <a:lstStyle>
            <a:defPPr>
              <a:defRPr lang="ru-RU"/>
            </a:defPPr>
            <a:lvl1pPr>
              <a:spcBef>
                <a:spcPct val="0"/>
              </a:spcBef>
              <a:buNone/>
              <a:defRPr sz="2000" b="1">
                <a:solidFill>
                  <a:srgbClr val="000000"/>
                </a:solidFill>
                <a:latin typeface="Arial"/>
                <a:ea typeface="+mj-ea"/>
                <a:cs typeface="Arial"/>
              </a:defRPr>
            </a:lvl1pPr>
          </a:lstStyle>
          <a:p>
            <a:r>
              <a:rPr lang="ru-RU" dirty="0">
                <a:latin typeface="Gilroy Bold" pitchFamily="50" charset="-52"/>
              </a:rPr>
              <a:t>Стратегия дифференциации</a:t>
            </a:r>
          </a:p>
        </p:txBody>
      </p:sp>
      <p:sp>
        <p:nvSpPr>
          <p:cNvPr id="2" name="TextBox 1">
            <a:extLst>
              <a:ext uri="{FF2B5EF4-FFF2-40B4-BE49-F238E27FC236}">
                <a16:creationId xmlns:a16="http://schemas.microsoft.com/office/drawing/2014/main" id="{CB61A42A-123F-A339-0611-2C3D4417AA5C}"/>
              </a:ext>
            </a:extLst>
          </p:cNvPr>
          <p:cNvSpPr txBox="1"/>
          <p:nvPr/>
        </p:nvSpPr>
        <p:spPr>
          <a:xfrm>
            <a:off x="892065" y="1277800"/>
            <a:ext cx="7064309" cy="73866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ru-RU" sz="1400" b="1" dirty="0">
                <a:effectLst>
                  <a:outerShdw blurRad="38100" dist="38100" dir="2700000" algn="tl">
                    <a:srgbClr val="000000">
                      <a:alpha val="43137"/>
                    </a:srgbClr>
                  </a:outerShdw>
                </a:effectLst>
              </a:rPr>
              <a:t>Стратегия дифференциации </a:t>
            </a:r>
            <a:r>
              <a:rPr lang="ru-RU" sz="1400" dirty="0"/>
              <a:t>- это подход к конкуренции, основанный на создании и предложении уникальных товаров или услуг, отличающихся от конкурентов по определенным характеристикам.</a:t>
            </a:r>
          </a:p>
        </p:txBody>
      </p:sp>
      <p:sp>
        <p:nvSpPr>
          <p:cNvPr id="7" name="TextBox 6">
            <a:extLst>
              <a:ext uri="{FF2B5EF4-FFF2-40B4-BE49-F238E27FC236}">
                <a16:creationId xmlns:a16="http://schemas.microsoft.com/office/drawing/2014/main" id="{D1ECED26-FBA1-6955-3984-72CC0E9A3B2B}"/>
              </a:ext>
            </a:extLst>
          </p:cNvPr>
          <p:cNvSpPr txBox="1"/>
          <p:nvPr/>
        </p:nvSpPr>
        <p:spPr>
          <a:xfrm>
            <a:off x="892065" y="3253040"/>
            <a:ext cx="3240360" cy="830997"/>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ru-RU" sz="1200" dirty="0"/>
              <a:t>Позволяет организации избежать прямой конкуренции на цену, поскольку потребители готовы платить за уникальные характеристики продукта или услуги.</a:t>
            </a:r>
          </a:p>
        </p:txBody>
      </p:sp>
      <p:sp>
        <p:nvSpPr>
          <p:cNvPr id="12" name="TextBox 11">
            <a:extLst>
              <a:ext uri="{FF2B5EF4-FFF2-40B4-BE49-F238E27FC236}">
                <a16:creationId xmlns:a16="http://schemas.microsoft.com/office/drawing/2014/main" id="{C7950C52-D00B-F37F-73CC-4E164148088B}"/>
              </a:ext>
            </a:extLst>
          </p:cNvPr>
          <p:cNvSpPr txBox="1"/>
          <p:nvPr/>
        </p:nvSpPr>
        <p:spPr>
          <a:xfrm>
            <a:off x="906939" y="4323360"/>
            <a:ext cx="3240361" cy="1754326"/>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r>
              <a:rPr lang="ru-RU" sz="1200" b="1" dirty="0"/>
              <a:t>Недостатки стратегии</a:t>
            </a:r>
          </a:p>
          <a:p>
            <a:pPr marL="171450" indent="-171450">
              <a:buFont typeface="Arial" panose="020B0604020202020204" pitchFamily="34" charset="0"/>
              <a:buChar char="•"/>
            </a:pPr>
            <a:r>
              <a:rPr lang="ru-RU" sz="1200" dirty="0"/>
              <a:t>Требует значительных инвестиций в разработку и маркетинг продукта</a:t>
            </a:r>
          </a:p>
          <a:p>
            <a:pPr marL="171450" indent="-171450">
              <a:buFont typeface="Arial" panose="020B0604020202020204" pitchFamily="34" charset="0"/>
              <a:buChar char="•"/>
            </a:pPr>
            <a:r>
              <a:rPr lang="ru-RU" sz="1200" dirty="0"/>
              <a:t>Следить за изменениями предпочтений потребителей и конкурентной среды, чтобы сохранить свою уникальность и привлекательность на рынке.</a:t>
            </a:r>
          </a:p>
          <a:p>
            <a:pPr marL="171450" indent="-171450">
              <a:buFont typeface="Arial" panose="020B0604020202020204" pitchFamily="34" charset="0"/>
              <a:buChar char="•"/>
            </a:pPr>
            <a:endParaRPr lang="ru-RU" sz="1200" dirty="0"/>
          </a:p>
          <a:p>
            <a:pPr marL="171450" indent="-171450">
              <a:buFont typeface="Arial" panose="020B0604020202020204" pitchFamily="34" charset="0"/>
              <a:buChar char="•"/>
            </a:pPr>
            <a:endParaRPr lang="ru-RU" sz="1200" dirty="0"/>
          </a:p>
        </p:txBody>
      </p:sp>
      <p:sp>
        <p:nvSpPr>
          <p:cNvPr id="13" name="TextBox 12">
            <a:extLst>
              <a:ext uri="{FF2B5EF4-FFF2-40B4-BE49-F238E27FC236}">
                <a16:creationId xmlns:a16="http://schemas.microsoft.com/office/drawing/2014/main" id="{B45BA3A7-2973-2FAD-0E44-500E7F2DA560}"/>
              </a:ext>
            </a:extLst>
          </p:cNvPr>
          <p:cNvSpPr txBox="1"/>
          <p:nvPr/>
        </p:nvSpPr>
        <p:spPr>
          <a:xfrm>
            <a:off x="5004049" y="4682842"/>
            <a:ext cx="3150095" cy="1615827"/>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ru-RU" sz="1100" dirty="0"/>
              <a:t>Компания Apple представляет пример успешной стратегии дифференциации. Они создают уникальные продукты, которые отличаются от конкурентов по дизайну, функциональности и экосистеме. Продукция Apple часто ассоциируется с престижностью и инновационностью, что позволяет им удерживать лояльных клиентов и взимать премиальные цены. </a:t>
            </a:r>
          </a:p>
        </p:txBody>
      </p:sp>
      <p:sp>
        <p:nvSpPr>
          <p:cNvPr id="16" name="TextBox 15">
            <a:extLst>
              <a:ext uri="{FF2B5EF4-FFF2-40B4-BE49-F238E27FC236}">
                <a16:creationId xmlns:a16="http://schemas.microsoft.com/office/drawing/2014/main" id="{B0A75A4A-1B81-EBC8-9CE0-F7223F35BCDA}"/>
              </a:ext>
            </a:extLst>
          </p:cNvPr>
          <p:cNvSpPr txBox="1"/>
          <p:nvPr/>
        </p:nvSpPr>
        <p:spPr>
          <a:xfrm>
            <a:off x="906939" y="2181794"/>
            <a:ext cx="3131842" cy="830997"/>
          </a:xfrm>
          <a:prstGeom prst="rect">
            <a:avLst/>
          </a:prstGeom>
          <a:noFill/>
        </p:spPr>
        <p:txBody>
          <a:bodyPr wrap="square" rtlCol="0">
            <a:spAutoFit/>
          </a:bodyPr>
          <a:lstStyle/>
          <a:p>
            <a:r>
              <a:rPr lang="ru-RU" sz="1200" dirty="0"/>
              <a:t>Основной идеей стратегии дифференциации является создание чего-то, что будет восприниматься рынком как уникальное и ценное.</a:t>
            </a:r>
          </a:p>
        </p:txBody>
      </p:sp>
      <p:pic>
        <p:nvPicPr>
          <p:cNvPr id="18" name="Рисунок 17">
            <a:extLst>
              <a:ext uri="{FF2B5EF4-FFF2-40B4-BE49-F238E27FC236}">
                <a16:creationId xmlns:a16="http://schemas.microsoft.com/office/drawing/2014/main" id="{1D7AE9BC-C32D-0511-E204-1824D5B0CF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80112" y="2281301"/>
            <a:ext cx="2224719" cy="2224719"/>
          </a:xfrm>
          <a:prstGeom prst="rect">
            <a:avLst/>
          </a:prstGeom>
        </p:spPr>
      </p:pic>
    </p:spTree>
    <p:extLst>
      <p:ext uri="{BB962C8B-B14F-4D97-AF65-F5344CB8AC3E}">
        <p14:creationId xmlns:p14="http://schemas.microsoft.com/office/powerpoint/2010/main" val="3431984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p:txBody>
          <a:bodyPr/>
          <a:lstStyle/>
          <a:p>
            <a:fld id="{9DD0990C-240E-4F6D-96E9-50DBAF192F56}" type="slidenum">
              <a:rPr lang="ru-RU" smtClean="0"/>
              <a:t>15</a:t>
            </a:fld>
            <a:endParaRPr lang="ru-RU" dirty="0"/>
          </a:p>
        </p:txBody>
      </p:sp>
      <p:cxnSp>
        <p:nvCxnSpPr>
          <p:cNvPr id="9" name="Прямая соединительная линия 8">
            <a:extLst>
              <a:ext uri="{FF2B5EF4-FFF2-40B4-BE49-F238E27FC236}">
                <a16:creationId xmlns:a16="http://schemas.microsoft.com/office/drawing/2014/main" id="{90903EA7-06CC-6449-8C08-49C6220A9BEB}"/>
              </a:ext>
            </a:extLst>
          </p:cNvPr>
          <p:cNvCxnSpPr/>
          <p:nvPr/>
        </p:nvCxnSpPr>
        <p:spPr>
          <a:xfrm>
            <a:off x="683568" y="980728"/>
            <a:ext cx="69950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59F6138E-7D9F-EAEB-61CF-B433B772DE60}"/>
              </a:ext>
            </a:extLst>
          </p:cNvPr>
          <p:cNvCxnSpPr/>
          <p:nvPr/>
        </p:nvCxnSpPr>
        <p:spPr>
          <a:xfrm flipV="1">
            <a:off x="899592" y="476672"/>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Заголовок 2">
            <a:extLst>
              <a:ext uri="{FF2B5EF4-FFF2-40B4-BE49-F238E27FC236}">
                <a16:creationId xmlns:a16="http://schemas.microsoft.com/office/drawing/2014/main" id="{E65D82C4-E56C-E89E-3E6D-8BFB3D4CD84A}"/>
              </a:ext>
            </a:extLst>
          </p:cNvPr>
          <p:cNvSpPr txBox="1">
            <a:spLocks/>
          </p:cNvSpPr>
          <p:nvPr/>
        </p:nvSpPr>
        <p:spPr>
          <a:xfrm>
            <a:off x="971600" y="476672"/>
            <a:ext cx="7725544" cy="504056"/>
          </a:xfrm>
          <a:prstGeom prst="rect">
            <a:avLst/>
          </a:prstGeom>
        </p:spPr>
        <p:txBody>
          <a:bodyPr vert="horz" lIns="91440" tIns="45720" rIns="91440" bIns="45720" rtlCol="0" anchor="ctr">
            <a:noAutofit/>
          </a:bodyPr>
          <a:lstStyle>
            <a:defPPr>
              <a:defRPr lang="ru-RU"/>
            </a:defPPr>
            <a:lvl1pPr>
              <a:spcBef>
                <a:spcPct val="0"/>
              </a:spcBef>
              <a:buNone/>
              <a:defRPr sz="2000" b="1">
                <a:solidFill>
                  <a:srgbClr val="000000"/>
                </a:solidFill>
                <a:latin typeface="Arial"/>
                <a:ea typeface="+mj-ea"/>
                <a:cs typeface="Arial"/>
              </a:defRPr>
            </a:lvl1pPr>
          </a:lstStyle>
          <a:p>
            <a:r>
              <a:rPr lang="ru-RU" dirty="0">
                <a:latin typeface="Gilroy Bold" pitchFamily="50" charset="-52"/>
              </a:rPr>
              <a:t>Стратегия фокусирования</a:t>
            </a:r>
          </a:p>
        </p:txBody>
      </p:sp>
      <p:sp>
        <p:nvSpPr>
          <p:cNvPr id="2" name="TextBox 1">
            <a:extLst>
              <a:ext uri="{FF2B5EF4-FFF2-40B4-BE49-F238E27FC236}">
                <a16:creationId xmlns:a16="http://schemas.microsoft.com/office/drawing/2014/main" id="{CB61A42A-123F-A339-0611-2C3D4417AA5C}"/>
              </a:ext>
            </a:extLst>
          </p:cNvPr>
          <p:cNvSpPr txBox="1"/>
          <p:nvPr/>
        </p:nvSpPr>
        <p:spPr>
          <a:xfrm>
            <a:off x="952731" y="1274506"/>
            <a:ext cx="7064309" cy="73866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ru-RU" sz="1400" b="1" dirty="0">
                <a:effectLst>
                  <a:outerShdw blurRad="38100" dist="38100" dir="2700000" algn="tl">
                    <a:srgbClr val="000000">
                      <a:alpha val="43137"/>
                    </a:srgbClr>
                  </a:outerShdw>
                </a:effectLst>
              </a:rPr>
              <a:t>Стратегия фокусирования на сегменте рынка - </a:t>
            </a:r>
            <a:r>
              <a:rPr lang="ru-RU" sz="1400" dirty="0"/>
              <a:t>это подход, при котором компания сосредотачивается на обслуживании узкой, специфической целевой аудитории в пределах общего рынка.</a:t>
            </a:r>
          </a:p>
        </p:txBody>
      </p:sp>
      <p:sp>
        <p:nvSpPr>
          <p:cNvPr id="7" name="TextBox 6">
            <a:extLst>
              <a:ext uri="{FF2B5EF4-FFF2-40B4-BE49-F238E27FC236}">
                <a16:creationId xmlns:a16="http://schemas.microsoft.com/office/drawing/2014/main" id="{D1ECED26-FBA1-6955-3984-72CC0E9A3B2B}"/>
              </a:ext>
            </a:extLst>
          </p:cNvPr>
          <p:cNvSpPr txBox="1"/>
          <p:nvPr/>
        </p:nvSpPr>
        <p:spPr>
          <a:xfrm>
            <a:off x="963624" y="3905855"/>
            <a:ext cx="3240360" cy="1200329"/>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ru-RU" sz="1200" dirty="0"/>
              <a:t>Преимущества стратегии фокусирования включают более глубокое понимание потребностей и предпочтений целевой аудитории, более лояльных клиентов и возможность установления более высоких цен из-за уникальности предложения.</a:t>
            </a:r>
          </a:p>
        </p:txBody>
      </p:sp>
      <p:sp>
        <p:nvSpPr>
          <p:cNvPr id="12" name="TextBox 11">
            <a:extLst>
              <a:ext uri="{FF2B5EF4-FFF2-40B4-BE49-F238E27FC236}">
                <a16:creationId xmlns:a16="http://schemas.microsoft.com/office/drawing/2014/main" id="{C7950C52-D00B-F37F-73CC-4E164148088B}"/>
              </a:ext>
            </a:extLst>
          </p:cNvPr>
          <p:cNvSpPr txBox="1"/>
          <p:nvPr/>
        </p:nvSpPr>
        <p:spPr>
          <a:xfrm>
            <a:off x="924792" y="5195735"/>
            <a:ext cx="3240361" cy="1015663"/>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r>
              <a:rPr lang="ru-RU" sz="1200" b="1" dirty="0"/>
              <a:t>Недостатки стратегии</a:t>
            </a:r>
          </a:p>
          <a:p>
            <a:pPr marL="171450" indent="-171450">
              <a:buFont typeface="Arial" panose="020B0604020202020204" pitchFamily="34" charset="0"/>
              <a:buChar char="•"/>
            </a:pPr>
            <a:r>
              <a:rPr lang="ru-RU" sz="1200" dirty="0"/>
              <a:t>ограниченные возможности для роста</a:t>
            </a:r>
            <a:endParaRPr lang="en-US" sz="1200" dirty="0"/>
          </a:p>
          <a:p>
            <a:pPr marL="171450" indent="-171450">
              <a:buFont typeface="Arial" panose="020B0604020202020204" pitchFamily="34" charset="0"/>
              <a:buChar char="•"/>
            </a:pPr>
            <a:r>
              <a:rPr lang="ru-RU" sz="1200" dirty="0"/>
              <a:t>уязвимость перед изменениями в спросе в узком сегменте рынка.</a:t>
            </a:r>
          </a:p>
          <a:p>
            <a:pPr marL="171450" indent="-171450">
              <a:buFont typeface="Arial" panose="020B0604020202020204" pitchFamily="34" charset="0"/>
              <a:buChar char="•"/>
            </a:pPr>
            <a:endParaRPr lang="ru-RU" sz="1200" dirty="0"/>
          </a:p>
        </p:txBody>
      </p:sp>
      <p:sp>
        <p:nvSpPr>
          <p:cNvPr id="13" name="TextBox 12">
            <a:extLst>
              <a:ext uri="{FF2B5EF4-FFF2-40B4-BE49-F238E27FC236}">
                <a16:creationId xmlns:a16="http://schemas.microsoft.com/office/drawing/2014/main" id="{B45BA3A7-2973-2FAD-0E44-500E7F2DA560}"/>
              </a:ext>
            </a:extLst>
          </p:cNvPr>
          <p:cNvSpPr txBox="1"/>
          <p:nvPr/>
        </p:nvSpPr>
        <p:spPr>
          <a:xfrm>
            <a:off x="5004049" y="4682842"/>
            <a:ext cx="3150095" cy="144655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ru-RU" sz="1100" dirty="0"/>
              <a:t>Компания производит эксклюзивные роскошные автомобили и ориентируется только на высокодоходных клиентов, играющих в спорт. Они создают уникальные маркетинговые кампании и дизайны, чтобы привлечь эту специализированную аудиторию, вместо того чтобы конкурировать на общем рынке автомобилей.</a:t>
            </a:r>
          </a:p>
        </p:txBody>
      </p:sp>
      <p:graphicFrame>
        <p:nvGraphicFramePr>
          <p:cNvPr id="3" name="Схема 2">
            <a:extLst>
              <a:ext uri="{FF2B5EF4-FFF2-40B4-BE49-F238E27FC236}">
                <a16:creationId xmlns:a16="http://schemas.microsoft.com/office/drawing/2014/main" id="{7570EFFB-4AE4-2EC2-C067-34E1E16B54E9}"/>
              </a:ext>
            </a:extLst>
          </p:cNvPr>
          <p:cNvGraphicFramePr/>
          <p:nvPr>
            <p:extLst>
              <p:ext uri="{D42A27DB-BD31-4B8C-83A1-F6EECF244321}">
                <p14:modId xmlns:p14="http://schemas.microsoft.com/office/powerpoint/2010/main" val="797638845"/>
              </p:ext>
            </p:extLst>
          </p:nvPr>
        </p:nvGraphicFramePr>
        <p:xfrm>
          <a:off x="971600" y="2241771"/>
          <a:ext cx="3240360" cy="14958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4" name="Рисунок 13">
            <a:extLst>
              <a:ext uri="{FF2B5EF4-FFF2-40B4-BE49-F238E27FC236}">
                <a16:creationId xmlns:a16="http://schemas.microsoft.com/office/drawing/2014/main" id="{341CC025-698E-E031-A2D3-8613F6F64B0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436096" y="2191388"/>
            <a:ext cx="2100402" cy="2264496"/>
          </a:xfrm>
          <a:prstGeom prst="rect">
            <a:avLst/>
          </a:prstGeom>
        </p:spPr>
      </p:pic>
    </p:spTree>
    <p:extLst>
      <p:ext uri="{BB962C8B-B14F-4D97-AF65-F5344CB8AC3E}">
        <p14:creationId xmlns:p14="http://schemas.microsoft.com/office/powerpoint/2010/main" val="3294454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p:txBody>
          <a:bodyPr/>
          <a:lstStyle/>
          <a:p>
            <a:fld id="{9DD0990C-240E-4F6D-96E9-50DBAF192F56}" type="slidenum">
              <a:rPr lang="ru-RU" smtClean="0"/>
              <a:t>16</a:t>
            </a:fld>
            <a:endParaRPr lang="ru-RU" dirty="0"/>
          </a:p>
        </p:txBody>
      </p:sp>
      <p:cxnSp>
        <p:nvCxnSpPr>
          <p:cNvPr id="9" name="Прямая соединительная линия 8">
            <a:extLst>
              <a:ext uri="{FF2B5EF4-FFF2-40B4-BE49-F238E27FC236}">
                <a16:creationId xmlns:a16="http://schemas.microsoft.com/office/drawing/2014/main" id="{90903EA7-06CC-6449-8C08-49C6220A9BEB}"/>
              </a:ext>
            </a:extLst>
          </p:cNvPr>
          <p:cNvCxnSpPr/>
          <p:nvPr/>
        </p:nvCxnSpPr>
        <p:spPr>
          <a:xfrm>
            <a:off x="683568" y="980728"/>
            <a:ext cx="69950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59F6138E-7D9F-EAEB-61CF-B433B772DE60}"/>
              </a:ext>
            </a:extLst>
          </p:cNvPr>
          <p:cNvCxnSpPr/>
          <p:nvPr/>
        </p:nvCxnSpPr>
        <p:spPr>
          <a:xfrm flipV="1">
            <a:off x="899592" y="476672"/>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Заголовок 2">
            <a:extLst>
              <a:ext uri="{FF2B5EF4-FFF2-40B4-BE49-F238E27FC236}">
                <a16:creationId xmlns:a16="http://schemas.microsoft.com/office/drawing/2014/main" id="{E65D82C4-E56C-E89E-3E6D-8BFB3D4CD84A}"/>
              </a:ext>
            </a:extLst>
          </p:cNvPr>
          <p:cNvSpPr txBox="1">
            <a:spLocks/>
          </p:cNvSpPr>
          <p:nvPr/>
        </p:nvSpPr>
        <p:spPr>
          <a:xfrm>
            <a:off x="971600" y="476672"/>
            <a:ext cx="7725544" cy="504056"/>
          </a:xfrm>
          <a:prstGeom prst="rect">
            <a:avLst/>
          </a:prstGeom>
        </p:spPr>
        <p:txBody>
          <a:bodyPr vert="horz" lIns="91440" tIns="45720" rIns="91440" bIns="45720" rtlCol="0" anchor="ctr">
            <a:noAutofit/>
          </a:bodyPr>
          <a:lstStyle>
            <a:defPPr>
              <a:defRPr lang="ru-RU"/>
            </a:defPPr>
            <a:lvl1pPr>
              <a:spcBef>
                <a:spcPct val="0"/>
              </a:spcBef>
              <a:buNone/>
              <a:defRPr sz="2000" b="1">
                <a:solidFill>
                  <a:srgbClr val="000000"/>
                </a:solidFill>
                <a:latin typeface="Arial"/>
                <a:ea typeface="+mj-ea"/>
                <a:cs typeface="Arial"/>
              </a:defRPr>
            </a:lvl1pPr>
          </a:lstStyle>
          <a:p>
            <a:r>
              <a:rPr lang="ru-RU" dirty="0">
                <a:latin typeface="Gilroy Bold" pitchFamily="50" charset="-52"/>
              </a:rPr>
              <a:t>Стратегия структурной изменчивости</a:t>
            </a:r>
          </a:p>
        </p:txBody>
      </p:sp>
      <p:sp>
        <p:nvSpPr>
          <p:cNvPr id="2" name="TextBox 1">
            <a:extLst>
              <a:ext uri="{FF2B5EF4-FFF2-40B4-BE49-F238E27FC236}">
                <a16:creationId xmlns:a16="http://schemas.microsoft.com/office/drawing/2014/main" id="{CB61A42A-123F-A339-0611-2C3D4417AA5C}"/>
              </a:ext>
            </a:extLst>
          </p:cNvPr>
          <p:cNvSpPr txBox="1"/>
          <p:nvPr/>
        </p:nvSpPr>
        <p:spPr>
          <a:xfrm>
            <a:off x="963624" y="1072219"/>
            <a:ext cx="7064309" cy="116955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ru-RU" sz="1400" b="1" dirty="0">
                <a:effectLst>
                  <a:outerShdw blurRad="38100" dist="38100" dir="2700000" algn="tl">
                    <a:srgbClr val="000000">
                      <a:alpha val="43137"/>
                    </a:srgbClr>
                  </a:outerShdw>
                </a:effectLst>
              </a:rPr>
              <a:t>Стратегия структурной изменчивости </a:t>
            </a:r>
            <a:r>
              <a:rPr lang="ru-RU" sz="1400" dirty="0"/>
              <a:t>относится к способности компании адаптироваться к переменчивым условиям рынка путем изменения своей внутренней структуры, процессов и методов управления. Она предполагает гибкость и способность компании быстро реагировать на изменения спроса, технологические инновации, конкуренцию и другие внешние факторы.</a:t>
            </a:r>
          </a:p>
        </p:txBody>
      </p:sp>
      <p:sp>
        <p:nvSpPr>
          <p:cNvPr id="7" name="TextBox 6">
            <a:extLst>
              <a:ext uri="{FF2B5EF4-FFF2-40B4-BE49-F238E27FC236}">
                <a16:creationId xmlns:a16="http://schemas.microsoft.com/office/drawing/2014/main" id="{D1ECED26-FBA1-6955-3984-72CC0E9A3B2B}"/>
              </a:ext>
            </a:extLst>
          </p:cNvPr>
          <p:cNvSpPr txBox="1"/>
          <p:nvPr/>
        </p:nvSpPr>
        <p:spPr>
          <a:xfrm>
            <a:off x="1119790" y="2828835"/>
            <a:ext cx="3240360" cy="1200329"/>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ru-RU" sz="1200" dirty="0"/>
              <a:t>Преимущества стратегии структурной изменчивости заключаются в способности компании эффективно реагировать на изменения на рынке, а также в улучшении внутренней эффективности и инновационности.</a:t>
            </a:r>
          </a:p>
        </p:txBody>
      </p:sp>
      <p:sp>
        <p:nvSpPr>
          <p:cNvPr id="12" name="TextBox 11">
            <a:extLst>
              <a:ext uri="{FF2B5EF4-FFF2-40B4-BE49-F238E27FC236}">
                <a16:creationId xmlns:a16="http://schemas.microsoft.com/office/drawing/2014/main" id="{C7950C52-D00B-F37F-73CC-4E164148088B}"/>
              </a:ext>
            </a:extLst>
          </p:cNvPr>
          <p:cNvSpPr txBox="1"/>
          <p:nvPr/>
        </p:nvSpPr>
        <p:spPr>
          <a:xfrm>
            <a:off x="1147633" y="4427068"/>
            <a:ext cx="3240361" cy="1754326"/>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r>
              <a:rPr lang="ru-RU" sz="1200" b="1" dirty="0"/>
              <a:t>Недостатки стратегии</a:t>
            </a:r>
          </a:p>
          <a:p>
            <a:pPr marL="171450" indent="-171450">
              <a:buFont typeface="Arial" panose="020B0604020202020204" pitchFamily="34" charset="0"/>
              <a:buChar char="•"/>
            </a:pPr>
            <a:r>
              <a:rPr lang="ru-RU" sz="1200" dirty="0"/>
              <a:t>потенциальная нестабильность внутренних процессов</a:t>
            </a:r>
          </a:p>
          <a:p>
            <a:pPr marL="171450" indent="-171450">
              <a:buFont typeface="Arial" panose="020B0604020202020204" pitchFamily="34" charset="0"/>
              <a:buChar char="•"/>
            </a:pPr>
            <a:r>
              <a:rPr lang="ru-RU" sz="1200" dirty="0"/>
              <a:t>сложности в поддержании баланса между стабильностью и гибкостью</a:t>
            </a:r>
          </a:p>
          <a:p>
            <a:pPr marL="171450" indent="-171450">
              <a:buFont typeface="Arial" panose="020B0604020202020204" pitchFamily="34" charset="0"/>
              <a:buChar char="•"/>
            </a:pPr>
            <a:r>
              <a:rPr lang="ru-RU" sz="1200" dirty="0"/>
              <a:t>изменения внутри компании могут вызвать сопротивление со стороны сотрудников и других заинтересованных сторон.</a:t>
            </a:r>
          </a:p>
          <a:p>
            <a:pPr marL="171450" indent="-171450">
              <a:buFont typeface="Arial" panose="020B0604020202020204" pitchFamily="34" charset="0"/>
              <a:buChar char="•"/>
            </a:pPr>
            <a:endParaRPr lang="ru-RU" sz="1200" dirty="0"/>
          </a:p>
        </p:txBody>
      </p:sp>
      <p:sp>
        <p:nvSpPr>
          <p:cNvPr id="13" name="TextBox 12">
            <a:extLst>
              <a:ext uri="{FF2B5EF4-FFF2-40B4-BE49-F238E27FC236}">
                <a16:creationId xmlns:a16="http://schemas.microsoft.com/office/drawing/2014/main" id="{B45BA3A7-2973-2FAD-0E44-500E7F2DA560}"/>
              </a:ext>
            </a:extLst>
          </p:cNvPr>
          <p:cNvSpPr txBox="1"/>
          <p:nvPr/>
        </p:nvSpPr>
        <p:spPr>
          <a:xfrm>
            <a:off x="4978152" y="5131167"/>
            <a:ext cx="3150095" cy="93871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ru-RU" sz="1100" dirty="0"/>
              <a:t>Крупная технологическая компания регулярно внедряет инновационные методы управления и разработки продуктов, чтобы гибко реагировать на изменения рыночных требований и технологических тенденций. </a:t>
            </a:r>
          </a:p>
        </p:txBody>
      </p:sp>
      <p:pic>
        <p:nvPicPr>
          <p:cNvPr id="15" name="Рисунок 14">
            <a:extLst>
              <a:ext uri="{FF2B5EF4-FFF2-40B4-BE49-F238E27FC236}">
                <a16:creationId xmlns:a16="http://schemas.microsoft.com/office/drawing/2014/main" id="{CF9D97E7-AD83-0735-E6AD-D56581F199F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78152" y="2614273"/>
            <a:ext cx="3084404" cy="2056269"/>
          </a:xfrm>
          <a:prstGeom prst="rect">
            <a:avLst/>
          </a:prstGeom>
        </p:spPr>
      </p:pic>
    </p:spTree>
    <p:extLst>
      <p:ext uri="{BB962C8B-B14F-4D97-AF65-F5344CB8AC3E}">
        <p14:creationId xmlns:p14="http://schemas.microsoft.com/office/powerpoint/2010/main" val="1178812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p:txBody>
          <a:bodyPr/>
          <a:lstStyle/>
          <a:p>
            <a:fld id="{9DD0990C-240E-4F6D-96E9-50DBAF192F56}" type="slidenum">
              <a:rPr lang="ru-RU" smtClean="0"/>
              <a:t>17</a:t>
            </a:fld>
            <a:endParaRPr lang="ru-RU" dirty="0"/>
          </a:p>
        </p:txBody>
      </p:sp>
      <p:cxnSp>
        <p:nvCxnSpPr>
          <p:cNvPr id="9" name="Прямая соединительная линия 8">
            <a:extLst>
              <a:ext uri="{FF2B5EF4-FFF2-40B4-BE49-F238E27FC236}">
                <a16:creationId xmlns:a16="http://schemas.microsoft.com/office/drawing/2014/main" id="{90903EA7-06CC-6449-8C08-49C6220A9BEB}"/>
              </a:ext>
            </a:extLst>
          </p:cNvPr>
          <p:cNvCxnSpPr/>
          <p:nvPr/>
        </p:nvCxnSpPr>
        <p:spPr>
          <a:xfrm>
            <a:off x="683568" y="980728"/>
            <a:ext cx="69950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59F6138E-7D9F-EAEB-61CF-B433B772DE60}"/>
              </a:ext>
            </a:extLst>
          </p:cNvPr>
          <p:cNvCxnSpPr/>
          <p:nvPr/>
        </p:nvCxnSpPr>
        <p:spPr>
          <a:xfrm flipV="1">
            <a:off x="899592" y="476672"/>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Заголовок 2">
            <a:extLst>
              <a:ext uri="{FF2B5EF4-FFF2-40B4-BE49-F238E27FC236}">
                <a16:creationId xmlns:a16="http://schemas.microsoft.com/office/drawing/2014/main" id="{E65D82C4-E56C-E89E-3E6D-8BFB3D4CD84A}"/>
              </a:ext>
            </a:extLst>
          </p:cNvPr>
          <p:cNvSpPr txBox="1">
            <a:spLocks/>
          </p:cNvSpPr>
          <p:nvPr/>
        </p:nvSpPr>
        <p:spPr>
          <a:xfrm>
            <a:off x="971600" y="476672"/>
            <a:ext cx="7725544" cy="504056"/>
          </a:xfrm>
          <a:prstGeom prst="rect">
            <a:avLst/>
          </a:prstGeom>
        </p:spPr>
        <p:txBody>
          <a:bodyPr vert="horz" lIns="91440" tIns="45720" rIns="91440" bIns="45720" rtlCol="0" anchor="ctr">
            <a:noAutofit/>
          </a:bodyPr>
          <a:lstStyle>
            <a:defPPr>
              <a:defRPr lang="ru-RU"/>
            </a:defPPr>
            <a:lvl1pPr>
              <a:spcBef>
                <a:spcPct val="0"/>
              </a:spcBef>
              <a:buNone/>
              <a:defRPr sz="2000" b="1">
                <a:solidFill>
                  <a:srgbClr val="000000"/>
                </a:solidFill>
                <a:latin typeface="Arial"/>
                <a:ea typeface="+mj-ea"/>
                <a:cs typeface="Arial"/>
              </a:defRPr>
            </a:lvl1pPr>
          </a:lstStyle>
          <a:p>
            <a:r>
              <a:rPr lang="ru-RU" dirty="0">
                <a:latin typeface="Gilroy Bold" pitchFamily="50" charset="-52"/>
              </a:rPr>
              <a:t>Основные стратегии организации </a:t>
            </a:r>
            <a:r>
              <a:rPr lang="ru-RU" dirty="0" err="1">
                <a:latin typeface="Gilroy Bold" pitchFamily="50" charset="-52"/>
              </a:rPr>
              <a:t>М.Портера</a:t>
            </a:r>
            <a:endParaRPr lang="ru-RU" dirty="0">
              <a:latin typeface="Gilroy Bold" pitchFamily="50" charset="-52"/>
            </a:endParaRPr>
          </a:p>
        </p:txBody>
      </p:sp>
      <p:sp>
        <p:nvSpPr>
          <p:cNvPr id="3" name="TextBox 2">
            <a:extLst>
              <a:ext uri="{FF2B5EF4-FFF2-40B4-BE49-F238E27FC236}">
                <a16:creationId xmlns:a16="http://schemas.microsoft.com/office/drawing/2014/main" id="{DBF84920-4FA5-E5A0-CC28-6D4255188E2C}"/>
              </a:ext>
            </a:extLst>
          </p:cNvPr>
          <p:cNvSpPr txBox="1"/>
          <p:nvPr/>
        </p:nvSpPr>
        <p:spPr>
          <a:xfrm>
            <a:off x="3131840" y="3041250"/>
            <a:ext cx="2880320" cy="584775"/>
          </a:xfrm>
          <a:prstGeom prst="rect">
            <a:avLst/>
          </a:prstGeom>
          <a:noFill/>
        </p:spPr>
        <p:txBody>
          <a:bodyPr wrap="square" rtlCol="0">
            <a:spAutoFit/>
          </a:bodyPr>
          <a:lstStyle/>
          <a:p>
            <a:r>
              <a:rPr lang="ru-RU" sz="1600" dirty="0"/>
              <a:t>Ценовое лидерство</a:t>
            </a:r>
          </a:p>
          <a:p>
            <a:r>
              <a:rPr lang="ru-RU" sz="1600" dirty="0"/>
              <a:t>Лидерство по издержкам</a:t>
            </a:r>
          </a:p>
        </p:txBody>
      </p:sp>
      <p:sp>
        <p:nvSpPr>
          <p:cNvPr id="5" name="TextBox 4">
            <a:extLst>
              <a:ext uri="{FF2B5EF4-FFF2-40B4-BE49-F238E27FC236}">
                <a16:creationId xmlns:a16="http://schemas.microsoft.com/office/drawing/2014/main" id="{5B25B435-4E22-1CA9-7244-39C512FAC39C}"/>
              </a:ext>
            </a:extLst>
          </p:cNvPr>
          <p:cNvSpPr txBox="1"/>
          <p:nvPr/>
        </p:nvSpPr>
        <p:spPr>
          <a:xfrm>
            <a:off x="6228672" y="3164360"/>
            <a:ext cx="2428840" cy="338554"/>
          </a:xfrm>
          <a:prstGeom prst="rect">
            <a:avLst/>
          </a:prstGeom>
          <a:noFill/>
        </p:spPr>
        <p:txBody>
          <a:bodyPr wrap="square" rtlCol="0">
            <a:spAutoFit/>
          </a:bodyPr>
          <a:lstStyle/>
          <a:p>
            <a:r>
              <a:rPr lang="ru-RU" sz="1600" dirty="0"/>
              <a:t>Дифференциация</a:t>
            </a:r>
          </a:p>
        </p:txBody>
      </p:sp>
      <p:sp>
        <p:nvSpPr>
          <p:cNvPr id="6" name="TextBox 5">
            <a:extLst>
              <a:ext uri="{FF2B5EF4-FFF2-40B4-BE49-F238E27FC236}">
                <a16:creationId xmlns:a16="http://schemas.microsoft.com/office/drawing/2014/main" id="{20DE2159-A168-5A30-C6CF-8FC61C173CB7}"/>
              </a:ext>
            </a:extLst>
          </p:cNvPr>
          <p:cNvSpPr txBox="1"/>
          <p:nvPr/>
        </p:nvSpPr>
        <p:spPr>
          <a:xfrm>
            <a:off x="3201617" y="4023746"/>
            <a:ext cx="2018944" cy="338554"/>
          </a:xfrm>
          <a:prstGeom prst="rect">
            <a:avLst/>
          </a:prstGeom>
          <a:noFill/>
        </p:spPr>
        <p:txBody>
          <a:bodyPr wrap="square" rtlCol="0">
            <a:spAutoFit/>
          </a:bodyPr>
          <a:lstStyle/>
          <a:p>
            <a:r>
              <a:rPr lang="ru-RU" sz="1600" dirty="0"/>
              <a:t>Фокусирование</a:t>
            </a:r>
          </a:p>
        </p:txBody>
      </p:sp>
      <p:sp>
        <p:nvSpPr>
          <p:cNvPr id="7" name="TextBox 6">
            <a:extLst>
              <a:ext uri="{FF2B5EF4-FFF2-40B4-BE49-F238E27FC236}">
                <a16:creationId xmlns:a16="http://schemas.microsoft.com/office/drawing/2014/main" id="{747B4943-DF47-6BA1-69E2-B17AE6991A6D}"/>
              </a:ext>
            </a:extLst>
          </p:cNvPr>
          <p:cNvSpPr txBox="1"/>
          <p:nvPr/>
        </p:nvSpPr>
        <p:spPr>
          <a:xfrm>
            <a:off x="6228672" y="3900636"/>
            <a:ext cx="2772856" cy="584775"/>
          </a:xfrm>
          <a:prstGeom prst="rect">
            <a:avLst/>
          </a:prstGeom>
          <a:noFill/>
        </p:spPr>
        <p:txBody>
          <a:bodyPr wrap="square" rtlCol="0">
            <a:spAutoFit/>
          </a:bodyPr>
          <a:lstStyle/>
          <a:p>
            <a:r>
              <a:rPr lang="ru-RU" sz="1600" dirty="0"/>
              <a:t>Стратегия структурной изменчивости</a:t>
            </a:r>
          </a:p>
        </p:txBody>
      </p:sp>
      <p:sp>
        <p:nvSpPr>
          <p:cNvPr id="8" name="TextBox 7">
            <a:extLst>
              <a:ext uri="{FF2B5EF4-FFF2-40B4-BE49-F238E27FC236}">
                <a16:creationId xmlns:a16="http://schemas.microsoft.com/office/drawing/2014/main" id="{E88CE9E5-126C-CB0C-5A3D-9FB94C2D0C17}"/>
              </a:ext>
            </a:extLst>
          </p:cNvPr>
          <p:cNvSpPr txBox="1"/>
          <p:nvPr/>
        </p:nvSpPr>
        <p:spPr>
          <a:xfrm>
            <a:off x="3131840" y="2106538"/>
            <a:ext cx="2376752" cy="369332"/>
          </a:xfrm>
          <a:prstGeom prst="rect">
            <a:avLst/>
          </a:prstGeom>
          <a:noFill/>
        </p:spPr>
        <p:txBody>
          <a:bodyPr wrap="square" rtlCol="0">
            <a:spAutoFit/>
          </a:bodyPr>
          <a:lstStyle/>
          <a:p>
            <a:r>
              <a:rPr lang="ru-RU" b="1" dirty="0"/>
              <a:t>Снижение издержек</a:t>
            </a:r>
          </a:p>
        </p:txBody>
      </p:sp>
      <p:sp>
        <p:nvSpPr>
          <p:cNvPr id="12" name="TextBox 11">
            <a:extLst>
              <a:ext uri="{FF2B5EF4-FFF2-40B4-BE49-F238E27FC236}">
                <a16:creationId xmlns:a16="http://schemas.microsoft.com/office/drawing/2014/main" id="{35DDA927-9D1B-DBB7-5976-FFD72EB50630}"/>
              </a:ext>
            </a:extLst>
          </p:cNvPr>
          <p:cNvSpPr txBox="1"/>
          <p:nvPr/>
        </p:nvSpPr>
        <p:spPr>
          <a:xfrm>
            <a:off x="6100520" y="2100075"/>
            <a:ext cx="2376752" cy="646331"/>
          </a:xfrm>
          <a:prstGeom prst="rect">
            <a:avLst/>
          </a:prstGeom>
          <a:noFill/>
        </p:spPr>
        <p:txBody>
          <a:bodyPr wrap="square" rtlCol="0">
            <a:spAutoFit/>
          </a:bodyPr>
          <a:lstStyle/>
          <a:p>
            <a:r>
              <a:rPr lang="ru-RU" b="1" dirty="0"/>
              <a:t>Дифференциация продукции</a:t>
            </a:r>
          </a:p>
        </p:txBody>
      </p:sp>
      <p:sp>
        <p:nvSpPr>
          <p:cNvPr id="13" name="TextBox 12">
            <a:extLst>
              <a:ext uri="{FF2B5EF4-FFF2-40B4-BE49-F238E27FC236}">
                <a16:creationId xmlns:a16="http://schemas.microsoft.com/office/drawing/2014/main" id="{07033A4A-641F-27FB-25FA-8CB3D6934B9C}"/>
              </a:ext>
            </a:extLst>
          </p:cNvPr>
          <p:cNvSpPr txBox="1"/>
          <p:nvPr/>
        </p:nvSpPr>
        <p:spPr>
          <a:xfrm>
            <a:off x="755088" y="2108011"/>
            <a:ext cx="2376752" cy="369332"/>
          </a:xfrm>
          <a:prstGeom prst="rect">
            <a:avLst/>
          </a:prstGeom>
          <a:noFill/>
        </p:spPr>
        <p:txBody>
          <a:bodyPr wrap="square" rtlCol="0">
            <a:spAutoFit/>
          </a:bodyPr>
          <a:lstStyle/>
          <a:p>
            <a:r>
              <a:rPr lang="ru-RU" b="1" dirty="0"/>
              <a:t>Область конкуренции</a:t>
            </a:r>
          </a:p>
        </p:txBody>
      </p:sp>
      <p:sp>
        <p:nvSpPr>
          <p:cNvPr id="14" name="TextBox 13">
            <a:extLst>
              <a:ext uri="{FF2B5EF4-FFF2-40B4-BE49-F238E27FC236}">
                <a16:creationId xmlns:a16="http://schemas.microsoft.com/office/drawing/2014/main" id="{1FE488F6-4DA2-EBA7-65C5-1540F7B9AB89}"/>
              </a:ext>
            </a:extLst>
          </p:cNvPr>
          <p:cNvSpPr txBox="1"/>
          <p:nvPr/>
        </p:nvSpPr>
        <p:spPr>
          <a:xfrm>
            <a:off x="1095256" y="3133582"/>
            <a:ext cx="1334403" cy="369332"/>
          </a:xfrm>
          <a:prstGeom prst="rect">
            <a:avLst/>
          </a:prstGeom>
          <a:noFill/>
        </p:spPr>
        <p:txBody>
          <a:bodyPr wrap="square" rtlCol="0">
            <a:spAutoFit/>
          </a:bodyPr>
          <a:lstStyle/>
          <a:p>
            <a:r>
              <a:rPr lang="ru-RU" dirty="0"/>
              <a:t>Широкая</a:t>
            </a:r>
          </a:p>
        </p:txBody>
      </p:sp>
      <p:sp>
        <p:nvSpPr>
          <p:cNvPr id="15" name="TextBox 14">
            <a:extLst>
              <a:ext uri="{FF2B5EF4-FFF2-40B4-BE49-F238E27FC236}">
                <a16:creationId xmlns:a16="http://schemas.microsoft.com/office/drawing/2014/main" id="{64B414EE-3004-9236-3A5C-9BF11AD094B3}"/>
              </a:ext>
            </a:extLst>
          </p:cNvPr>
          <p:cNvSpPr txBox="1"/>
          <p:nvPr/>
        </p:nvSpPr>
        <p:spPr>
          <a:xfrm>
            <a:off x="1383995" y="4008357"/>
            <a:ext cx="936104" cy="369332"/>
          </a:xfrm>
          <a:prstGeom prst="rect">
            <a:avLst/>
          </a:prstGeom>
          <a:noFill/>
        </p:spPr>
        <p:txBody>
          <a:bodyPr wrap="square" rtlCol="0">
            <a:spAutoFit/>
          </a:bodyPr>
          <a:lstStyle/>
          <a:p>
            <a:r>
              <a:rPr lang="ru-RU" dirty="0"/>
              <a:t>Узкая</a:t>
            </a:r>
          </a:p>
        </p:txBody>
      </p:sp>
      <p:cxnSp>
        <p:nvCxnSpPr>
          <p:cNvPr id="17" name="Прямая соединительная линия 16">
            <a:extLst>
              <a:ext uri="{FF2B5EF4-FFF2-40B4-BE49-F238E27FC236}">
                <a16:creationId xmlns:a16="http://schemas.microsoft.com/office/drawing/2014/main" id="{8BF74B96-21A5-FA9C-36EE-5AC769A4FC1B}"/>
              </a:ext>
            </a:extLst>
          </p:cNvPr>
          <p:cNvCxnSpPr/>
          <p:nvPr/>
        </p:nvCxnSpPr>
        <p:spPr>
          <a:xfrm>
            <a:off x="5668472" y="2238507"/>
            <a:ext cx="0" cy="2926536"/>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Прямая соединительная линия 18">
            <a:extLst>
              <a:ext uri="{FF2B5EF4-FFF2-40B4-BE49-F238E27FC236}">
                <a16:creationId xmlns:a16="http://schemas.microsoft.com/office/drawing/2014/main" id="{D7EC77E2-77E6-2C78-2B58-94068AE57B4B}"/>
              </a:ext>
            </a:extLst>
          </p:cNvPr>
          <p:cNvCxnSpPr>
            <a:cxnSpLocks/>
          </p:cNvCxnSpPr>
          <p:nvPr/>
        </p:nvCxnSpPr>
        <p:spPr>
          <a:xfrm>
            <a:off x="1095256" y="3796254"/>
            <a:ext cx="682912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Прямая соединительная линия 20">
            <a:extLst>
              <a:ext uri="{FF2B5EF4-FFF2-40B4-BE49-F238E27FC236}">
                <a16:creationId xmlns:a16="http://schemas.microsoft.com/office/drawing/2014/main" id="{C985DF11-ACF3-F189-D526-A242E398D5A9}"/>
              </a:ext>
            </a:extLst>
          </p:cNvPr>
          <p:cNvCxnSpPr/>
          <p:nvPr/>
        </p:nvCxnSpPr>
        <p:spPr>
          <a:xfrm>
            <a:off x="3131840" y="2090158"/>
            <a:ext cx="0" cy="288032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698126783"/>
      </p:ext>
    </p:extLst>
  </p:cSld>
  <p:clrMapOvr>
    <a:masterClrMapping/>
  </p:clrMapOvr>
</p:sld>
</file>

<file path=ppt/theme/theme1.xml><?xml version="1.0" encoding="utf-8"?>
<a:theme xmlns:a="http://schemas.openxmlformats.org/drawingml/2006/main" name="Николаенко_ААИ-2015">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Другая 1">
      <a:majorFont>
        <a:latin typeface="Gilroy SemiBold"/>
        <a:ea typeface=""/>
        <a:cs typeface=""/>
      </a:majorFont>
      <a:minorFont>
        <a:latin typeface="Gilroy"/>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Николаенко_ААИ-2015.thmx</Template>
  <TotalTime>2144</TotalTime>
  <Words>2377</Words>
  <Application>Microsoft Office PowerPoint</Application>
  <PresentationFormat>Экран (4:3)</PresentationFormat>
  <Paragraphs>387</Paragraphs>
  <Slides>17</Slides>
  <Notes>1</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17</vt:i4>
      </vt:variant>
    </vt:vector>
  </HeadingPairs>
  <TitlesOfParts>
    <vt:vector size="23" baseType="lpstr">
      <vt:lpstr>Arial</vt:lpstr>
      <vt:lpstr>Calibri</vt:lpstr>
      <vt:lpstr>Gilroy</vt:lpstr>
      <vt:lpstr>Gilroy Bold</vt:lpstr>
      <vt:lpstr>Gilroy SemiBold</vt:lpstr>
      <vt:lpstr>Николаенко_ААИ-2015</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Lepeshkin</dc:creator>
  <cp:lastModifiedBy>Ярослав Никулин</cp:lastModifiedBy>
  <cp:revision>114</cp:revision>
  <cp:lastPrinted>2016-06-06T19:02:34Z</cp:lastPrinted>
  <dcterms:created xsi:type="dcterms:W3CDTF">2015-04-17T11:13:20Z</dcterms:created>
  <dcterms:modified xsi:type="dcterms:W3CDTF">2025-11-06T14:57:59Z</dcterms:modified>
</cp:coreProperties>
</file>